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w="12700">
            <a:solidFill>
              <a:srgbClr val="F5A623"/>
            </a:solidFill>
            <a:prstDash val="solid"/>
          </a:ln>
        </p:spPr>
      </p:sp>
      <p:sp>
        <p:nvSpPr>
          <p:cNvPr id="3" name="Text 1"/>
          <p:cNvSpPr/>
          <p:nvPr/>
        </p:nvSpPr>
        <p:spPr>
          <a:xfrm>
            <a:off x="365760" y="274320"/>
            <a:ext cx="8229600" cy="274320"/>
          </a:xfrm>
          <a:prstGeom prst="rect">
            <a:avLst/>
          </a:prstGeom>
          <a:noFill/>
          <a:ln/>
        </p:spPr>
        <p:txBody>
          <a:bodyPr wrap="square" rtlCol="0" anchor="ctr"/>
          <a:lstStyle/>
          <a:p>
            <a:pPr indent="0" marL="0">
              <a:buNone/>
            </a:pPr>
            <a:r>
              <a:rPr lang="en-US" sz="900" spc="200" kern="0" dirty="0">
                <a:solidFill>
                  <a:srgbClr val="8B949E"/>
                </a:solidFill>
              </a:rPr>
              <a:t>TAMIL NAIDU 2026  ·  ELECTION RESULT ANALYSIS</a:t>
            </a:r>
            <a:endParaRPr lang="en-US" sz="900" dirty="0"/>
          </a:p>
        </p:txBody>
      </p:sp>
      <p:sp>
        <p:nvSpPr>
          <p:cNvPr id="4" name="Text 2"/>
          <p:cNvSpPr/>
          <p:nvPr/>
        </p:nvSpPr>
        <p:spPr>
          <a:xfrm>
            <a:off x="365760" y="640080"/>
            <a:ext cx="5943600" cy="16459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Three Stories That</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Explain 2026</a:t>
            </a:r>
            <a:endParaRPr lang="en-US" sz="4400" dirty="0"/>
          </a:p>
        </p:txBody>
      </p:sp>
      <p:sp>
        <p:nvSpPr>
          <p:cNvPr id="5" name="Text 3"/>
          <p:cNvSpPr/>
          <p:nvPr/>
        </p:nvSpPr>
        <p:spPr>
          <a:xfrm>
            <a:off x="365760" y="2286000"/>
            <a:ext cx="5486400" cy="457200"/>
          </a:xfrm>
          <a:prstGeom prst="rect">
            <a:avLst/>
          </a:prstGeom>
          <a:noFill/>
          <a:ln/>
        </p:spPr>
        <p:txBody>
          <a:bodyPr wrap="square" rtlCol="0" anchor="ctr"/>
          <a:lstStyle/>
          <a:p>
            <a:pPr indent="0" marL="0">
              <a:buNone/>
            </a:pPr>
            <a:r>
              <a:rPr lang="en-US" sz="1800" b="1" i="1" dirty="0">
                <a:solidFill>
                  <a:srgbClr val="F5A623"/>
                </a:solidFill>
              </a:rPr>
              <a:t>The Flip · The Vote · The Margin</a:t>
            </a:r>
            <a:endParaRPr lang="en-US" sz="1800" dirty="0"/>
          </a:p>
        </p:txBody>
      </p:sp>
      <p:sp>
        <p:nvSpPr>
          <p:cNvPr id="6" name="Text 4"/>
          <p:cNvSpPr/>
          <p:nvPr/>
        </p:nvSpPr>
        <p:spPr>
          <a:xfrm>
            <a:off x="365760" y="2834640"/>
            <a:ext cx="5486400" cy="731520"/>
          </a:xfrm>
          <a:prstGeom prst="rect">
            <a:avLst/>
          </a:prstGeom>
          <a:noFill/>
          <a:ln/>
        </p:spPr>
        <p:txBody>
          <a:bodyPr wrap="square" rtlCol="0" anchor="ctr"/>
          <a:lstStyle/>
          <a:p>
            <a:pPr indent="0" marL="0">
              <a:buNone/>
            </a:pPr>
            <a:r>
              <a:rPr lang="en-US" sz="1300" dirty="0">
                <a:solidFill>
                  <a:srgbClr val="8B949E"/>
                </a:solidFill>
              </a:rPr>
              <a:t>234 constituencies. 72 million votes. One night that</a:t>
            </a:r>
            <a:endParaRPr lang="en-US" sz="1300" dirty="0"/>
          </a:p>
          <a:p>
            <a:pPr indent="0" marL="0">
              <a:buNone/>
            </a:pPr>
            <a:r>
              <a:rPr lang="en-US" sz="1300" dirty="0">
                <a:solidFill>
                  <a:srgbClr val="8B949E"/>
                </a:solidFill>
              </a:rPr>
              <a:t>reshaped Tamil Nadu politics forever.</a:t>
            </a:r>
            <a:endParaRPr lang="en-US" sz="1300" dirty="0"/>
          </a:p>
        </p:txBody>
      </p:sp>
      <p:sp>
        <p:nvSpPr>
          <p:cNvPr id="7" name="Text 5"/>
          <p:cNvSpPr/>
          <p:nvPr/>
        </p:nvSpPr>
        <p:spPr>
          <a:xfrm>
            <a:off x="365760" y="4709160"/>
            <a:ext cx="7315200" cy="274320"/>
          </a:xfrm>
          <a:prstGeom prst="rect">
            <a:avLst/>
          </a:prstGeom>
          <a:noFill/>
          <a:ln/>
        </p:spPr>
        <p:txBody>
          <a:bodyPr wrap="square" rtlCol="0" anchor="ctr"/>
          <a:lstStyle/>
          <a:p>
            <a:pPr indent="0" marL="0">
              <a:buNone/>
            </a:pPr>
            <a:r>
              <a:rPr lang="en-US" sz="900" i="1" dirty="0">
                <a:solidFill>
                  <a:srgbClr val="8B949E"/>
                </a:solidFill>
              </a:rPr>
              <a:t>Source: Election Commission of India  ·  All 234 Constituencies</a:t>
            </a:r>
            <a:endParaRPr lang="en-US" sz="900" dirty="0"/>
          </a:p>
        </p:txBody>
      </p:sp>
      <p:sp>
        <p:nvSpPr>
          <p:cNvPr id="8" name="Shape 6"/>
          <p:cNvSpPr/>
          <p:nvPr/>
        </p:nvSpPr>
        <p:spPr>
          <a:xfrm>
            <a:off x="6583680" y="822960"/>
            <a:ext cx="2286000" cy="109728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9" name="Text 7"/>
          <p:cNvSpPr/>
          <p:nvPr/>
        </p:nvSpPr>
        <p:spPr>
          <a:xfrm>
            <a:off x="6583680" y="914400"/>
            <a:ext cx="2286000" cy="594360"/>
          </a:xfrm>
          <a:prstGeom prst="rect">
            <a:avLst/>
          </a:prstGeom>
          <a:noFill/>
          <a:ln/>
        </p:spPr>
        <p:txBody>
          <a:bodyPr wrap="square" rtlCol="0" anchor="ctr"/>
          <a:lstStyle/>
          <a:p>
            <a:pPr algn="ctr" indent="0" marL="0">
              <a:buNone/>
            </a:pPr>
            <a:r>
              <a:rPr lang="en-US" sz="3400" b="1" dirty="0">
                <a:solidFill>
                  <a:srgbClr val="F5A623"/>
                </a:solidFill>
              </a:rPr>
              <a:t>163</a:t>
            </a:r>
            <a:endParaRPr lang="en-US" sz="3400" dirty="0"/>
          </a:p>
        </p:txBody>
      </p:sp>
      <p:sp>
        <p:nvSpPr>
          <p:cNvPr id="10" name="Text 8"/>
          <p:cNvSpPr/>
          <p:nvPr/>
        </p:nvSpPr>
        <p:spPr>
          <a:xfrm>
            <a:off x="6583680" y="1508760"/>
            <a:ext cx="2286000" cy="320040"/>
          </a:xfrm>
          <a:prstGeom prst="rect">
            <a:avLst/>
          </a:prstGeom>
          <a:noFill/>
          <a:ln/>
        </p:spPr>
        <p:txBody>
          <a:bodyPr wrap="square" rtlCol="0" anchor="ctr"/>
          <a:lstStyle/>
          <a:p>
            <a:pPr algn="ctr" indent="0" marL="0">
              <a:buNone/>
            </a:pPr>
            <a:r>
              <a:rPr lang="en-US" sz="1000" dirty="0">
                <a:solidFill>
                  <a:srgbClr val="8B949E"/>
                </a:solidFill>
              </a:rPr>
              <a:t>Seats Flipped</a:t>
            </a:r>
            <a:endParaRPr lang="en-US" sz="1000" dirty="0"/>
          </a:p>
        </p:txBody>
      </p:sp>
      <p:sp>
        <p:nvSpPr>
          <p:cNvPr id="11" name="Shape 9"/>
          <p:cNvSpPr/>
          <p:nvPr/>
        </p:nvSpPr>
        <p:spPr>
          <a:xfrm>
            <a:off x="6583680" y="2148840"/>
            <a:ext cx="2286000" cy="109728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2" name="Text 10"/>
          <p:cNvSpPr/>
          <p:nvPr/>
        </p:nvSpPr>
        <p:spPr>
          <a:xfrm>
            <a:off x="6583680" y="2240280"/>
            <a:ext cx="2286000" cy="594360"/>
          </a:xfrm>
          <a:prstGeom prst="rect">
            <a:avLst/>
          </a:prstGeom>
          <a:noFill/>
          <a:ln/>
        </p:spPr>
        <p:txBody>
          <a:bodyPr wrap="square" rtlCol="0" anchor="ctr"/>
          <a:lstStyle/>
          <a:p>
            <a:pPr algn="ctr" indent="0" marL="0">
              <a:buNone/>
            </a:pPr>
            <a:r>
              <a:rPr lang="en-US" sz="3400" b="1" dirty="0">
                <a:solidFill>
                  <a:srgbClr val="3FB950"/>
                </a:solidFill>
              </a:rPr>
              <a:t>35%</a:t>
            </a:r>
            <a:endParaRPr lang="en-US" sz="3400" dirty="0"/>
          </a:p>
        </p:txBody>
      </p:sp>
      <p:sp>
        <p:nvSpPr>
          <p:cNvPr id="13" name="Text 11"/>
          <p:cNvSpPr/>
          <p:nvPr/>
        </p:nvSpPr>
        <p:spPr>
          <a:xfrm>
            <a:off x="6583680" y="2834640"/>
            <a:ext cx="2286000" cy="320040"/>
          </a:xfrm>
          <a:prstGeom prst="rect">
            <a:avLst/>
          </a:prstGeom>
          <a:noFill/>
          <a:ln/>
        </p:spPr>
        <p:txBody>
          <a:bodyPr wrap="square" rtlCol="0" anchor="ctr"/>
          <a:lstStyle/>
          <a:p>
            <a:pPr algn="ctr" indent="0" marL="0">
              <a:buNone/>
            </a:pPr>
            <a:r>
              <a:rPr lang="en-US" sz="1000" dirty="0">
                <a:solidFill>
                  <a:srgbClr val="8B949E"/>
                </a:solidFill>
              </a:rPr>
              <a:t>TVK Debut Vote Share</a:t>
            </a:r>
            <a:endParaRPr lang="en-US" sz="1000" dirty="0"/>
          </a:p>
        </p:txBody>
      </p:sp>
      <p:sp>
        <p:nvSpPr>
          <p:cNvPr id="14" name="Shape 12"/>
          <p:cNvSpPr/>
          <p:nvPr/>
        </p:nvSpPr>
        <p:spPr>
          <a:xfrm>
            <a:off x="6583680" y="3474720"/>
            <a:ext cx="2286000" cy="109728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5" name="Text 13"/>
          <p:cNvSpPr/>
          <p:nvPr/>
        </p:nvSpPr>
        <p:spPr>
          <a:xfrm>
            <a:off x="6583680" y="3566160"/>
            <a:ext cx="2286000" cy="594360"/>
          </a:xfrm>
          <a:prstGeom prst="rect">
            <a:avLst/>
          </a:prstGeom>
          <a:noFill/>
          <a:ln/>
        </p:spPr>
        <p:txBody>
          <a:bodyPr wrap="square" rtlCol="0" anchor="ctr"/>
          <a:lstStyle/>
          <a:p>
            <a:pPr algn="ctr" indent="0" marL="0">
              <a:buNone/>
            </a:pPr>
            <a:r>
              <a:rPr lang="en-US" sz="3400" b="1" dirty="0">
                <a:solidFill>
                  <a:srgbClr val="F85149"/>
                </a:solidFill>
              </a:rPr>
              <a:t>−23%</a:t>
            </a:r>
            <a:endParaRPr lang="en-US" sz="3400" dirty="0"/>
          </a:p>
        </p:txBody>
      </p:sp>
      <p:sp>
        <p:nvSpPr>
          <p:cNvPr id="16" name="Text 14"/>
          <p:cNvSpPr/>
          <p:nvPr/>
        </p:nvSpPr>
        <p:spPr>
          <a:xfrm>
            <a:off x="6583680" y="4160520"/>
            <a:ext cx="2286000" cy="320040"/>
          </a:xfrm>
          <a:prstGeom prst="rect">
            <a:avLst/>
          </a:prstGeom>
          <a:noFill/>
          <a:ln/>
        </p:spPr>
        <p:txBody>
          <a:bodyPr wrap="square" rtlCol="0" anchor="ctr"/>
          <a:lstStyle/>
          <a:p>
            <a:pPr algn="ctr" indent="0" marL="0">
              <a:buNone/>
            </a:pPr>
            <a:r>
              <a:rPr lang="en-US" sz="1000" dirty="0">
                <a:solidFill>
                  <a:srgbClr val="8B949E"/>
                </a:solidFill>
              </a:rPr>
              <a:t>Avg Margin Decline</a:t>
            </a:r>
            <a:endParaRPr lang="en-US" sz="1000" dirty="0"/>
          </a:p>
        </p:txBody>
      </p:sp>
      <p:sp>
        <p:nvSpPr>
          <p:cNvPr id="17" name="Shape 15"/>
          <p:cNvSpPr/>
          <p:nvPr/>
        </p:nvSpPr>
        <p:spPr>
          <a:xfrm>
            <a:off x="365760" y="4617720"/>
            <a:ext cx="8412480" cy="0"/>
          </a:xfrm>
          <a:prstGeom prst="line">
            <a:avLst/>
          </a:prstGeom>
          <a:noFill/>
          <a:ln w="12700">
            <a:solidFill>
              <a:srgbClr val="21262D"/>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098280" cy="109728"/>
          </a:xfrm>
          <a:prstGeom prst="rect">
            <a:avLst/>
          </a:prstGeom>
          <a:solidFill>
            <a:srgbClr val="F5A623"/>
          </a:solidFill>
          <a:ln w="12700">
            <a:solidFill>
              <a:srgbClr val="F5A623"/>
            </a:solidFill>
            <a:prstDash val="solid"/>
          </a:ln>
        </p:spPr>
      </p:sp>
      <p:sp>
        <p:nvSpPr>
          <p:cNvPr id="3" name="Text 1"/>
          <p:cNvSpPr/>
          <p:nvPr/>
        </p:nvSpPr>
        <p:spPr>
          <a:xfrm>
            <a:off x="365760" y="256032"/>
            <a:ext cx="2743200" cy="228600"/>
          </a:xfrm>
          <a:prstGeom prst="rect">
            <a:avLst/>
          </a:prstGeom>
          <a:noFill/>
          <a:ln/>
        </p:spPr>
        <p:txBody>
          <a:bodyPr wrap="square" rtlCol="0" anchor="ctr"/>
          <a:lstStyle/>
          <a:p>
            <a:pPr indent="0" marL="0">
              <a:buNone/>
            </a:pPr>
            <a:r>
              <a:rPr lang="en-US" sz="900" b="1" spc="300" kern="0" dirty="0">
                <a:solidFill>
                  <a:srgbClr val="F5A623"/>
                </a:solidFill>
              </a:rPr>
              <a:t>THE BRIEF</a:t>
            </a:r>
            <a:endParaRPr lang="en-US" sz="900" dirty="0"/>
          </a:p>
        </p:txBody>
      </p:sp>
      <p:sp>
        <p:nvSpPr>
          <p:cNvPr id="4" name="Text 2"/>
          <p:cNvSpPr/>
          <p:nvPr/>
        </p:nvSpPr>
        <p:spPr>
          <a:xfrm>
            <a:off x="365760" y="475488"/>
            <a:ext cx="8229600" cy="548640"/>
          </a:xfrm>
          <a:prstGeom prst="rect">
            <a:avLst/>
          </a:prstGeom>
          <a:noFill/>
          <a:ln/>
        </p:spPr>
        <p:txBody>
          <a:bodyPr wrap="square" rtlCol="0" anchor="ctr"/>
          <a:lstStyle/>
          <a:p>
            <a:pPr indent="0" marL="0">
              <a:buNone/>
            </a:pPr>
            <a:r>
              <a:rPr lang="en-US" sz="2800" b="1" dirty="0">
                <a:solidFill>
                  <a:srgbClr val="FFFFFF"/>
                </a:solidFill>
              </a:rPr>
              <a:t>What AtliQ Media Asked For</a:t>
            </a:r>
            <a:endParaRPr lang="en-US" sz="2800" dirty="0"/>
          </a:p>
        </p:txBody>
      </p:sp>
      <p:sp>
        <p:nvSpPr>
          <p:cNvPr id="5" name="Shape 3"/>
          <p:cNvSpPr/>
          <p:nvPr/>
        </p:nvSpPr>
        <p:spPr>
          <a:xfrm>
            <a:off x="274320" y="1115568"/>
            <a:ext cx="8595360" cy="1078992"/>
          </a:xfrm>
          <a:prstGeom prst="rect">
            <a:avLst/>
          </a:prstGeom>
          <a:solidFill>
            <a:srgbClr val="1A1510"/>
          </a:solidFill>
          <a:ln w="19050">
            <a:solidFill>
              <a:srgbClr val="F5A623"/>
            </a:solidFill>
            <a:prstDash val="solid"/>
          </a:ln>
          <a:effectLst>
            <a:outerShdw sx="100000" sy="100000" kx="0" ky="0" algn="bl" rotWithShape="0" blurRad="127000" dist="38100" dir="8100000">
              <a:srgbClr val="000000">
                <a:alpha val="30000"/>
              </a:srgbClr>
            </a:outerShdw>
          </a:effectLst>
        </p:spPr>
      </p:sp>
      <p:sp>
        <p:nvSpPr>
          <p:cNvPr id="6" name="Text 4"/>
          <p:cNvSpPr/>
          <p:nvPr/>
        </p:nvSpPr>
        <p:spPr>
          <a:xfrm>
            <a:off x="411480" y="1143000"/>
            <a:ext cx="457200" cy="457200"/>
          </a:xfrm>
          <a:prstGeom prst="rect">
            <a:avLst/>
          </a:prstGeom>
          <a:noFill/>
          <a:ln/>
        </p:spPr>
        <p:txBody>
          <a:bodyPr wrap="square" rtlCol="0" anchor="ctr"/>
          <a:lstStyle/>
          <a:p>
            <a:pPr indent="0" marL="0">
              <a:buNone/>
            </a:pPr>
            <a:r>
              <a:rPr lang="en-US" sz="2800" dirty="0">
                <a:solidFill>
                  <a:srgbClr val="F5A623"/>
                </a:solidFill>
              </a:rPr>
              <a:t>❝</a:t>
            </a:r>
            <a:endParaRPr lang="en-US" sz="2800" dirty="0"/>
          </a:p>
        </p:txBody>
      </p:sp>
      <p:sp>
        <p:nvSpPr>
          <p:cNvPr id="7" name="Text 5"/>
          <p:cNvSpPr/>
          <p:nvPr/>
        </p:nvSpPr>
        <p:spPr>
          <a:xfrm>
            <a:off x="822960" y="1170432"/>
            <a:ext cx="7863840" cy="777240"/>
          </a:xfrm>
          <a:prstGeom prst="rect">
            <a:avLst/>
          </a:prstGeom>
          <a:noFill/>
          <a:ln/>
        </p:spPr>
        <p:txBody>
          <a:bodyPr wrap="square" rtlCol="0" anchor="ctr"/>
          <a:lstStyle/>
          <a:p>
            <a:pPr indent="0" marL="0">
              <a:buNone/>
            </a:pPr>
            <a:r>
              <a:rPr lang="en-US" sz="1150" i="1" dirty="0">
                <a:solidFill>
                  <a:srgbClr val="E6EDF3"/>
                </a:solidFill>
              </a:rPr>
              <a:t>AtliQ Media is producing a one-hour TV show on the 2026 Tamil Nadu results. Most channels will run heated debates. AtliQ wants the opposite — a clean, fact-based show using only public Election Commission of India data. The anchor will read from your slides. The on-screen graphics will come from your insights.</a:t>
            </a:r>
            <a:endParaRPr lang="en-US" sz="1150" dirty="0"/>
          </a:p>
        </p:txBody>
      </p:sp>
      <p:sp>
        <p:nvSpPr>
          <p:cNvPr id="8" name="Text 6"/>
          <p:cNvSpPr/>
          <p:nvPr/>
        </p:nvSpPr>
        <p:spPr>
          <a:xfrm>
            <a:off x="6858000" y="1920240"/>
            <a:ext cx="1828800" cy="201168"/>
          </a:xfrm>
          <a:prstGeom prst="rect">
            <a:avLst/>
          </a:prstGeom>
          <a:noFill/>
          <a:ln/>
        </p:spPr>
        <p:txBody>
          <a:bodyPr wrap="square" rtlCol="0" anchor="ctr"/>
          <a:lstStyle/>
          <a:p>
            <a:pPr indent="0" marL="0">
              <a:buNone/>
            </a:pPr>
            <a:r>
              <a:rPr lang="en-US" sz="950" i="1" dirty="0">
                <a:solidFill>
                  <a:srgbClr val="F5A623"/>
                </a:solidFill>
              </a:rPr>
              <a:t>— AtliQ Media Brief</a:t>
            </a:r>
            <a:endParaRPr lang="en-US" sz="950" dirty="0"/>
          </a:p>
        </p:txBody>
      </p:sp>
      <p:sp>
        <p:nvSpPr>
          <p:cNvPr id="9" name="Shape 7"/>
          <p:cNvSpPr/>
          <p:nvPr/>
        </p:nvSpPr>
        <p:spPr>
          <a:xfrm>
            <a:off x="274320" y="2331720"/>
            <a:ext cx="2788920" cy="2514600"/>
          </a:xfrm>
          <a:prstGeom prst="rect">
            <a:avLst/>
          </a:prstGeom>
          <a:solidFill>
            <a:srgbClr val="161B22"/>
          </a:solidFill>
          <a:ln w="12700">
            <a:solidFill>
              <a:srgbClr val="F5A623"/>
            </a:solidFill>
            <a:prstDash val="solid"/>
          </a:ln>
          <a:effectLst>
            <a:outerShdw sx="100000" sy="100000" kx="0" ky="0" algn="bl" rotWithShape="0" blurRad="127000" dist="38100" dir="8100000">
              <a:srgbClr val="000000">
                <a:alpha val="30000"/>
              </a:srgbClr>
            </a:outerShdw>
          </a:effectLst>
        </p:spPr>
      </p:sp>
      <p:sp>
        <p:nvSpPr>
          <p:cNvPr id="10" name="Shape 8"/>
          <p:cNvSpPr/>
          <p:nvPr/>
        </p:nvSpPr>
        <p:spPr>
          <a:xfrm>
            <a:off x="274320" y="2331720"/>
            <a:ext cx="2788920" cy="64008"/>
          </a:xfrm>
          <a:prstGeom prst="rect">
            <a:avLst/>
          </a:prstGeom>
          <a:solidFill>
            <a:srgbClr val="F5A623"/>
          </a:solidFill>
          <a:ln w="12700">
            <a:solidFill>
              <a:srgbClr val="F5A623"/>
            </a:solidFill>
            <a:prstDash val="solid"/>
          </a:ln>
        </p:spPr>
      </p:sp>
      <p:sp>
        <p:nvSpPr>
          <p:cNvPr id="11" name="Text 9"/>
          <p:cNvSpPr/>
          <p:nvPr/>
        </p:nvSpPr>
        <p:spPr>
          <a:xfrm>
            <a:off x="384048" y="2441448"/>
            <a:ext cx="2560320" cy="274320"/>
          </a:xfrm>
          <a:prstGeom prst="rect">
            <a:avLst/>
          </a:prstGeom>
          <a:noFill/>
          <a:ln/>
        </p:spPr>
        <p:txBody>
          <a:bodyPr wrap="square" rtlCol="0" anchor="ctr"/>
          <a:lstStyle/>
          <a:p>
            <a:pPr indent="0" marL="0">
              <a:buNone/>
            </a:pPr>
            <a:r>
              <a:rPr lang="en-US" sz="1200" b="1" dirty="0">
                <a:solidFill>
                  <a:srgbClr val="F5A623"/>
                </a:solidFill>
              </a:rPr>
              <a:t>The Challenge</a:t>
            </a:r>
            <a:endParaRPr lang="en-US" sz="1200" dirty="0"/>
          </a:p>
        </p:txBody>
      </p:sp>
      <p:sp>
        <p:nvSpPr>
          <p:cNvPr id="12" name="Shape 10"/>
          <p:cNvSpPr/>
          <p:nvPr/>
        </p:nvSpPr>
        <p:spPr>
          <a:xfrm>
            <a:off x="438912" y="2880360"/>
            <a:ext cx="91440" cy="91440"/>
          </a:xfrm>
          <a:prstGeom prst="ellipse">
            <a:avLst/>
          </a:prstGeom>
          <a:solidFill>
            <a:srgbClr val="F5A623"/>
          </a:solidFill>
          <a:ln w="12700">
            <a:solidFill>
              <a:srgbClr val="F5A623"/>
            </a:solidFill>
            <a:prstDash val="solid"/>
          </a:ln>
        </p:spPr>
      </p:sp>
      <p:sp>
        <p:nvSpPr>
          <p:cNvPr id="13" name="Text 11"/>
          <p:cNvSpPr/>
          <p:nvPr/>
        </p:nvSpPr>
        <p:spPr>
          <a:xfrm>
            <a:off x="594360" y="2825496"/>
            <a:ext cx="2377440" cy="502920"/>
          </a:xfrm>
          <a:prstGeom prst="rect">
            <a:avLst/>
          </a:prstGeom>
          <a:noFill/>
          <a:ln/>
        </p:spPr>
        <p:txBody>
          <a:bodyPr wrap="square" rtlCol="0" anchor="ctr"/>
          <a:lstStyle/>
          <a:p>
            <a:pPr indent="0" marL="0">
              <a:buNone/>
            </a:pPr>
            <a:r>
              <a:rPr lang="en-US" sz="1050" dirty="0">
                <a:solidFill>
                  <a:srgbClr val="8B949E"/>
                </a:solidFill>
              </a:rPr>
              <a:t>Find the most interesting stories in the 2026 results</a:t>
            </a:r>
            <a:endParaRPr lang="en-US" sz="1050" dirty="0"/>
          </a:p>
        </p:txBody>
      </p:sp>
      <p:sp>
        <p:nvSpPr>
          <p:cNvPr id="14" name="Shape 12"/>
          <p:cNvSpPr/>
          <p:nvPr/>
        </p:nvSpPr>
        <p:spPr>
          <a:xfrm>
            <a:off x="438912" y="3538728"/>
            <a:ext cx="91440" cy="91440"/>
          </a:xfrm>
          <a:prstGeom prst="ellipse">
            <a:avLst/>
          </a:prstGeom>
          <a:solidFill>
            <a:srgbClr val="F5A623"/>
          </a:solidFill>
          <a:ln w="12700">
            <a:solidFill>
              <a:srgbClr val="F5A623"/>
            </a:solidFill>
            <a:prstDash val="solid"/>
          </a:ln>
        </p:spPr>
      </p:sp>
      <p:sp>
        <p:nvSpPr>
          <p:cNvPr id="15" name="Text 13"/>
          <p:cNvSpPr/>
          <p:nvPr/>
        </p:nvSpPr>
        <p:spPr>
          <a:xfrm>
            <a:off x="594360" y="3483864"/>
            <a:ext cx="2377440" cy="502920"/>
          </a:xfrm>
          <a:prstGeom prst="rect">
            <a:avLst/>
          </a:prstGeom>
          <a:noFill/>
          <a:ln/>
        </p:spPr>
        <p:txBody>
          <a:bodyPr wrap="square" rtlCol="0" anchor="ctr"/>
          <a:lstStyle/>
          <a:p>
            <a:pPr indent="0" marL="0">
              <a:buNone/>
            </a:pPr>
            <a:r>
              <a:rPr lang="en-US" sz="1050" dirty="0">
                <a:solidFill>
                  <a:srgbClr val="8B949E"/>
                </a:solidFill>
              </a:rPr>
              <a:t>Build clear charts for each story</a:t>
            </a:r>
            <a:endParaRPr lang="en-US" sz="1050" dirty="0"/>
          </a:p>
        </p:txBody>
      </p:sp>
      <p:sp>
        <p:nvSpPr>
          <p:cNvPr id="16" name="Shape 14"/>
          <p:cNvSpPr/>
          <p:nvPr/>
        </p:nvSpPr>
        <p:spPr>
          <a:xfrm>
            <a:off x="438912" y="4197096"/>
            <a:ext cx="91440" cy="91440"/>
          </a:xfrm>
          <a:prstGeom prst="ellipse">
            <a:avLst/>
          </a:prstGeom>
          <a:solidFill>
            <a:srgbClr val="F5A623"/>
          </a:solidFill>
          <a:ln w="12700">
            <a:solidFill>
              <a:srgbClr val="F5A623"/>
            </a:solidFill>
            <a:prstDash val="solid"/>
          </a:ln>
        </p:spPr>
      </p:sp>
      <p:sp>
        <p:nvSpPr>
          <p:cNvPr id="17" name="Text 15"/>
          <p:cNvSpPr/>
          <p:nvPr/>
        </p:nvSpPr>
        <p:spPr>
          <a:xfrm>
            <a:off x="594360" y="4142232"/>
            <a:ext cx="2377440" cy="502920"/>
          </a:xfrm>
          <a:prstGeom prst="rect">
            <a:avLst/>
          </a:prstGeom>
          <a:noFill/>
          <a:ln/>
        </p:spPr>
        <p:txBody>
          <a:bodyPr wrap="square" rtlCol="0" anchor="ctr"/>
          <a:lstStyle/>
          <a:p>
            <a:pPr indent="0" marL="0">
              <a:buNone/>
            </a:pPr>
            <a:r>
              <a:rPr lang="en-US" sz="1050" dirty="0">
                <a:solidFill>
                  <a:srgbClr val="8B949E"/>
                </a:solidFill>
              </a:rPr>
              <a:t>Make a regular viewer understand without complex charts</a:t>
            </a:r>
            <a:endParaRPr lang="en-US" sz="1050" dirty="0"/>
          </a:p>
        </p:txBody>
      </p:sp>
      <p:sp>
        <p:nvSpPr>
          <p:cNvPr id="18" name="Shape 16"/>
          <p:cNvSpPr/>
          <p:nvPr/>
        </p:nvSpPr>
        <p:spPr>
          <a:xfrm>
            <a:off x="3218688" y="2331720"/>
            <a:ext cx="2788920" cy="2514600"/>
          </a:xfrm>
          <a:prstGeom prst="rect">
            <a:avLst/>
          </a:prstGeom>
          <a:solidFill>
            <a:srgbClr val="161B22"/>
          </a:solidFill>
          <a:ln w="12700">
            <a:solidFill>
              <a:srgbClr val="4D9DE0"/>
            </a:solidFill>
            <a:prstDash val="solid"/>
          </a:ln>
          <a:effectLst>
            <a:outerShdw sx="100000" sy="100000" kx="0" ky="0" algn="bl" rotWithShape="0" blurRad="127000" dist="38100" dir="8100000">
              <a:srgbClr val="000000">
                <a:alpha val="30000"/>
              </a:srgbClr>
            </a:outerShdw>
          </a:effectLst>
        </p:spPr>
      </p:sp>
      <p:sp>
        <p:nvSpPr>
          <p:cNvPr id="19" name="Shape 17"/>
          <p:cNvSpPr/>
          <p:nvPr/>
        </p:nvSpPr>
        <p:spPr>
          <a:xfrm>
            <a:off x="3218688" y="2331720"/>
            <a:ext cx="2788920" cy="64008"/>
          </a:xfrm>
          <a:prstGeom prst="rect">
            <a:avLst/>
          </a:prstGeom>
          <a:solidFill>
            <a:srgbClr val="4D9DE0"/>
          </a:solidFill>
          <a:ln w="12700">
            <a:solidFill>
              <a:srgbClr val="4D9DE0"/>
            </a:solidFill>
            <a:prstDash val="solid"/>
          </a:ln>
        </p:spPr>
      </p:sp>
      <p:sp>
        <p:nvSpPr>
          <p:cNvPr id="20" name="Text 18"/>
          <p:cNvSpPr/>
          <p:nvPr/>
        </p:nvSpPr>
        <p:spPr>
          <a:xfrm>
            <a:off x="3328416" y="2441448"/>
            <a:ext cx="2560320" cy="274320"/>
          </a:xfrm>
          <a:prstGeom prst="rect">
            <a:avLst/>
          </a:prstGeom>
          <a:noFill/>
          <a:ln/>
        </p:spPr>
        <p:txBody>
          <a:bodyPr wrap="square" rtlCol="0" anchor="ctr"/>
          <a:lstStyle/>
          <a:p>
            <a:pPr indent="0" marL="0">
              <a:buNone/>
            </a:pPr>
            <a:r>
              <a:rPr lang="en-US" sz="1200" b="1" dirty="0">
                <a:solidFill>
                  <a:srgbClr val="4D9DE0"/>
                </a:solidFill>
              </a:rPr>
              <a:t>The Constraint</a:t>
            </a:r>
            <a:endParaRPr lang="en-US" sz="1200" dirty="0"/>
          </a:p>
        </p:txBody>
      </p:sp>
      <p:sp>
        <p:nvSpPr>
          <p:cNvPr id="21" name="Shape 19"/>
          <p:cNvSpPr/>
          <p:nvPr/>
        </p:nvSpPr>
        <p:spPr>
          <a:xfrm>
            <a:off x="3383280" y="2880360"/>
            <a:ext cx="91440" cy="91440"/>
          </a:xfrm>
          <a:prstGeom prst="ellipse">
            <a:avLst/>
          </a:prstGeom>
          <a:solidFill>
            <a:srgbClr val="4D9DE0"/>
          </a:solidFill>
          <a:ln w="12700">
            <a:solidFill>
              <a:srgbClr val="4D9DE0"/>
            </a:solidFill>
            <a:prstDash val="solid"/>
          </a:ln>
        </p:spPr>
      </p:sp>
      <p:sp>
        <p:nvSpPr>
          <p:cNvPr id="22" name="Text 20"/>
          <p:cNvSpPr/>
          <p:nvPr/>
        </p:nvSpPr>
        <p:spPr>
          <a:xfrm>
            <a:off x="3538728" y="2825496"/>
            <a:ext cx="2377440" cy="502920"/>
          </a:xfrm>
          <a:prstGeom prst="rect">
            <a:avLst/>
          </a:prstGeom>
          <a:noFill/>
          <a:ln/>
        </p:spPr>
        <p:txBody>
          <a:bodyPr wrap="square" rtlCol="0" anchor="ctr"/>
          <a:lstStyle/>
          <a:p>
            <a:pPr indent="0" marL="0">
              <a:buNone/>
            </a:pPr>
            <a:r>
              <a:rPr lang="en-US" sz="1050" dirty="0">
                <a:solidFill>
                  <a:srgbClr val="8B949E"/>
                </a:solidFill>
              </a:rPr>
              <a:t>Use only ECI public data — no opinion polls or news</a:t>
            </a:r>
            <a:endParaRPr lang="en-US" sz="1050" dirty="0"/>
          </a:p>
        </p:txBody>
      </p:sp>
      <p:sp>
        <p:nvSpPr>
          <p:cNvPr id="23" name="Shape 21"/>
          <p:cNvSpPr/>
          <p:nvPr/>
        </p:nvSpPr>
        <p:spPr>
          <a:xfrm>
            <a:off x="3383280" y="3538728"/>
            <a:ext cx="91440" cy="91440"/>
          </a:xfrm>
          <a:prstGeom prst="ellipse">
            <a:avLst/>
          </a:prstGeom>
          <a:solidFill>
            <a:srgbClr val="4D9DE0"/>
          </a:solidFill>
          <a:ln w="12700">
            <a:solidFill>
              <a:srgbClr val="4D9DE0"/>
            </a:solidFill>
            <a:prstDash val="solid"/>
          </a:ln>
        </p:spPr>
      </p:sp>
      <p:sp>
        <p:nvSpPr>
          <p:cNvPr id="24" name="Text 22"/>
          <p:cNvSpPr/>
          <p:nvPr/>
        </p:nvSpPr>
        <p:spPr>
          <a:xfrm>
            <a:off x="3538728" y="3483864"/>
            <a:ext cx="2377440" cy="502920"/>
          </a:xfrm>
          <a:prstGeom prst="rect">
            <a:avLst/>
          </a:prstGeom>
          <a:noFill/>
          <a:ln/>
        </p:spPr>
        <p:txBody>
          <a:bodyPr wrap="square" rtlCol="0" anchor="ctr"/>
          <a:lstStyle/>
          <a:p>
            <a:pPr indent="0" marL="0">
              <a:buNone/>
            </a:pPr>
            <a:r>
              <a:rPr lang="en-US" sz="1050" dirty="0">
                <a:solidFill>
                  <a:srgbClr val="8B949E"/>
                </a:solidFill>
              </a:rPr>
              <a:t>Stay strictly neutral — no party praise or criticism</a:t>
            </a:r>
            <a:endParaRPr lang="en-US" sz="1050" dirty="0"/>
          </a:p>
        </p:txBody>
      </p:sp>
      <p:sp>
        <p:nvSpPr>
          <p:cNvPr id="25" name="Shape 23"/>
          <p:cNvSpPr/>
          <p:nvPr/>
        </p:nvSpPr>
        <p:spPr>
          <a:xfrm>
            <a:off x="3383280" y="4197096"/>
            <a:ext cx="91440" cy="91440"/>
          </a:xfrm>
          <a:prstGeom prst="ellipse">
            <a:avLst/>
          </a:prstGeom>
          <a:solidFill>
            <a:srgbClr val="4D9DE0"/>
          </a:solidFill>
          <a:ln w="12700">
            <a:solidFill>
              <a:srgbClr val="4D9DE0"/>
            </a:solidFill>
            <a:prstDash val="solid"/>
          </a:ln>
        </p:spPr>
      </p:sp>
      <p:sp>
        <p:nvSpPr>
          <p:cNvPr id="26" name="Text 24"/>
          <p:cNvSpPr/>
          <p:nvPr/>
        </p:nvSpPr>
        <p:spPr>
          <a:xfrm>
            <a:off x="3538728" y="4142232"/>
            <a:ext cx="2377440" cy="502920"/>
          </a:xfrm>
          <a:prstGeom prst="rect">
            <a:avLst/>
          </a:prstGeom>
          <a:noFill/>
          <a:ln/>
        </p:spPr>
        <p:txBody>
          <a:bodyPr wrap="square" rtlCol="0" anchor="ctr"/>
          <a:lstStyle/>
          <a:p>
            <a:pPr indent="0" marL="0">
              <a:buNone/>
            </a:pPr>
            <a:r>
              <a:rPr lang="en-US" sz="1050" dirty="0">
                <a:solidFill>
                  <a:srgbClr val="8B949E"/>
                </a:solidFill>
              </a:rPr>
              <a:t>No predictions — only what the data shows</a:t>
            </a:r>
            <a:endParaRPr lang="en-US" sz="1050" dirty="0"/>
          </a:p>
        </p:txBody>
      </p:sp>
      <p:sp>
        <p:nvSpPr>
          <p:cNvPr id="27" name="Shape 25"/>
          <p:cNvSpPr/>
          <p:nvPr/>
        </p:nvSpPr>
        <p:spPr>
          <a:xfrm>
            <a:off x="6163056" y="2331720"/>
            <a:ext cx="2788920" cy="2514600"/>
          </a:xfrm>
          <a:prstGeom prst="rect">
            <a:avLst/>
          </a:prstGeom>
          <a:solidFill>
            <a:srgbClr val="161B22"/>
          </a:solidFill>
          <a:ln w="12700">
            <a:solidFill>
              <a:srgbClr val="3FB950"/>
            </a:solidFill>
            <a:prstDash val="solid"/>
          </a:ln>
          <a:effectLst>
            <a:outerShdw sx="100000" sy="100000" kx="0" ky="0" algn="bl" rotWithShape="0" blurRad="127000" dist="38100" dir="8100000">
              <a:srgbClr val="000000">
                <a:alpha val="30000"/>
              </a:srgbClr>
            </a:outerShdw>
          </a:effectLst>
        </p:spPr>
      </p:sp>
      <p:sp>
        <p:nvSpPr>
          <p:cNvPr id="28" name="Shape 26"/>
          <p:cNvSpPr/>
          <p:nvPr/>
        </p:nvSpPr>
        <p:spPr>
          <a:xfrm>
            <a:off x="6163056" y="2331720"/>
            <a:ext cx="2788920" cy="64008"/>
          </a:xfrm>
          <a:prstGeom prst="rect">
            <a:avLst/>
          </a:prstGeom>
          <a:solidFill>
            <a:srgbClr val="3FB950"/>
          </a:solidFill>
          <a:ln w="12700">
            <a:solidFill>
              <a:srgbClr val="3FB950"/>
            </a:solidFill>
            <a:prstDash val="solid"/>
          </a:ln>
        </p:spPr>
      </p:sp>
      <p:sp>
        <p:nvSpPr>
          <p:cNvPr id="29" name="Text 27"/>
          <p:cNvSpPr/>
          <p:nvPr/>
        </p:nvSpPr>
        <p:spPr>
          <a:xfrm>
            <a:off x="6272784" y="2441448"/>
            <a:ext cx="2560320" cy="274320"/>
          </a:xfrm>
          <a:prstGeom prst="rect">
            <a:avLst/>
          </a:prstGeom>
          <a:noFill/>
          <a:ln/>
        </p:spPr>
        <p:txBody>
          <a:bodyPr wrap="square" rtlCol="0" anchor="ctr"/>
          <a:lstStyle/>
          <a:p>
            <a:pPr indent="0" marL="0">
              <a:buNone/>
            </a:pPr>
            <a:r>
              <a:rPr lang="en-US" sz="1200" b="1" dirty="0">
                <a:solidFill>
                  <a:srgbClr val="3FB950"/>
                </a:solidFill>
              </a:rPr>
              <a:t>My Approach</a:t>
            </a:r>
            <a:endParaRPr lang="en-US" sz="1200" dirty="0"/>
          </a:p>
        </p:txBody>
      </p:sp>
      <p:sp>
        <p:nvSpPr>
          <p:cNvPr id="30" name="Shape 28"/>
          <p:cNvSpPr/>
          <p:nvPr/>
        </p:nvSpPr>
        <p:spPr>
          <a:xfrm>
            <a:off x="6327648" y="2880360"/>
            <a:ext cx="91440" cy="91440"/>
          </a:xfrm>
          <a:prstGeom prst="ellipse">
            <a:avLst/>
          </a:prstGeom>
          <a:solidFill>
            <a:srgbClr val="3FB950"/>
          </a:solidFill>
          <a:ln w="12700">
            <a:solidFill>
              <a:srgbClr val="3FB950"/>
            </a:solidFill>
            <a:prstDash val="solid"/>
          </a:ln>
        </p:spPr>
      </p:sp>
      <p:sp>
        <p:nvSpPr>
          <p:cNvPr id="31" name="Text 29"/>
          <p:cNvSpPr/>
          <p:nvPr/>
        </p:nvSpPr>
        <p:spPr>
          <a:xfrm>
            <a:off x="6483096" y="2825496"/>
            <a:ext cx="2377440" cy="502920"/>
          </a:xfrm>
          <a:prstGeom prst="rect">
            <a:avLst/>
          </a:prstGeom>
          <a:noFill/>
          <a:ln/>
        </p:spPr>
        <p:txBody>
          <a:bodyPr wrap="square" rtlCol="0" anchor="ctr"/>
          <a:lstStyle/>
          <a:p>
            <a:pPr indent="0" marL="0">
              <a:buNone/>
            </a:pPr>
            <a:r>
              <a:rPr lang="en-US" sz="1050" dirty="0">
                <a:solidFill>
                  <a:srgbClr val="8B949E"/>
                </a:solidFill>
              </a:rPr>
              <a:t>Selected 3 of 6 research questions — Flip, Vote Share, Margin</a:t>
            </a:r>
            <a:endParaRPr lang="en-US" sz="1050" dirty="0"/>
          </a:p>
        </p:txBody>
      </p:sp>
      <p:sp>
        <p:nvSpPr>
          <p:cNvPr id="32" name="Shape 30"/>
          <p:cNvSpPr/>
          <p:nvPr/>
        </p:nvSpPr>
        <p:spPr>
          <a:xfrm>
            <a:off x="6327648" y="3538728"/>
            <a:ext cx="91440" cy="91440"/>
          </a:xfrm>
          <a:prstGeom prst="ellipse">
            <a:avLst/>
          </a:prstGeom>
          <a:solidFill>
            <a:srgbClr val="3FB950"/>
          </a:solidFill>
          <a:ln w="12700">
            <a:solidFill>
              <a:srgbClr val="3FB950"/>
            </a:solidFill>
            <a:prstDash val="solid"/>
          </a:ln>
        </p:spPr>
      </p:sp>
      <p:sp>
        <p:nvSpPr>
          <p:cNvPr id="33" name="Text 31"/>
          <p:cNvSpPr/>
          <p:nvPr/>
        </p:nvSpPr>
        <p:spPr>
          <a:xfrm>
            <a:off x="6483096" y="3483864"/>
            <a:ext cx="2377440" cy="502920"/>
          </a:xfrm>
          <a:prstGeom prst="rect">
            <a:avLst/>
          </a:prstGeom>
          <a:noFill/>
          <a:ln/>
        </p:spPr>
        <p:txBody>
          <a:bodyPr wrap="square" rtlCol="0" anchor="ctr"/>
          <a:lstStyle/>
          <a:p>
            <a:pPr indent="0" marL="0">
              <a:buNone/>
            </a:pPr>
            <a:r>
              <a:rPr lang="en-US" sz="1050" dirty="0">
                <a:solidFill>
                  <a:srgbClr val="8B949E"/>
                </a:solidFill>
              </a:rPr>
              <a:t>Connected all 3 into one single coherent story</a:t>
            </a:r>
            <a:endParaRPr lang="en-US" sz="1050" dirty="0"/>
          </a:p>
        </p:txBody>
      </p:sp>
      <p:sp>
        <p:nvSpPr>
          <p:cNvPr id="34" name="Shape 32"/>
          <p:cNvSpPr/>
          <p:nvPr/>
        </p:nvSpPr>
        <p:spPr>
          <a:xfrm>
            <a:off x="6327648" y="4197096"/>
            <a:ext cx="91440" cy="91440"/>
          </a:xfrm>
          <a:prstGeom prst="ellipse">
            <a:avLst/>
          </a:prstGeom>
          <a:solidFill>
            <a:srgbClr val="3FB950"/>
          </a:solidFill>
          <a:ln w="12700">
            <a:solidFill>
              <a:srgbClr val="3FB950"/>
            </a:solidFill>
            <a:prstDash val="solid"/>
          </a:ln>
        </p:spPr>
      </p:sp>
      <p:sp>
        <p:nvSpPr>
          <p:cNvPr id="35" name="Text 33"/>
          <p:cNvSpPr/>
          <p:nvPr/>
        </p:nvSpPr>
        <p:spPr>
          <a:xfrm>
            <a:off x="6483096" y="4142232"/>
            <a:ext cx="2377440" cy="502920"/>
          </a:xfrm>
          <a:prstGeom prst="rect">
            <a:avLst/>
          </a:prstGeom>
          <a:noFill/>
          <a:ln/>
        </p:spPr>
        <p:txBody>
          <a:bodyPr wrap="square" rtlCol="0" anchor="ctr"/>
          <a:lstStyle/>
          <a:p>
            <a:pPr indent="0" marL="0">
              <a:buNone/>
            </a:pPr>
            <a:r>
              <a:rPr lang="en-US" sz="1050" dirty="0">
                <a:solidFill>
                  <a:srgbClr val="8B949E"/>
                </a:solidFill>
              </a:rPr>
              <a:t>Built a 4-page Power BI dashboard as evidence</a:t>
            </a:r>
            <a:endParaRPr lang="en-US" sz="1050" dirty="0"/>
          </a:p>
        </p:txBody>
      </p:sp>
      <p:sp>
        <p:nvSpPr>
          <p:cNvPr id="36" name="Shape 34"/>
          <p:cNvSpPr/>
          <p:nvPr/>
        </p:nvSpPr>
        <p:spPr>
          <a:xfrm>
            <a:off x="274320" y="4645152"/>
            <a:ext cx="2103120" cy="292608"/>
          </a:xfrm>
          <a:prstGeom prst="roundRect">
            <a:avLst>
              <a:gd name="adj" fmla="val 15625"/>
            </a:avLst>
          </a:prstGeom>
          <a:solidFill>
            <a:srgbClr val="161B22"/>
          </a:solidFill>
          <a:ln w="12700">
            <a:solidFill>
              <a:srgbClr val="21262D"/>
            </a:solidFill>
            <a:prstDash val="solid"/>
          </a:ln>
        </p:spPr>
      </p:sp>
      <p:sp>
        <p:nvSpPr>
          <p:cNvPr id="37" name="Text 35"/>
          <p:cNvSpPr/>
          <p:nvPr/>
        </p:nvSpPr>
        <p:spPr>
          <a:xfrm>
            <a:off x="274320" y="4645152"/>
            <a:ext cx="2103120" cy="292608"/>
          </a:xfrm>
          <a:prstGeom prst="rect">
            <a:avLst/>
          </a:prstGeom>
          <a:noFill/>
          <a:ln/>
        </p:spPr>
        <p:txBody>
          <a:bodyPr wrap="square" rtlCol="0" anchor="ctr"/>
          <a:lstStyle/>
          <a:p>
            <a:pPr algn="ctr" indent="0" marL="0">
              <a:buNone/>
            </a:pPr>
            <a:r>
              <a:rPr lang="en-US" sz="900" dirty="0">
                <a:solidFill>
                  <a:srgbClr val="8B949E"/>
                </a:solidFill>
              </a:rPr>
              <a:t>Domain: Media &amp; Politics</a:t>
            </a:r>
            <a:endParaRPr lang="en-US" sz="900" dirty="0"/>
          </a:p>
        </p:txBody>
      </p:sp>
      <p:sp>
        <p:nvSpPr>
          <p:cNvPr id="38" name="Shape 36"/>
          <p:cNvSpPr/>
          <p:nvPr/>
        </p:nvSpPr>
        <p:spPr>
          <a:xfrm>
            <a:off x="2487168" y="4645152"/>
            <a:ext cx="2103120" cy="292608"/>
          </a:xfrm>
          <a:prstGeom prst="roundRect">
            <a:avLst>
              <a:gd name="adj" fmla="val 15625"/>
            </a:avLst>
          </a:prstGeom>
          <a:solidFill>
            <a:srgbClr val="161B22"/>
          </a:solidFill>
          <a:ln w="12700">
            <a:solidFill>
              <a:srgbClr val="21262D"/>
            </a:solidFill>
            <a:prstDash val="solid"/>
          </a:ln>
        </p:spPr>
      </p:sp>
      <p:sp>
        <p:nvSpPr>
          <p:cNvPr id="39" name="Text 37"/>
          <p:cNvSpPr/>
          <p:nvPr/>
        </p:nvSpPr>
        <p:spPr>
          <a:xfrm>
            <a:off x="2487168" y="4645152"/>
            <a:ext cx="2103120" cy="292608"/>
          </a:xfrm>
          <a:prstGeom prst="rect">
            <a:avLst/>
          </a:prstGeom>
          <a:noFill/>
          <a:ln/>
        </p:spPr>
        <p:txBody>
          <a:bodyPr wrap="square" rtlCol="0" anchor="ctr"/>
          <a:lstStyle/>
          <a:p>
            <a:pPr algn="ctr" indent="0" marL="0">
              <a:buNone/>
            </a:pPr>
            <a:r>
              <a:rPr lang="en-US" sz="900" dirty="0">
                <a:solidFill>
                  <a:srgbClr val="8B949E"/>
                </a:solidFill>
              </a:rPr>
              <a:t>Function: Data Analytics</a:t>
            </a:r>
            <a:endParaRPr lang="en-US" sz="900" dirty="0"/>
          </a:p>
        </p:txBody>
      </p:sp>
      <p:sp>
        <p:nvSpPr>
          <p:cNvPr id="40" name="Shape 38"/>
          <p:cNvSpPr/>
          <p:nvPr/>
        </p:nvSpPr>
        <p:spPr>
          <a:xfrm>
            <a:off x="4700016" y="4645152"/>
            <a:ext cx="2103120" cy="292608"/>
          </a:xfrm>
          <a:prstGeom prst="roundRect">
            <a:avLst>
              <a:gd name="adj" fmla="val 15625"/>
            </a:avLst>
          </a:prstGeom>
          <a:solidFill>
            <a:srgbClr val="161B22"/>
          </a:solidFill>
          <a:ln w="12700">
            <a:solidFill>
              <a:srgbClr val="21262D"/>
            </a:solidFill>
            <a:prstDash val="solid"/>
          </a:ln>
        </p:spPr>
      </p:sp>
      <p:sp>
        <p:nvSpPr>
          <p:cNvPr id="41" name="Text 39"/>
          <p:cNvSpPr/>
          <p:nvPr/>
        </p:nvSpPr>
        <p:spPr>
          <a:xfrm>
            <a:off x="4700016" y="4645152"/>
            <a:ext cx="2103120" cy="292608"/>
          </a:xfrm>
          <a:prstGeom prst="rect">
            <a:avLst/>
          </a:prstGeom>
          <a:noFill/>
          <a:ln/>
        </p:spPr>
        <p:txBody>
          <a:bodyPr wrap="square" rtlCol="0" anchor="ctr"/>
          <a:lstStyle/>
          <a:p>
            <a:pPr algn="ctr" indent="0" marL="0">
              <a:buNone/>
            </a:pPr>
            <a:r>
              <a:rPr lang="en-US" sz="900" dirty="0">
                <a:solidFill>
                  <a:srgbClr val="8B949E"/>
                </a:solidFill>
              </a:rPr>
              <a:t>Difficulty: Advanced</a:t>
            </a:r>
            <a:endParaRPr lang="en-US" sz="900" dirty="0"/>
          </a:p>
        </p:txBody>
      </p:sp>
      <p:sp>
        <p:nvSpPr>
          <p:cNvPr id="42" name="Shape 40"/>
          <p:cNvSpPr/>
          <p:nvPr/>
        </p:nvSpPr>
        <p:spPr>
          <a:xfrm>
            <a:off x="6912864" y="4645152"/>
            <a:ext cx="2103120" cy="292608"/>
          </a:xfrm>
          <a:prstGeom prst="roundRect">
            <a:avLst>
              <a:gd name="adj" fmla="val 15625"/>
            </a:avLst>
          </a:prstGeom>
          <a:solidFill>
            <a:srgbClr val="161B22"/>
          </a:solidFill>
          <a:ln w="12700">
            <a:solidFill>
              <a:srgbClr val="21262D"/>
            </a:solidFill>
            <a:prstDash val="solid"/>
          </a:ln>
        </p:spPr>
      </p:sp>
      <p:sp>
        <p:nvSpPr>
          <p:cNvPr id="43" name="Text 41"/>
          <p:cNvSpPr/>
          <p:nvPr/>
        </p:nvSpPr>
        <p:spPr>
          <a:xfrm>
            <a:off x="6912864" y="4645152"/>
            <a:ext cx="2103120" cy="292608"/>
          </a:xfrm>
          <a:prstGeom prst="rect">
            <a:avLst/>
          </a:prstGeom>
          <a:noFill/>
          <a:ln/>
        </p:spPr>
        <p:txBody>
          <a:bodyPr wrap="square" rtlCol="0" anchor="ctr"/>
          <a:lstStyle/>
          <a:p>
            <a:pPr algn="ctr" indent="0" marL="0">
              <a:buNone/>
            </a:pPr>
            <a:r>
              <a:rPr lang="en-US" sz="900" dirty="0">
                <a:solidFill>
                  <a:srgbClr val="8B949E"/>
                </a:solidFill>
              </a:rPr>
              <a:t>Data: ECI Only · 234 Constituencies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3657600" cy="228600"/>
          </a:xfrm>
          <a:prstGeom prst="rect">
            <a:avLst/>
          </a:prstGeom>
          <a:noFill/>
          <a:ln/>
        </p:spPr>
        <p:txBody>
          <a:bodyPr wrap="square" rtlCol="0" anchor="ctr"/>
          <a:lstStyle/>
          <a:p>
            <a:pPr indent="0" marL="0">
              <a:buNone/>
            </a:pPr>
            <a:r>
              <a:rPr lang="en-US" sz="900" b="1" spc="300" kern="0" dirty="0">
                <a:solidFill>
                  <a:srgbClr val="F5A623"/>
                </a:solidFill>
              </a:rPr>
              <a:t>OVERVIEW</a:t>
            </a:r>
            <a:endParaRPr lang="en-US" sz="900" dirty="0"/>
          </a:p>
        </p:txBody>
      </p:sp>
      <p:sp>
        <p:nvSpPr>
          <p:cNvPr id="3" name="Text 1"/>
          <p:cNvSpPr/>
          <p:nvPr/>
        </p:nvSpPr>
        <p:spPr>
          <a:xfrm>
            <a:off x="365760" y="457200"/>
            <a:ext cx="8229600" cy="548640"/>
          </a:xfrm>
          <a:prstGeom prst="rect">
            <a:avLst/>
          </a:prstGeom>
          <a:noFill/>
          <a:ln/>
        </p:spPr>
        <p:txBody>
          <a:bodyPr wrap="square" rtlCol="0" anchor="ctr"/>
          <a:lstStyle/>
          <a:p>
            <a:pPr indent="0" marL="0">
              <a:buNone/>
            </a:pPr>
            <a:r>
              <a:rPr lang="en-US" sz="2800" b="1" dirty="0">
                <a:solidFill>
                  <a:srgbClr val="FFFFFF"/>
                </a:solidFill>
              </a:rPr>
              <a:t>The 2026 Result at a Glance</a:t>
            </a:r>
            <a:endParaRPr lang="en-US" sz="2800" dirty="0"/>
          </a:p>
        </p:txBody>
      </p:sp>
      <p:sp>
        <p:nvSpPr>
          <p:cNvPr id="4" name="Text 2"/>
          <p:cNvSpPr/>
          <p:nvPr/>
        </p:nvSpPr>
        <p:spPr>
          <a:xfrm>
            <a:off x="365760" y="1005840"/>
            <a:ext cx="8229600" cy="320040"/>
          </a:xfrm>
          <a:prstGeom prst="rect">
            <a:avLst/>
          </a:prstGeom>
          <a:noFill/>
          <a:ln/>
        </p:spPr>
        <p:txBody>
          <a:bodyPr wrap="square" rtlCol="0" anchor="ctr"/>
          <a:lstStyle/>
          <a:p>
            <a:pPr indent="0" marL="0">
              <a:buNone/>
            </a:pPr>
            <a:r>
              <a:rPr lang="en-US" sz="1300" dirty="0">
                <a:solidFill>
                  <a:srgbClr val="8B949E"/>
                </a:solidFill>
              </a:rPr>
              <a:t>A first-time party, a shrinking ruling bloc, and a tightening contest.</a:t>
            </a:r>
            <a:endParaRPr lang="en-US" sz="1300" dirty="0"/>
          </a:p>
        </p:txBody>
      </p:sp>
      <p:sp>
        <p:nvSpPr>
          <p:cNvPr id="5" name="Shape 3"/>
          <p:cNvSpPr/>
          <p:nvPr/>
        </p:nvSpPr>
        <p:spPr>
          <a:xfrm>
            <a:off x="274320" y="1463040"/>
            <a:ext cx="2011680" cy="155448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6" name="Shape 4"/>
          <p:cNvSpPr/>
          <p:nvPr/>
        </p:nvSpPr>
        <p:spPr>
          <a:xfrm>
            <a:off x="274320" y="1463040"/>
            <a:ext cx="2011680" cy="73152"/>
          </a:xfrm>
          <a:prstGeom prst="rect">
            <a:avLst/>
          </a:prstGeom>
          <a:solidFill>
            <a:srgbClr val="3FB950"/>
          </a:solidFill>
          <a:ln w="12700">
            <a:solidFill>
              <a:srgbClr val="3FB950"/>
            </a:solidFill>
            <a:prstDash val="solid"/>
          </a:ln>
        </p:spPr>
      </p:sp>
      <p:sp>
        <p:nvSpPr>
          <p:cNvPr id="7" name="Text 5"/>
          <p:cNvSpPr/>
          <p:nvPr/>
        </p:nvSpPr>
        <p:spPr>
          <a:xfrm>
            <a:off x="274320" y="1554480"/>
            <a:ext cx="2011680" cy="256032"/>
          </a:xfrm>
          <a:prstGeom prst="rect">
            <a:avLst/>
          </a:prstGeom>
          <a:noFill/>
          <a:ln/>
        </p:spPr>
        <p:txBody>
          <a:bodyPr wrap="square" rtlCol="0" anchor="ctr"/>
          <a:lstStyle/>
          <a:p>
            <a:pPr algn="ctr" indent="0" marL="0">
              <a:buNone/>
            </a:pPr>
            <a:r>
              <a:rPr lang="en-US" sz="1000" b="1" dirty="0">
                <a:solidFill>
                  <a:srgbClr val="3FB950"/>
                </a:solidFill>
              </a:rPr>
              <a:t>TVK</a:t>
            </a:r>
            <a:endParaRPr lang="en-US" sz="1000" dirty="0"/>
          </a:p>
        </p:txBody>
      </p:sp>
      <p:sp>
        <p:nvSpPr>
          <p:cNvPr id="8" name="Text 6"/>
          <p:cNvSpPr/>
          <p:nvPr/>
        </p:nvSpPr>
        <p:spPr>
          <a:xfrm>
            <a:off x="274320" y="1783080"/>
            <a:ext cx="2011680" cy="594360"/>
          </a:xfrm>
          <a:prstGeom prst="rect">
            <a:avLst/>
          </a:prstGeom>
          <a:noFill/>
          <a:ln/>
        </p:spPr>
        <p:txBody>
          <a:bodyPr wrap="square" rtlCol="0" anchor="ctr"/>
          <a:lstStyle/>
          <a:p>
            <a:pPr algn="ctr" indent="0" marL="0">
              <a:buNone/>
            </a:pPr>
            <a:r>
              <a:rPr lang="en-US" sz="3600" b="1" dirty="0">
                <a:solidFill>
                  <a:srgbClr val="FFFFFF"/>
                </a:solidFill>
              </a:rPr>
              <a:t>108</a:t>
            </a:r>
            <a:endParaRPr lang="en-US" sz="3600" dirty="0"/>
          </a:p>
        </p:txBody>
      </p:sp>
      <p:sp>
        <p:nvSpPr>
          <p:cNvPr id="9" name="Text 7"/>
          <p:cNvSpPr/>
          <p:nvPr/>
        </p:nvSpPr>
        <p:spPr>
          <a:xfrm>
            <a:off x="274320" y="2359152"/>
            <a:ext cx="2011680" cy="256032"/>
          </a:xfrm>
          <a:prstGeom prst="rect">
            <a:avLst/>
          </a:prstGeom>
          <a:noFill/>
          <a:ln/>
        </p:spPr>
        <p:txBody>
          <a:bodyPr wrap="square" rtlCol="0" anchor="ctr"/>
          <a:lstStyle/>
          <a:p>
            <a:pPr algn="ctr" indent="0" marL="0">
              <a:buNone/>
            </a:pPr>
            <a:r>
              <a:rPr lang="en-US" sz="950" dirty="0">
                <a:solidFill>
                  <a:srgbClr val="8B949E"/>
                </a:solidFill>
              </a:rPr>
              <a:t>seats won in 2026</a:t>
            </a:r>
            <a:endParaRPr lang="en-US" sz="950" dirty="0"/>
          </a:p>
        </p:txBody>
      </p:sp>
      <p:sp>
        <p:nvSpPr>
          <p:cNvPr id="10" name="Text 8"/>
          <p:cNvSpPr/>
          <p:nvPr/>
        </p:nvSpPr>
        <p:spPr>
          <a:xfrm>
            <a:off x="274320" y="2633472"/>
            <a:ext cx="2011680" cy="256032"/>
          </a:xfrm>
          <a:prstGeom prst="rect">
            <a:avLst/>
          </a:prstGeom>
          <a:noFill/>
          <a:ln/>
        </p:spPr>
        <p:txBody>
          <a:bodyPr wrap="square" rtlCol="0" anchor="ctr"/>
          <a:lstStyle/>
          <a:p>
            <a:pPr algn="ctr" indent="0" marL="0">
              <a:buNone/>
            </a:pPr>
            <a:r>
              <a:rPr lang="en-US" sz="950" b="1" dirty="0">
                <a:solidFill>
                  <a:srgbClr val="3FB950"/>
                </a:solidFill>
              </a:rPr>
              <a:t>★ New entrant 2026</a:t>
            </a:r>
            <a:endParaRPr lang="en-US" sz="950" dirty="0"/>
          </a:p>
        </p:txBody>
      </p:sp>
      <p:sp>
        <p:nvSpPr>
          <p:cNvPr id="11" name="Shape 9"/>
          <p:cNvSpPr/>
          <p:nvPr/>
        </p:nvSpPr>
        <p:spPr>
          <a:xfrm>
            <a:off x="2468880" y="1463040"/>
            <a:ext cx="2011680" cy="155448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2" name="Shape 10"/>
          <p:cNvSpPr/>
          <p:nvPr/>
        </p:nvSpPr>
        <p:spPr>
          <a:xfrm>
            <a:off x="2468880" y="1463040"/>
            <a:ext cx="2011680" cy="73152"/>
          </a:xfrm>
          <a:prstGeom prst="rect">
            <a:avLst/>
          </a:prstGeom>
          <a:solidFill>
            <a:srgbClr val="F5A623"/>
          </a:solidFill>
          <a:ln w="12700">
            <a:solidFill>
              <a:srgbClr val="F5A623"/>
            </a:solidFill>
            <a:prstDash val="solid"/>
          </a:ln>
        </p:spPr>
      </p:sp>
      <p:sp>
        <p:nvSpPr>
          <p:cNvPr id="13" name="Text 11"/>
          <p:cNvSpPr/>
          <p:nvPr/>
        </p:nvSpPr>
        <p:spPr>
          <a:xfrm>
            <a:off x="2468880" y="1554480"/>
            <a:ext cx="2011680" cy="256032"/>
          </a:xfrm>
          <a:prstGeom prst="rect">
            <a:avLst/>
          </a:prstGeom>
          <a:noFill/>
          <a:ln/>
        </p:spPr>
        <p:txBody>
          <a:bodyPr wrap="square" rtlCol="0" anchor="ctr"/>
          <a:lstStyle/>
          <a:p>
            <a:pPr algn="ctr" indent="0" marL="0">
              <a:buNone/>
            </a:pPr>
            <a:r>
              <a:rPr lang="en-US" sz="1000" b="1" dirty="0">
                <a:solidFill>
                  <a:srgbClr val="F5A623"/>
                </a:solidFill>
              </a:rPr>
              <a:t>DMK</a:t>
            </a:r>
            <a:endParaRPr lang="en-US" sz="1000" dirty="0"/>
          </a:p>
        </p:txBody>
      </p:sp>
      <p:sp>
        <p:nvSpPr>
          <p:cNvPr id="14" name="Text 12"/>
          <p:cNvSpPr/>
          <p:nvPr/>
        </p:nvSpPr>
        <p:spPr>
          <a:xfrm>
            <a:off x="2468880" y="1783080"/>
            <a:ext cx="2011680" cy="594360"/>
          </a:xfrm>
          <a:prstGeom prst="rect">
            <a:avLst/>
          </a:prstGeom>
          <a:noFill/>
          <a:ln/>
        </p:spPr>
        <p:txBody>
          <a:bodyPr wrap="square" rtlCol="0" anchor="ctr"/>
          <a:lstStyle/>
          <a:p>
            <a:pPr algn="ctr" indent="0" marL="0">
              <a:buNone/>
            </a:pPr>
            <a:r>
              <a:rPr lang="en-US" sz="3600" b="1" dirty="0">
                <a:solidFill>
                  <a:srgbClr val="FFFFFF"/>
                </a:solidFill>
              </a:rPr>
              <a:t>59</a:t>
            </a:r>
            <a:endParaRPr lang="en-US" sz="3600" dirty="0"/>
          </a:p>
        </p:txBody>
      </p:sp>
      <p:sp>
        <p:nvSpPr>
          <p:cNvPr id="15" name="Text 13"/>
          <p:cNvSpPr/>
          <p:nvPr/>
        </p:nvSpPr>
        <p:spPr>
          <a:xfrm>
            <a:off x="2468880" y="2359152"/>
            <a:ext cx="2011680" cy="256032"/>
          </a:xfrm>
          <a:prstGeom prst="rect">
            <a:avLst/>
          </a:prstGeom>
          <a:noFill/>
          <a:ln/>
        </p:spPr>
        <p:txBody>
          <a:bodyPr wrap="square" rtlCol="0" anchor="ctr"/>
          <a:lstStyle/>
          <a:p>
            <a:pPr algn="ctr" indent="0" marL="0">
              <a:buNone/>
            </a:pPr>
            <a:r>
              <a:rPr lang="en-US" sz="950" dirty="0">
                <a:solidFill>
                  <a:srgbClr val="8B949E"/>
                </a:solidFill>
              </a:rPr>
              <a:t>seats won in 2026</a:t>
            </a:r>
            <a:endParaRPr lang="en-US" sz="950" dirty="0"/>
          </a:p>
        </p:txBody>
      </p:sp>
      <p:sp>
        <p:nvSpPr>
          <p:cNvPr id="16" name="Text 14"/>
          <p:cNvSpPr/>
          <p:nvPr/>
        </p:nvSpPr>
        <p:spPr>
          <a:xfrm>
            <a:off x="2468880" y="2633472"/>
            <a:ext cx="2011680" cy="256032"/>
          </a:xfrm>
          <a:prstGeom prst="rect">
            <a:avLst/>
          </a:prstGeom>
          <a:noFill/>
          <a:ln/>
        </p:spPr>
        <p:txBody>
          <a:bodyPr wrap="square" rtlCol="0" anchor="ctr"/>
          <a:lstStyle/>
          <a:p>
            <a:pPr algn="ctr" indent="0" marL="0">
              <a:buNone/>
            </a:pPr>
            <a:r>
              <a:rPr lang="en-US" sz="950" b="1" dirty="0">
                <a:solidFill>
                  <a:srgbClr val="F85149"/>
                </a:solidFill>
              </a:rPr>
              <a:t>▼ 74 vs 2021 (133)</a:t>
            </a:r>
            <a:endParaRPr lang="en-US" sz="950" dirty="0"/>
          </a:p>
        </p:txBody>
      </p:sp>
      <p:sp>
        <p:nvSpPr>
          <p:cNvPr id="17" name="Shape 15"/>
          <p:cNvSpPr/>
          <p:nvPr/>
        </p:nvSpPr>
        <p:spPr>
          <a:xfrm>
            <a:off x="4663440" y="1463040"/>
            <a:ext cx="2011680" cy="155448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8" name="Shape 16"/>
          <p:cNvSpPr/>
          <p:nvPr/>
        </p:nvSpPr>
        <p:spPr>
          <a:xfrm>
            <a:off x="4663440" y="1463040"/>
            <a:ext cx="2011680" cy="73152"/>
          </a:xfrm>
          <a:prstGeom prst="rect">
            <a:avLst/>
          </a:prstGeom>
          <a:solidFill>
            <a:srgbClr val="4D9DE0"/>
          </a:solidFill>
          <a:ln w="12700">
            <a:solidFill>
              <a:srgbClr val="4D9DE0"/>
            </a:solidFill>
            <a:prstDash val="solid"/>
          </a:ln>
        </p:spPr>
      </p:sp>
      <p:sp>
        <p:nvSpPr>
          <p:cNvPr id="19" name="Text 17"/>
          <p:cNvSpPr/>
          <p:nvPr/>
        </p:nvSpPr>
        <p:spPr>
          <a:xfrm>
            <a:off x="4663440" y="1554480"/>
            <a:ext cx="2011680" cy="256032"/>
          </a:xfrm>
          <a:prstGeom prst="rect">
            <a:avLst/>
          </a:prstGeom>
          <a:noFill/>
          <a:ln/>
        </p:spPr>
        <p:txBody>
          <a:bodyPr wrap="square" rtlCol="0" anchor="ctr"/>
          <a:lstStyle/>
          <a:p>
            <a:pPr algn="ctr" indent="0" marL="0">
              <a:buNone/>
            </a:pPr>
            <a:r>
              <a:rPr lang="en-US" sz="1000" b="1" dirty="0">
                <a:solidFill>
                  <a:srgbClr val="4D9DE0"/>
                </a:solidFill>
              </a:rPr>
              <a:t>AIADMK</a:t>
            </a:r>
            <a:endParaRPr lang="en-US" sz="1000" dirty="0"/>
          </a:p>
        </p:txBody>
      </p:sp>
      <p:sp>
        <p:nvSpPr>
          <p:cNvPr id="20" name="Text 18"/>
          <p:cNvSpPr/>
          <p:nvPr/>
        </p:nvSpPr>
        <p:spPr>
          <a:xfrm>
            <a:off x="4663440" y="1783080"/>
            <a:ext cx="2011680" cy="594360"/>
          </a:xfrm>
          <a:prstGeom prst="rect">
            <a:avLst/>
          </a:prstGeom>
          <a:noFill/>
          <a:ln/>
        </p:spPr>
        <p:txBody>
          <a:bodyPr wrap="square" rtlCol="0" anchor="ctr"/>
          <a:lstStyle/>
          <a:p>
            <a:pPr algn="ctr" indent="0" marL="0">
              <a:buNone/>
            </a:pPr>
            <a:r>
              <a:rPr lang="en-US" sz="3600" b="1" dirty="0">
                <a:solidFill>
                  <a:srgbClr val="FFFFFF"/>
                </a:solidFill>
              </a:rPr>
              <a:t>47</a:t>
            </a:r>
            <a:endParaRPr lang="en-US" sz="3600" dirty="0"/>
          </a:p>
        </p:txBody>
      </p:sp>
      <p:sp>
        <p:nvSpPr>
          <p:cNvPr id="21" name="Text 19"/>
          <p:cNvSpPr/>
          <p:nvPr/>
        </p:nvSpPr>
        <p:spPr>
          <a:xfrm>
            <a:off x="4663440" y="2359152"/>
            <a:ext cx="2011680" cy="256032"/>
          </a:xfrm>
          <a:prstGeom prst="rect">
            <a:avLst/>
          </a:prstGeom>
          <a:noFill/>
          <a:ln/>
        </p:spPr>
        <p:txBody>
          <a:bodyPr wrap="square" rtlCol="0" anchor="ctr"/>
          <a:lstStyle/>
          <a:p>
            <a:pPr algn="ctr" indent="0" marL="0">
              <a:buNone/>
            </a:pPr>
            <a:r>
              <a:rPr lang="en-US" sz="950" dirty="0">
                <a:solidFill>
                  <a:srgbClr val="8B949E"/>
                </a:solidFill>
              </a:rPr>
              <a:t>seats won in 2026</a:t>
            </a:r>
            <a:endParaRPr lang="en-US" sz="950" dirty="0"/>
          </a:p>
        </p:txBody>
      </p:sp>
      <p:sp>
        <p:nvSpPr>
          <p:cNvPr id="22" name="Text 20"/>
          <p:cNvSpPr/>
          <p:nvPr/>
        </p:nvSpPr>
        <p:spPr>
          <a:xfrm>
            <a:off x="4663440" y="2633472"/>
            <a:ext cx="2011680" cy="256032"/>
          </a:xfrm>
          <a:prstGeom prst="rect">
            <a:avLst/>
          </a:prstGeom>
          <a:noFill/>
          <a:ln/>
        </p:spPr>
        <p:txBody>
          <a:bodyPr wrap="square" rtlCol="0" anchor="ctr"/>
          <a:lstStyle/>
          <a:p>
            <a:pPr algn="ctr" indent="0" marL="0">
              <a:buNone/>
            </a:pPr>
            <a:r>
              <a:rPr lang="en-US" sz="950" b="1" dirty="0">
                <a:solidFill>
                  <a:srgbClr val="F85149"/>
                </a:solidFill>
              </a:rPr>
              <a:t>▼ 19 vs 2021 (66)</a:t>
            </a:r>
            <a:endParaRPr lang="en-US" sz="950" dirty="0"/>
          </a:p>
        </p:txBody>
      </p:sp>
      <p:sp>
        <p:nvSpPr>
          <p:cNvPr id="23" name="Shape 21"/>
          <p:cNvSpPr/>
          <p:nvPr/>
        </p:nvSpPr>
        <p:spPr>
          <a:xfrm>
            <a:off x="6858000" y="1463040"/>
            <a:ext cx="2011680" cy="155448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24" name="Shape 22"/>
          <p:cNvSpPr/>
          <p:nvPr/>
        </p:nvSpPr>
        <p:spPr>
          <a:xfrm>
            <a:off x="6858000" y="1463040"/>
            <a:ext cx="2011680" cy="73152"/>
          </a:xfrm>
          <a:prstGeom prst="rect">
            <a:avLst/>
          </a:prstGeom>
          <a:solidFill>
            <a:srgbClr val="F5A623"/>
          </a:solidFill>
          <a:ln w="12700">
            <a:solidFill>
              <a:srgbClr val="F5A623"/>
            </a:solidFill>
            <a:prstDash val="solid"/>
          </a:ln>
        </p:spPr>
      </p:sp>
      <p:sp>
        <p:nvSpPr>
          <p:cNvPr id="25" name="Text 23"/>
          <p:cNvSpPr/>
          <p:nvPr/>
        </p:nvSpPr>
        <p:spPr>
          <a:xfrm>
            <a:off x="6858000" y="1554480"/>
            <a:ext cx="2011680" cy="256032"/>
          </a:xfrm>
          <a:prstGeom prst="rect">
            <a:avLst/>
          </a:prstGeom>
          <a:noFill/>
          <a:ln/>
        </p:spPr>
        <p:txBody>
          <a:bodyPr wrap="square" rtlCol="0" anchor="ctr"/>
          <a:lstStyle/>
          <a:p>
            <a:pPr algn="ctr" indent="0" marL="0">
              <a:buNone/>
            </a:pPr>
            <a:r>
              <a:rPr lang="en-US" sz="1000" b="1" dirty="0">
                <a:solidFill>
                  <a:srgbClr val="F5A623"/>
                </a:solidFill>
              </a:rPr>
              <a:t>FLIPPED</a:t>
            </a:r>
            <a:endParaRPr lang="en-US" sz="1000" dirty="0"/>
          </a:p>
        </p:txBody>
      </p:sp>
      <p:sp>
        <p:nvSpPr>
          <p:cNvPr id="26" name="Text 24"/>
          <p:cNvSpPr/>
          <p:nvPr/>
        </p:nvSpPr>
        <p:spPr>
          <a:xfrm>
            <a:off x="6858000" y="1783080"/>
            <a:ext cx="2011680" cy="594360"/>
          </a:xfrm>
          <a:prstGeom prst="rect">
            <a:avLst/>
          </a:prstGeom>
          <a:noFill/>
          <a:ln/>
        </p:spPr>
        <p:txBody>
          <a:bodyPr wrap="square" rtlCol="0" anchor="ctr"/>
          <a:lstStyle/>
          <a:p>
            <a:pPr algn="ctr" indent="0" marL="0">
              <a:buNone/>
            </a:pPr>
            <a:r>
              <a:rPr lang="en-US" sz="3600" b="1" dirty="0">
                <a:solidFill>
                  <a:srgbClr val="FFFFFF"/>
                </a:solidFill>
              </a:rPr>
              <a:t>163</a:t>
            </a:r>
            <a:endParaRPr lang="en-US" sz="3600" dirty="0"/>
          </a:p>
        </p:txBody>
      </p:sp>
      <p:sp>
        <p:nvSpPr>
          <p:cNvPr id="27" name="Text 25"/>
          <p:cNvSpPr/>
          <p:nvPr/>
        </p:nvSpPr>
        <p:spPr>
          <a:xfrm>
            <a:off x="6858000" y="2359152"/>
            <a:ext cx="2011680" cy="256032"/>
          </a:xfrm>
          <a:prstGeom prst="rect">
            <a:avLst/>
          </a:prstGeom>
          <a:noFill/>
          <a:ln/>
        </p:spPr>
        <p:txBody>
          <a:bodyPr wrap="square" rtlCol="0" anchor="ctr"/>
          <a:lstStyle/>
          <a:p>
            <a:pPr algn="ctr" indent="0" marL="0">
              <a:buNone/>
            </a:pPr>
            <a:r>
              <a:rPr lang="en-US" sz="950" dirty="0">
                <a:solidFill>
                  <a:srgbClr val="8B949E"/>
                </a:solidFill>
              </a:rPr>
              <a:t>of 234 changed party</a:t>
            </a:r>
            <a:endParaRPr lang="en-US" sz="950" dirty="0"/>
          </a:p>
        </p:txBody>
      </p:sp>
      <p:sp>
        <p:nvSpPr>
          <p:cNvPr id="28" name="Text 26"/>
          <p:cNvSpPr/>
          <p:nvPr/>
        </p:nvSpPr>
        <p:spPr>
          <a:xfrm>
            <a:off x="6858000" y="2633472"/>
            <a:ext cx="2011680" cy="256032"/>
          </a:xfrm>
          <a:prstGeom prst="rect">
            <a:avLst/>
          </a:prstGeom>
          <a:noFill/>
          <a:ln/>
        </p:spPr>
        <p:txBody>
          <a:bodyPr wrap="square" rtlCol="0" anchor="ctr"/>
          <a:lstStyle/>
          <a:p>
            <a:pPr algn="ctr" indent="0" marL="0">
              <a:buNone/>
            </a:pPr>
            <a:r>
              <a:rPr lang="en-US" sz="950" b="1" dirty="0">
                <a:solidFill>
                  <a:srgbClr val="3FB950"/>
                </a:solidFill>
              </a:rPr>
              <a:t>▲ 70% of all seats</a:t>
            </a:r>
            <a:endParaRPr lang="en-US" sz="950" dirty="0"/>
          </a:p>
        </p:txBody>
      </p:sp>
      <p:sp>
        <p:nvSpPr>
          <p:cNvPr id="29" name="Shape 27"/>
          <p:cNvSpPr/>
          <p:nvPr/>
        </p:nvSpPr>
        <p:spPr>
          <a:xfrm>
            <a:off x="274320" y="3246120"/>
            <a:ext cx="8595360" cy="160020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30" name="Text 28"/>
          <p:cNvSpPr/>
          <p:nvPr/>
        </p:nvSpPr>
        <p:spPr>
          <a:xfrm>
            <a:off x="457200" y="3337560"/>
            <a:ext cx="3657600" cy="256032"/>
          </a:xfrm>
          <a:prstGeom prst="rect">
            <a:avLst/>
          </a:prstGeom>
          <a:noFill/>
          <a:ln/>
        </p:spPr>
        <p:txBody>
          <a:bodyPr wrap="square" rtlCol="0" anchor="ctr"/>
          <a:lstStyle/>
          <a:p>
            <a:pPr indent="0" marL="0">
              <a:buNone/>
            </a:pPr>
            <a:r>
              <a:rPr lang="en-US" sz="900" b="1" spc="200" kern="0" dirty="0">
                <a:solidFill>
                  <a:srgbClr val="F5A623"/>
                </a:solidFill>
              </a:rPr>
              <a:t>SEAT SHARE 2026</a:t>
            </a:r>
            <a:endParaRPr lang="en-US" sz="900" dirty="0"/>
          </a:p>
        </p:txBody>
      </p:sp>
      <p:sp>
        <p:nvSpPr>
          <p:cNvPr id="31" name="Text 29"/>
          <p:cNvSpPr/>
          <p:nvPr/>
        </p:nvSpPr>
        <p:spPr>
          <a:xfrm>
            <a:off x="457200" y="3584448"/>
            <a:ext cx="4572000" cy="292608"/>
          </a:xfrm>
          <a:prstGeom prst="rect">
            <a:avLst/>
          </a:prstGeom>
          <a:noFill/>
          <a:ln/>
        </p:spPr>
        <p:txBody>
          <a:bodyPr wrap="square" rtlCol="0" anchor="ctr"/>
          <a:lstStyle/>
          <a:p>
            <a:pPr indent="0" marL="0">
              <a:buNone/>
            </a:pPr>
            <a:r>
              <a:rPr lang="en-US" sz="1300" b="1" dirty="0">
                <a:solidFill>
                  <a:srgbClr val="FFFFFF"/>
                </a:solidFill>
              </a:rPr>
              <a:t>Three parties now share 91% of all seats</a:t>
            </a:r>
            <a:endParaRPr lang="en-US" sz="1300" dirty="0"/>
          </a:p>
        </p:txBody>
      </p:sp>
      <p:sp>
        <p:nvSpPr>
          <p:cNvPr id="32" name="Shape 30"/>
          <p:cNvSpPr/>
          <p:nvPr/>
        </p:nvSpPr>
        <p:spPr>
          <a:xfrm>
            <a:off x="457200" y="3931920"/>
            <a:ext cx="164592" cy="164592"/>
          </a:xfrm>
          <a:prstGeom prst="rect">
            <a:avLst/>
          </a:prstGeom>
          <a:solidFill>
            <a:srgbClr val="3FB950"/>
          </a:solidFill>
          <a:ln w="12700">
            <a:solidFill>
              <a:srgbClr val="3FB950"/>
            </a:solidFill>
            <a:prstDash val="solid"/>
          </a:ln>
        </p:spPr>
      </p:sp>
      <p:sp>
        <p:nvSpPr>
          <p:cNvPr id="33" name="Text 31"/>
          <p:cNvSpPr/>
          <p:nvPr/>
        </p:nvSpPr>
        <p:spPr>
          <a:xfrm>
            <a:off x="685800" y="3931920"/>
            <a:ext cx="1828800" cy="201168"/>
          </a:xfrm>
          <a:prstGeom prst="rect">
            <a:avLst/>
          </a:prstGeom>
          <a:noFill/>
          <a:ln/>
        </p:spPr>
        <p:txBody>
          <a:bodyPr wrap="square" rtlCol="0" anchor="ctr"/>
          <a:lstStyle/>
          <a:p>
            <a:pPr indent="0" marL="0">
              <a:buNone/>
            </a:pPr>
            <a:r>
              <a:rPr lang="en-US" sz="1100" dirty="0">
                <a:solidFill>
                  <a:srgbClr val="E6EDF3"/>
                </a:solidFill>
              </a:rPr>
              <a:t>TVK  46.15%</a:t>
            </a:r>
            <a:endParaRPr lang="en-US" sz="1100" dirty="0"/>
          </a:p>
        </p:txBody>
      </p:sp>
      <p:sp>
        <p:nvSpPr>
          <p:cNvPr id="34" name="Shape 32"/>
          <p:cNvSpPr/>
          <p:nvPr/>
        </p:nvSpPr>
        <p:spPr>
          <a:xfrm>
            <a:off x="2560320" y="3931920"/>
            <a:ext cx="164592" cy="164592"/>
          </a:xfrm>
          <a:prstGeom prst="rect">
            <a:avLst/>
          </a:prstGeom>
          <a:solidFill>
            <a:srgbClr val="F5A623"/>
          </a:solidFill>
          <a:ln w="12700">
            <a:solidFill>
              <a:srgbClr val="F5A623"/>
            </a:solidFill>
            <a:prstDash val="solid"/>
          </a:ln>
        </p:spPr>
      </p:sp>
      <p:sp>
        <p:nvSpPr>
          <p:cNvPr id="35" name="Text 33"/>
          <p:cNvSpPr/>
          <p:nvPr/>
        </p:nvSpPr>
        <p:spPr>
          <a:xfrm>
            <a:off x="2788920" y="3931920"/>
            <a:ext cx="1828800" cy="201168"/>
          </a:xfrm>
          <a:prstGeom prst="rect">
            <a:avLst/>
          </a:prstGeom>
          <a:noFill/>
          <a:ln/>
        </p:spPr>
        <p:txBody>
          <a:bodyPr wrap="square" rtlCol="0" anchor="ctr"/>
          <a:lstStyle/>
          <a:p>
            <a:pPr indent="0" marL="0">
              <a:buNone/>
            </a:pPr>
            <a:r>
              <a:rPr lang="en-US" sz="1100" dirty="0">
                <a:solidFill>
                  <a:srgbClr val="E6EDF3"/>
                </a:solidFill>
              </a:rPr>
              <a:t>DMK  25.21%</a:t>
            </a:r>
            <a:endParaRPr lang="en-US" sz="1100" dirty="0"/>
          </a:p>
        </p:txBody>
      </p:sp>
      <p:sp>
        <p:nvSpPr>
          <p:cNvPr id="36" name="Shape 34"/>
          <p:cNvSpPr/>
          <p:nvPr/>
        </p:nvSpPr>
        <p:spPr>
          <a:xfrm>
            <a:off x="4663440" y="3931920"/>
            <a:ext cx="164592" cy="164592"/>
          </a:xfrm>
          <a:prstGeom prst="rect">
            <a:avLst/>
          </a:prstGeom>
          <a:solidFill>
            <a:srgbClr val="4D9DE0"/>
          </a:solidFill>
          <a:ln w="12700">
            <a:solidFill>
              <a:srgbClr val="4D9DE0"/>
            </a:solidFill>
            <a:prstDash val="solid"/>
          </a:ln>
        </p:spPr>
      </p:sp>
      <p:sp>
        <p:nvSpPr>
          <p:cNvPr id="37" name="Text 35"/>
          <p:cNvSpPr/>
          <p:nvPr/>
        </p:nvSpPr>
        <p:spPr>
          <a:xfrm>
            <a:off x="4892040" y="3931920"/>
            <a:ext cx="1828800" cy="201168"/>
          </a:xfrm>
          <a:prstGeom prst="rect">
            <a:avLst/>
          </a:prstGeom>
          <a:noFill/>
          <a:ln/>
        </p:spPr>
        <p:txBody>
          <a:bodyPr wrap="square" rtlCol="0" anchor="ctr"/>
          <a:lstStyle/>
          <a:p>
            <a:pPr indent="0" marL="0">
              <a:buNone/>
            </a:pPr>
            <a:r>
              <a:rPr lang="en-US" sz="1100" dirty="0">
                <a:solidFill>
                  <a:srgbClr val="E6EDF3"/>
                </a:solidFill>
              </a:rPr>
              <a:t>AIADMK  20.09%</a:t>
            </a:r>
            <a:endParaRPr lang="en-US" sz="1100" dirty="0"/>
          </a:p>
        </p:txBody>
      </p:sp>
      <p:sp>
        <p:nvSpPr>
          <p:cNvPr id="38" name="Shape 36"/>
          <p:cNvSpPr/>
          <p:nvPr/>
        </p:nvSpPr>
        <p:spPr>
          <a:xfrm>
            <a:off x="6766560" y="3931920"/>
            <a:ext cx="164592" cy="164592"/>
          </a:xfrm>
          <a:prstGeom prst="rect">
            <a:avLst/>
          </a:prstGeom>
          <a:solidFill>
            <a:srgbClr val="8B949E"/>
          </a:solidFill>
          <a:ln w="12700">
            <a:solidFill>
              <a:srgbClr val="8B949E"/>
            </a:solidFill>
            <a:prstDash val="solid"/>
          </a:ln>
        </p:spPr>
      </p:sp>
      <p:sp>
        <p:nvSpPr>
          <p:cNvPr id="39" name="Text 37"/>
          <p:cNvSpPr/>
          <p:nvPr/>
        </p:nvSpPr>
        <p:spPr>
          <a:xfrm>
            <a:off x="6995160" y="3931920"/>
            <a:ext cx="1828800" cy="201168"/>
          </a:xfrm>
          <a:prstGeom prst="rect">
            <a:avLst/>
          </a:prstGeom>
          <a:noFill/>
          <a:ln/>
        </p:spPr>
        <p:txBody>
          <a:bodyPr wrap="square" rtlCol="0" anchor="ctr"/>
          <a:lstStyle/>
          <a:p>
            <a:pPr indent="0" marL="0">
              <a:buNone/>
            </a:pPr>
            <a:r>
              <a:rPr lang="en-US" sz="1100" dirty="0">
                <a:solidFill>
                  <a:srgbClr val="E6EDF3"/>
                </a:solidFill>
              </a:rPr>
              <a:t>Others  8.55%</a:t>
            </a:r>
            <a:endParaRPr lang="en-US" sz="1100" dirty="0"/>
          </a:p>
        </p:txBody>
      </p:sp>
      <p:sp>
        <p:nvSpPr>
          <p:cNvPr id="40" name="Text 38"/>
          <p:cNvSpPr/>
          <p:nvPr/>
        </p:nvSpPr>
        <p:spPr>
          <a:xfrm>
            <a:off x="457200" y="4206240"/>
            <a:ext cx="8229600" cy="502920"/>
          </a:xfrm>
          <a:prstGeom prst="rect">
            <a:avLst/>
          </a:prstGeom>
          <a:noFill/>
          <a:ln/>
        </p:spPr>
        <p:txBody>
          <a:bodyPr wrap="square" rtlCol="0" anchor="ctr"/>
          <a:lstStyle/>
          <a:p>
            <a:pPr indent="0" marL="0">
              <a:buNone/>
            </a:pPr>
            <a:r>
              <a:rPr lang="en-US" sz="1100" i="1" dirty="0">
                <a:solidFill>
                  <a:srgbClr val="8B949E"/>
                </a:solidFill>
              </a:rPr>
              <a:t>The three-story thread: Seats flipped (Story 1) mostly because TVK pulled vote share from DMK and AIADMK (Story 2). The close margins in flipped seats (Story 3) tell us exactly how fragile the new order is.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5486400" cy="228600"/>
          </a:xfrm>
          <a:prstGeom prst="rect">
            <a:avLst/>
          </a:prstGeom>
          <a:noFill/>
          <a:ln/>
        </p:spPr>
        <p:txBody>
          <a:bodyPr wrap="square" rtlCol="0" anchor="ctr"/>
          <a:lstStyle/>
          <a:p>
            <a:pPr indent="0" marL="0">
              <a:buNone/>
            </a:pPr>
            <a:r>
              <a:rPr lang="en-US" sz="900" b="1" spc="300" kern="0" dirty="0">
                <a:solidFill>
                  <a:srgbClr val="3FB950"/>
                </a:solidFill>
              </a:rPr>
              <a:t>STORY 1  ·  THE FLIP</a:t>
            </a:r>
            <a:endParaRPr lang="en-US" sz="900" dirty="0"/>
          </a:p>
        </p:txBody>
      </p:sp>
      <p:sp>
        <p:nvSpPr>
          <p:cNvPr id="3" name="Text 1"/>
          <p:cNvSpPr/>
          <p:nvPr/>
        </p:nvSpPr>
        <p:spPr>
          <a:xfrm>
            <a:off x="365760" y="457200"/>
            <a:ext cx="8229600" cy="1005840"/>
          </a:xfrm>
          <a:prstGeom prst="rect">
            <a:avLst/>
          </a:prstGeom>
          <a:noFill/>
          <a:ln/>
        </p:spPr>
        <p:txBody>
          <a:bodyPr wrap="square" rtlCol="0" anchor="ctr"/>
          <a:lstStyle/>
          <a:p>
            <a:pPr indent="0" marL="0">
              <a:buNone/>
            </a:pPr>
            <a:r>
              <a:rPr lang="en-US" sz="3200" b="1" dirty="0">
                <a:solidFill>
                  <a:srgbClr val="FFFFFF"/>
                </a:solidFill>
              </a:rPr>
              <a:t>From a 2-Party Contest</a:t>
            </a:r>
            <a:endParaRPr lang="en-US" sz="3200" dirty="0"/>
          </a:p>
          <a:p>
            <a:pPr indent="0" marL="0">
              <a:buNone/>
            </a:pPr>
            <a:r>
              <a:rPr lang="en-US" sz="3200" b="1" dirty="0">
                <a:solidFill>
                  <a:srgbClr val="FFFFFF"/>
                </a:solidFill>
              </a:rPr>
              <a:t>to a 3-Way Battle</a:t>
            </a:r>
            <a:endParaRPr lang="en-US" sz="3200" dirty="0"/>
          </a:p>
        </p:txBody>
      </p:sp>
      <p:sp>
        <p:nvSpPr>
          <p:cNvPr id="4" name="Text 2"/>
          <p:cNvSpPr/>
          <p:nvPr/>
        </p:nvSpPr>
        <p:spPr>
          <a:xfrm>
            <a:off x="365760" y="1463040"/>
            <a:ext cx="8412480" cy="411480"/>
          </a:xfrm>
          <a:prstGeom prst="rect">
            <a:avLst/>
          </a:prstGeom>
          <a:noFill/>
          <a:ln/>
        </p:spPr>
        <p:txBody>
          <a:bodyPr wrap="square" rtlCol="0" anchor="ctr"/>
          <a:lstStyle/>
          <a:p>
            <a:pPr indent="0" marL="0">
              <a:buNone/>
            </a:pPr>
            <a:r>
              <a:rPr lang="en-US" sz="1250" dirty="0">
                <a:solidFill>
                  <a:srgbClr val="8B949E"/>
                </a:solidFill>
              </a:rPr>
              <a:t>163 constituencies switched their winning party. The biggest single flow: 65 seats went from DMK in 2021 to TVK in 2026.</a:t>
            </a:r>
            <a:endParaRPr lang="en-US" sz="1250" dirty="0"/>
          </a:p>
        </p:txBody>
      </p:sp>
      <p:sp>
        <p:nvSpPr>
          <p:cNvPr id="5" name="Shape 3"/>
          <p:cNvSpPr/>
          <p:nvPr/>
        </p:nvSpPr>
        <p:spPr>
          <a:xfrm>
            <a:off x="274320" y="1965960"/>
            <a:ext cx="2651760" cy="1371600"/>
          </a:xfrm>
          <a:prstGeom prst="rect">
            <a:avLst/>
          </a:prstGeom>
          <a:solidFill>
            <a:srgbClr val="161B22"/>
          </a:solidFill>
          <a:ln w="19050">
            <a:solidFill>
              <a:srgbClr val="3FB950"/>
            </a:solidFill>
            <a:prstDash val="solid"/>
          </a:ln>
          <a:effectLst>
            <a:outerShdw sx="100000" sy="100000" kx="0" ky="0" algn="bl" rotWithShape="0" blurRad="127000" dist="38100" dir="8100000">
              <a:srgbClr val="000000">
                <a:alpha val="30000"/>
              </a:srgbClr>
            </a:outerShdw>
          </a:effectLst>
        </p:spPr>
      </p:sp>
      <p:sp>
        <p:nvSpPr>
          <p:cNvPr id="6" name="Text 4"/>
          <p:cNvSpPr/>
          <p:nvPr/>
        </p:nvSpPr>
        <p:spPr>
          <a:xfrm>
            <a:off x="274320" y="2057400"/>
            <a:ext cx="2651760" cy="731520"/>
          </a:xfrm>
          <a:prstGeom prst="rect">
            <a:avLst/>
          </a:prstGeom>
          <a:noFill/>
          <a:ln/>
        </p:spPr>
        <p:txBody>
          <a:bodyPr wrap="square" rtlCol="0" anchor="ctr"/>
          <a:lstStyle/>
          <a:p>
            <a:pPr algn="ctr" indent="0" marL="0">
              <a:buNone/>
            </a:pPr>
            <a:r>
              <a:rPr lang="en-US" sz="4200" b="1" dirty="0">
                <a:solidFill>
                  <a:srgbClr val="3FB950"/>
                </a:solidFill>
              </a:rPr>
              <a:t>65</a:t>
            </a:r>
            <a:endParaRPr lang="en-US" sz="4200" dirty="0"/>
          </a:p>
        </p:txBody>
      </p:sp>
      <p:sp>
        <p:nvSpPr>
          <p:cNvPr id="7" name="Text 5"/>
          <p:cNvSpPr/>
          <p:nvPr/>
        </p:nvSpPr>
        <p:spPr>
          <a:xfrm>
            <a:off x="274320" y="2770632"/>
            <a:ext cx="2651760" cy="256032"/>
          </a:xfrm>
          <a:prstGeom prst="rect">
            <a:avLst/>
          </a:prstGeom>
          <a:noFill/>
          <a:ln/>
        </p:spPr>
        <p:txBody>
          <a:bodyPr wrap="square" rtlCol="0" anchor="ctr"/>
          <a:lstStyle/>
          <a:p>
            <a:pPr algn="ctr" indent="0" marL="0">
              <a:buNone/>
            </a:pPr>
            <a:r>
              <a:rPr lang="en-US" sz="1100" dirty="0">
                <a:solidFill>
                  <a:srgbClr val="8B949E"/>
                </a:solidFill>
              </a:rPr>
              <a:t>seats flipped</a:t>
            </a:r>
            <a:endParaRPr lang="en-US" sz="1100" dirty="0"/>
          </a:p>
        </p:txBody>
      </p:sp>
      <p:sp>
        <p:nvSpPr>
          <p:cNvPr id="8" name="Text 6"/>
          <p:cNvSpPr/>
          <p:nvPr/>
        </p:nvSpPr>
        <p:spPr>
          <a:xfrm>
            <a:off x="274320" y="3017520"/>
            <a:ext cx="2651760" cy="228600"/>
          </a:xfrm>
          <a:prstGeom prst="rect">
            <a:avLst/>
          </a:prstGeom>
          <a:noFill/>
          <a:ln/>
        </p:spPr>
        <p:txBody>
          <a:bodyPr wrap="square" rtlCol="0" anchor="ctr"/>
          <a:lstStyle/>
          <a:p>
            <a:pPr algn="ctr" indent="0" marL="0">
              <a:buNone/>
            </a:pPr>
            <a:r>
              <a:rPr lang="en-US" sz="1000" b="1" dirty="0">
                <a:solidFill>
                  <a:srgbClr val="3FB950"/>
                </a:solidFill>
              </a:rPr>
              <a:t>DMK 2021 → TVK 2026</a:t>
            </a:r>
            <a:endParaRPr lang="en-US" sz="1000" dirty="0"/>
          </a:p>
        </p:txBody>
      </p:sp>
      <p:sp>
        <p:nvSpPr>
          <p:cNvPr id="9" name="Shape 7"/>
          <p:cNvSpPr/>
          <p:nvPr/>
        </p:nvSpPr>
        <p:spPr>
          <a:xfrm>
            <a:off x="3200400" y="1965960"/>
            <a:ext cx="2651760" cy="1371600"/>
          </a:xfrm>
          <a:prstGeom prst="rect">
            <a:avLst/>
          </a:prstGeom>
          <a:solidFill>
            <a:srgbClr val="161B22"/>
          </a:solidFill>
          <a:ln w="19050">
            <a:solidFill>
              <a:srgbClr val="F5A623"/>
            </a:solidFill>
            <a:prstDash val="solid"/>
          </a:ln>
          <a:effectLst>
            <a:outerShdw sx="100000" sy="100000" kx="0" ky="0" algn="bl" rotWithShape="0" blurRad="127000" dist="38100" dir="8100000">
              <a:srgbClr val="000000">
                <a:alpha val="30000"/>
              </a:srgbClr>
            </a:outerShdw>
          </a:effectLst>
        </p:spPr>
      </p:sp>
      <p:sp>
        <p:nvSpPr>
          <p:cNvPr id="10" name="Text 8"/>
          <p:cNvSpPr/>
          <p:nvPr/>
        </p:nvSpPr>
        <p:spPr>
          <a:xfrm>
            <a:off x="3200400" y="2057400"/>
            <a:ext cx="2651760" cy="731520"/>
          </a:xfrm>
          <a:prstGeom prst="rect">
            <a:avLst/>
          </a:prstGeom>
          <a:noFill/>
          <a:ln/>
        </p:spPr>
        <p:txBody>
          <a:bodyPr wrap="square" rtlCol="0" anchor="ctr"/>
          <a:lstStyle/>
          <a:p>
            <a:pPr algn="ctr" indent="0" marL="0">
              <a:buNone/>
            </a:pPr>
            <a:r>
              <a:rPr lang="en-US" sz="4200" b="1" dirty="0">
                <a:solidFill>
                  <a:srgbClr val="F5A623"/>
                </a:solidFill>
              </a:rPr>
              <a:t>15</a:t>
            </a:r>
            <a:endParaRPr lang="en-US" sz="4200" dirty="0"/>
          </a:p>
        </p:txBody>
      </p:sp>
      <p:sp>
        <p:nvSpPr>
          <p:cNvPr id="11" name="Text 9"/>
          <p:cNvSpPr/>
          <p:nvPr/>
        </p:nvSpPr>
        <p:spPr>
          <a:xfrm>
            <a:off x="3200400" y="2770632"/>
            <a:ext cx="2651760" cy="256032"/>
          </a:xfrm>
          <a:prstGeom prst="rect">
            <a:avLst/>
          </a:prstGeom>
          <a:noFill/>
          <a:ln/>
        </p:spPr>
        <p:txBody>
          <a:bodyPr wrap="square" rtlCol="0" anchor="ctr"/>
          <a:lstStyle/>
          <a:p>
            <a:pPr algn="ctr" indent="0" marL="0">
              <a:buNone/>
            </a:pPr>
            <a:r>
              <a:rPr lang="en-US" sz="1100" dirty="0">
                <a:solidFill>
                  <a:srgbClr val="8B949E"/>
                </a:solidFill>
              </a:rPr>
              <a:t>AIADMK 2021 seats</a:t>
            </a:r>
            <a:endParaRPr lang="en-US" sz="1100" dirty="0"/>
          </a:p>
        </p:txBody>
      </p:sp>
      <p:sp>
        <p:nvSpPr>
          <p:cNvPr id="12" name="Text 10"/>
          <p:cNvSpPr/>
          <p:nvPr/>
        </p:nvSpPr>
        <p:spPr>
          <a:xfrm>
            <a:off x="3200400" y="3017520"/>
            <a:ext cx="2651760" cy="228600"/>
          </a:xfrm>
          <a:prstGeom prst="rect">
            <a:avLst/>
          </a:prstGeom>
          <a:noFill/>
          <a:ln/>
        </p:spPr>
        <p:txBody>
          <a:bodyPr wrap="square" rtlCol="0" anchor="ctr"/>
          <a:lstStyle/>
          <a:p>
            <a:pPr algn="ctr" indent="0" marL="0">
              <a:buNone/>
            </a:pPr>
            <a:r>
              <a:rPr lang="en-US" sz="1000" b="1" dirty="0">
                <a:solidFill>
                  <a:srgbClr val="F5A623"/>
                </a:solidFill>
              </a:rPr>
              <a:t>won by DMK 2026</a:t>
            </a:r>
            <a:endParaRPr lang="en-US" sz="1000" dirty="0"/>
          </a:p>
        </p:txBody>
      </p:sp>
      <p:sp>
        <p:nvSpPr>
          <p:cNvPr id="13" name="Shape 11"/>
          <p:cNvSpPr/>
          <p:nvPr/>
        </p:nvSpPr>
        <p:spPr>
          <a:xfrm>
            <a:off x="6126480" y="1965960"/>
            <a:ext cx="2651760" cy="1371600"/>
          </a:xfrm>
          <a:prstGeom prst="rect">
            <a:avLst/>
          </a:prstGeom>
          <a:solidFill>
            <a:srgbClr val="161B22"/>
          </a:solidFill>
          <a:ln w="19050">
            <a:solidFill>
              <a:srgbClr val="F5A623"/>
            </a:solidFill>
            <a:prstDash val="solid"/>
          </a:ln>
          <a:effectLst>
            <a:outerShdw sx="100000" sy="100000" kx="0" ky="0" algn="bl" rotWithShape="0" blurRad="127000" dist="38100" dir="8100000">
              <a:srgbClr val="000000">
                <a:alpha val="30000"/>
              </a:srgbClr>
            </a:outerShdw>
          </a:effectLst>
        </p:spPr>
      </p:sp>
      <p:sp>
        <p:nvSpPr>
          <p:cNvPr id="14" name="Text 12"/>
          <p:cNvSpPr/>
          <p:nvPr/>
        </p:nvSpPr>
        <p:spPr>
          <a:xfrm>
            <a:off x="6126480" y="2057400"/>
            <a:ext cx="2651760" cy="731520"/>
          </a:xfrm>
          <a:prstGeom prst="rect">
            <a:avLst/>
          </a:prstGeom>
          <a:noFill/>
          <a:ln/>
        </p:spPr>
        <p:txBody>
          <a:bodyPr wrap="square" rtlCol="0" anchor="ctr"/>
          <a:lstStyle/>
          <a:p>
            <a:pPr algn="ctr" indent="0" marL="0">
              <a:buNone/>
            </a:pPr>
            <a:r>
              <a:rPr lang="en-US" sz="4200" b="1" dirty="0">
                <a:solidFill>
                  <a:srgbClr val="F5A623"/>
                </a:solidFill>
              </a:rPr>
              <a:t>163</a:t>
            </a:r>
            <a:endParaRPr lang="en-US" sz="4200" dirty="0"/>
          </a:p>
        </p:txBody>
      </p:sp>
      <p:sp>
        <p:nvSpPr>
          <p:cNvPr id="15" name="Text 13"/>
          <p:cNvSpPr/>
          <p:nvPr/>
        </p:nvSpPr>
        <p:spPr>
          <a:xfrm>
            <a:off x="6126480" y="2770632"/>
            <a:ext cx="2651760" cy="256032"/>
          </a:xfrm>
          <a:prstGeom prst="rect">
            <a:avLst/>
          </a:prstGeom>
          <a:noFill/>
          <a:ln/>
        </p:spPr>
        <p:txBody>
          <a:bodyPr wrap="square" rtlCol="0" anchor="ctr"/>
          <a:lstStyle/>
          <a:p>
            <a:pPr algn="ctr" indent="0" marL="0">
              <a:buNone/>
            </a:pPr>
            <a:r>
              <a:rPr lang="en-US" sz="1100" dirty="0">
                <a:solidFill>
                  <a:srgbClr val="8B949E"/>
                </a:solidFill>
              </a:rPr>
              <a:t>total flips</a:t>
            </a:r>
            <a:endParaRPr lang="en-US" sz="1100" dirty="0"/>
          </a:p>
        </p:txBody>
      </p:sp>
      <p:sp>
        <p:nvSpPr>
          <p:cNvPr id="16" name="Text 14"/>
          <p:cNvSpPr/>
          <p:nvPr/>
        </p:nvSpPr>
        <p:spPr>
          <a:xfrm>
            <a:off x="6126480" y="3017520"/>
            <a:ext cx="2651760" cy="228600"/>
          </a:xfrm>
          <a:prstGeom prst="rect">
            <a:avLst/>
          </a:prstGeom>
          <a:noFill/>
          <a:ln/>
        </p:spPr>
        <p:txBody>
          <a:bodyPr wrap="square" rtlCol="0" anchor="ctr"/>
          <a:lstStyle/>
          <a:p>
            <a:pPr algn="ctr" indent="0" marL="0">
              <a:buNone/>
            </a:pPr>
            <a:r>
              <a:rPr lang="en-US" sz="1000" b="1" dirty="0">
                <a:solidFill>
                  <a:srgbClr val="F5A623"/>
                </a:solidFill>
              </a:rPr>
              <a:t>of 234 constituencies</a:t>
            </a:r>
            <a:endParaRPr lang="en-US" sz="1000" dirty="0"/>
          </a:p>
        </p:txBody>
      </p:sp>
      <p:sp>
        <p:nvSpPr>
          <p:cNvPr id="17" name="Shape 15"/>
          <p:cNvSpPr/>
          <p:nvPr/>
        </p:nvSpPr>
        <p:spPr>
          <a:xfrm>
            <a:off x="274320" y="3520440"/>
            <a:ext cx="8595360" cy="1371600"/>
          </a:xfrm>
          <a:prstGeom prst="rect">
            <a:avLst/>
          </a:prstGeom>
          <a:solidFill>
            <a:srgbClr val="161B22"/>
          </a:solidFill>
          <a:ln w="12700">
            <a:solidFill>
              <a:srgbClr val="21262D"/>
            </a:solidFill>
            <a:prstDash val="solid"/>
          </a:ln>
        </p:spPr>
      </p:sp>
      <p:sp>
        <p:nvSpPr>
          <p:cNvPr id="18" name="Text 16"/>
          <p:cNvSpPr/>
          <p:nvPr/>
        </p:nvSpPr>
        <p:spPr>
          <a:xfrm>
            <a:off x="502920" y="3611880"/>
            <a:ext cx="7315200" cy="256032"/>
          </a:xfrm>
          <a:prstGeom prst="rect">
            <a:avLst/>
          </a:prstGeom>
          <a:noFill/>
          <a:ln/>
        </p:spPr>
        <p:txBody>
          <a:bodyPr wrap="square" rtlCol="0" anchor="ctr"/>
          <a:lstStyle/>
          <a:p>
            <a:pPr indent="0" marL="0">
              <a:buNone/>
            </a:pPr>
            <a:r>
              <a:rPr lang="en-US" sz="900" b="1" spc="200" kern="0" dirty="0">
                <a:solidFill>
                  <a:srgbClr val="F5A623"/>
                </a:solidFill>
              </a:rPr>
              <a:t>SEAT FLOW: WHERE DID 2021 WINNERS GO IN 2026?</a:t>
            </a:r>
            <a:endParaRPr lang="en-US" sz="900" dirty="0"/>
          </a:p>
        </p:txBody>
      </p:sp>
      <p:sp>
        <p:nvSpPr>
          <p:cNvPr id="19" name="Text 17"/>
          <p:cNvSpPr/>
          <p:nvPr/>
        </p:nvSpPr>
        <p:spPr>
          <a:xfrm>
            <a:off x="502920" y="3858768"/>
            <a:ext cx="7315200" cy="320040"/>
          </a:xfrm>
          <a:prstGeom prst="rect">
            <a:avLst/>
          </a:prstGeom>
          <a:noFill/>
          <a:ln/>
        </p:spPr>
        <p:txBody>
          <a:bodyPr wrap="square" rtlCol="0" anchor="ctr"/>
          <a:lstStyle/>
          <a:p>
            <a:pPr indent="0" marL="0">
              <a:buNone/>
            </a:pPr>
            <a:r>
              <a:rPr lang="en-US" sz="1400" b="1" dirty="0">
                <a:solidFill>
                  <a:srgbClr val="FFFFFF"/>
                </a:solidFill>
              </a:rPr>
              <a:t>TVK absorbed seats from both major parties</a:t>
            </a:r>
            <a:endParaRPr lang="en-US" sz="1400" dirty="0"/>
          </a:p>
        </p:txBody>
      </p:sp>
      <p:sp>
        <p:nvSpPr>
          <p:cNvPr id="20" name="Shape 18"/>
          <p:cNvSpPr/>
          <p:nvPr/>
        </p:nvSpPr>
        <p:spPr>
          <a:xfrm>
            <a:off x="502920" y="4251960"/>
            <a:ext cx="109728" cy="411480"/>
          </a:xfrm>
          <a:prstGeom prst="rect">
            <a:avLst/>
          </a:prstGeom>
          <a:solidFill>
            <a:srgbClr val="3FB950"/>
          </a:solidFill>
          <a:ln w="12700">
            <a:solidFill>
              <a:srgbClr val="3FB950"/>
            </a:solidFill>
            <a:prstDash val="solid"/>
          </a:ln>
        </p:spPr>
      </p:sp>
      <p:sp>
        <p:nvSpPr>
          <p:cNvPr id="21" name="Text 19"/>
          <p:cNvSpPr/>
          <p:nvPr/>
        </p:nvSpPr>
        <p:spPr>
          <a:xfrm>
            <a:off x="667512" y="4251960"/>
            <a:ext cx="1920240" cy="201168"/>
          </a:xfrm>
          <a:prstGeom prst="rect">
            <a:avLst/>
          </a:prstGeom>
          <a:noFill/>
          <a:ln/>
        </p:spPr>
        <p:txBody>
          <a:bodyPr wrap="square" rtlCol="0" anchor="ctr"/>
          <a:lstStyle/>
          <a:p>
            <a:pPr indent="0" marL="0">
              <a:buNone/>
            </a:pPr>
            <a:r>
              <a:rPr lang="en-US" sz="950" dirty="0">
                <a:solidFill>
                  <a:srgbClr val="8B949E"/>
                </a:solidFill>
              </a:rPr>
              <a:t>DMK (133) → TVK (108)</a:t>
            </a:r>
            <a:endParaRPr lang="en-US" sz="950" dirty="0"/>
          </a:p>
        </p:txBody>
      </p:sp>
      <p:sp>
        <p:nvSpPr>
          <p:cNvPr id="22" name="Text 20"/>
          <p:cNvSpPr/>
          <p:nvPr/>
        </p:nvSpPr>
        <p:spPr>
          <a:xfrm>
            <a:off x="667512" y="4453128"/>
            <a:ext cx="1920240" cy="201168"/>
          </a:xfrm>
          <a:prstGeom prst="rect">
            <a:avLst/>
          </a:prstGeom>
          <a:noFill/>
          <a:ln/>
        </p:spPr>
        <p:txBody>
          <a:bodyPr wrap="square" rtlCol="0" anchor="ctr"/>
          <a:lstStyle/>
          <a:p>
            <a:pPr indent="0" marL="0">
              <a:buNone/>
            </a:pPr>
            <a:r>
              <a:rPr lang="en-US" sz="1000" b="1" dirty="0">
                <a:solidFill>
                  <a:srgbClr val="3FB950"/>
                </a:solidFill>
              </a:rPr>
              <a:t>65 seats</a:t>
            </a:r>
            <a:endParaRPr lang="en-US" sz="1000" dirty="0"/>
          </a:p>
        </p:txBody>
      </p:sp>
      <p:sp>
        <p:nvSpPr>
          <p:cNvPr id="23" name="Shape 21"/>
          <p:cNvSpPr/>
          <p:nvPr/>
        </p:nvSpPr>
        <p:spPr>
          <a:xfrm>
            <a:off x="2651760" y="4251960"/>
            <a:ext cx="109728" cy="411480"/>
          </a:xfrm>
          <a:prstGeom prst="rect">
            <a:avLst/>
          </a:prstGeom>
          <a:solidFill>
            <a:srgbClr val="F5A623"/>
          </a:solidFill>
          <a:ln w="12700">
            <a:solidFill>
              <a:srgbClr val="F5A623"/>
            </a:solidFill>
            <a:prstDash val="solid"/>
          </a:ln>
        </p:spPr>
      </p:sp>
      <p:sp>
        <p:nvSpPr>
          <p:cNvPr id="24" name="Text 22"/>
          <p:cNvSpPr/>
          <p:nvPr/>
        </p:nvSpPr>
        <p:spPr>
          <a:xfrm>
            <a:off x="2816352" y="4251960"/>
            <a:ext cx="1920240" cy="201168"/>
          </a:xfrm>
          <a:prstGeom prst="rect">
            <a:avLst/>
          </a:prstGeom>
          <a:noFill/>
          <a:ln/>
        </p:spPr>
        <p:txBody>
          <a:bodyPr wrap="square" rtlCol="0" anchor="ctr"/>
          <a:lstStyle/>
          <a:p>
            <a:pPr indent="0" marL="0">
              <a:buNone/>
            </a:pPr>
            <a:r>
              <a:rPr lang="en-US" sz="950" dirty="0">
                <a:solidFill>
                  <a:srgbClr val="8B949E"/>
                </a:solidFill>
              </a:rPr>
              <a:t>DMK (133) → DMK (59)</a:t>
            </a:r>
            <a:endParaRPr lang="en-US" sz="950" dirty="0"/>
          </a:p>
        </p:txBody>
      </p:sp>
      <p:sp>
        <p:nvSpPr>
          <p:cNvPr id="25" name="Text 23"/>
          <p:cNvSpPr/>
          <p:nvPr/>
        </p:nvSpPr>
        <p:spPr>
          <a:xfrm>
            <a:off x="2816352" y="4453128"/>
            <a:ext cx="1920240" cy="201168"/>
          </a:xfrm>
          <a:prstGeom prst="rect">
            <a:avLst/>
          </a:prstGeom>
          <a:noFill/>
          <a:ln/>
        </p:spPr>
        <p:txBody>
          <a:bodyPr wrap="square" rtlCol="0" anchor="ctr"/>
          <a:lstStyle/>
          <a:p>
            <a:pPr indent="0" marL="0">
              <a:buNone/>
            </a:pPr>
            <a:r>
              <a:rPr lang="en-US" sz="1000" b="1" dirty="0">
                <a:solidFill>
                  <a:srgbClr val="F5A623"/>
                </a:solidFill>
              </a:rPr>
              <a:t>59 seats</a:t>
            </a:r>
            <a:endParaRPr lang="en-US" sz="1000" dirty="0"/>
          </a:p>
        </p:txBody>
      </p:sp>
      <p:sp>
        <p:nvSpPr>
          <p:cNvPr id="26" name="Shape 24"/>
          <p:cNvSpPr/>
          <p:nvPr/>
        </p:nvSpPr>
        <p:spPr>
          <a:xfrm>
            <a:off x="4800600" y="4251960"/>
            <a:ext cx="109728" cy="411480"/>
          </a:xfrm>
          <a:prstGeom prst="rect">
            <a:avLst/>
          </a:prstGeom>
          <a:solidFill>
            <a:srgbClr val="4D9DE0"/>
          </a:solidFill>
          <a:ln w="12700">
            <a:solidFill>
              <a:srgbClr val="4D9DE0"/>
            </a:solidFill>
            <a:prstDash val="solid"/>
          </a:ln>
        </p:spPr>
      </p:sp>
      <p:sp>
        <p:nvSpPr>
          <p:cNvPr id="27" name="Text 25"/>
          <p:cNvSpPr/>
          <p:nvPr/>
        </p:nvSpPr>
        <p:spPr>
          <a:xfrm>
            <a:off x="4965192" y="4251960"/>
            <a:ext cx="1920240" cy="201168"/>
          </a:xfrm>
          <a:prstGeom prst="rect">
            <a:avLst/>
          </a:prstGeom>
          <a:noFill/>
          <a:ln/>
        </p:spPr>
        <p:txBody>
          <a:bodyPr wrap="square" rtlCol="0" anchor="ctr"/>
          <a:lstStyle/>
          <a:p>
            <a:pPr indent="0" marL="0">
              <a:buNone/>
            </a:pPr>
            <a:r>
              <a:rPr lang="en-US" sz="950" dirty="0">
                <a:solidFill>
                  <a:srgbClr val="8B949E"/>
                </a:solidFill>
              </a:rPr>
              <a:t>AIADMK (66) → AIADMK (47)</a:t>
            </a:r>
            <a:endParaRPr lang="en-US" sz="950" dirty="0"/>
          </a:p>
        </p:txBody>
      </p:sp>
      <p:sp>
        <p:nvSpPr>
          <p:cNvPr id="28" name="Text 26"/>
          <p:cNvSpPr/>
          <p:nvPr/>
        </p:nvSpPr>
        <p:spPr>
          <a:xfrm>
            <a:off x="4965192" y="4453128"/>
            <a:ext cx="1920240" cy="201168"/>
          </a:xfrm>
          <a:prstGeom prst="rect">
            <a:avLst/>
          </a:prstGeom>
          <a:noFill/>
          <a:ln/>
        </p:spPr>
        <p:txBody>
          <a:bodyPr wrap="square" rtlCol="0" anchor="ctr"/>
          <a:lstStyle/>
          <a:p>
            <a:pPr indent="0" marL="0">
              <a:buNone/>
            </a:pPr>
            <a:r>
              <a:rPr lang="en-US" sz="1000" b="1" dirty="0">
                <a:solidFill>
                  <a:srgbClr val="4D9DE0"/>
                </a:solidFill>
              </a:rPr>
              <a:t>42 seats</a:t>
            </a:r>
            <a:endParaRPr lang="en-US" sz="1000" dirty="0"/>
          </a:p>
        </p:txBody>
      </p:sp>
      <p:sp>
        <p:nvSpPr>
          <p:cNvPr id="29" name="Shape 27"/>
          <p:cNvSpPr/>
          <p:nvPr/>
        </p:nvSpPr>
        <p:spPr>
          <a:xfrm>
            <a:off x="6949440" y="4251960"/>
            <a:ext cx="109728" cy="411480"/>
          </a:xfrm>
          <a:prstGeom prst="rect">
            <a:avLst/>
          </a:prstGeom>
          <a:solidFill>
            <a:srgbClr val="F5A623"/>
          </a:solidFill>
          <a:ln w="12700">
            <a:solidFill>
              <a:srgbClr val="F5A623"/>
            </a:solidFill>
            <a:prstDash val="solid"/>
          </a:ln>
        </p:spPr>
      </p:sp>
      <p:sp>
        <p:nvSpPr>
          <p:cNvPr id="30" name="Text 28"/>
          <p:cNvSpPr/>
          <p:nvPr/>
        </p:nvSpPr>
        <p:spPr>
          <a:xfrm>
            <a:off x="7114032" y="4251960"/>
            <a:ext cx="1920240" cy="201168"/>
          </a:xfrm>
          <a:prstGeom prst="rect">
            <a:avLst/>
          </a:prstGeom>
          <a:noFill/>
          <a:ln/>
        </p:spPr>
        <p:txBody>
          <a:bodyPr wrap="square" rtlCol="0" anchor="ctr"/>
          <a:lstStyle/>
          <a:p>
            <a:pPr indent="0" marL="0">
              <a:buNone/>
            </a:pPr>
            <a:r>
              <a:rPr lang="en-US" sz="950" dirty="0">
                <a:solidFill>
                  <a:srgbClr val="8B949E"/>
                </a:solidFill>
              </a:rPr>
              <a:t>AIADMK (66) → DMK (59)</a:t>
            </a:r>
            <a:endParaRPr lang="en-US" sz="950" dirty="0"/>
          </a:p>
        </p:txBody>
      </p:sp>
      <p:sp>
        <p:nvSpPr>
          <p:cNvPr id="31" name="Text 29"/>
          <p:cNvSpPr/>
          <p:nvPr/>
        </p:nvSpPr>
        <p:spPr>
          <a:xfrm>
            <a:off x="7114032" y="4453128"/>
            <a:ext cx="1920240" cy="201168"/>
          </a:xfrm>
          <a:prstGeom prst="rect">
            <a:avLst/>
          </a:prstGeom>
          <a:noFill/>
          <a:ln/>
        </p:spPr>
        <p:txBody>
          <a:bodyPr wrap="square" rtlCol="0" anchor="ctr"/>
          <a:lstStyle/>
          <a:p>
            <a:pPr indent="0" marL="0">
              <a:buNone/>
            </a:pPr>
            <a:r>
              <a:rPr lang="en-US" sz="1000" b="1" dirty="0">
                <a:solidFill>
                  <a:srgbClr val="F5A623"/>
                </a:solidFill>
              </a:rPr>
              <a:t>15 seats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5486400" cy="228600"/>
          </a:xfrm>
          <a:prstGeom prst="rect">
            <a:avLst/>
          </a:prstGeom>
          <a:noFill/>
          <a:ln/>
        </p:spPr>
        <p:txBody>
          <a:bodyPr wrap="square" rtlCol="0" anchor="ctr"/>
          <a:lstStyle/>
          <a:p>
            <a:pPr indent="0" marL="0">
              <a:buNone/>
            </a:pPr>
            <a:r>
              <a:rPr lang="en-US" sz="900" b="1" spc="300" kern="0" dirty="0">
                <a:solidFill>
                  <a:srgbClr val="3FB950"/>
                </a:solidFill>
              </a:rPr>
              <a:t>STORY 1  ·  THE FLIP</a:t>
            </a:r>
            <a:endParaRPr lang="en-US" sz="900" dirty="0"/>
          </a:p>
        </p:txBody>
      </p:sp>
      <p:sp>
        <p:nvSpPr>
          <p:cNvPr id="3" name="Text 1"/>
          <p:cNvSpPr/>
          <p:nvPr/>
        </p:nvSpPr>
        <p:spPr>
          <a:xfrm>
            <a:off x="365760" y="457200"/>
            <a:ext cx="8229600" cy="502920"/>
          </a:xfrm>
          <a:prstGeom prst="rect">
            <a:avLst/>
          </a:prstGeom>
          <a:noFill/>
          <a:ln/>
        </p:spPr>
        <p:txBody>
          <a:bodyPr wrap="square" rtlCol="0" anchor="ctr"/>
          <a:lstStyle/>
          <a:p>
            <a:pPr indent="0" marL="0">
              <a:buNone/>
            </a:pPr>
            <a:r>
              <a:rPr lang="en-US" sz="2600" b="1" dirty="0">
                <a:solidFill>
                  <a:srgbClr val="FFFFFF"/>
                </a:solidFill>
              </a:rPr>
              <a:t>Flip Breakdown by Party Pair</a:t>
            </a:r>
            <a:endParaRPr lang="en-US" sz="2600" dirty="0"/>
          </a:p>
        </p:txBody>
      </p:sp>
      <p:sp>
        <p:nvSpPr>
          <p:cNvPr id="4" name="Text 2"/>
          <p:cNvSpPr/>
          <p:nvPr/>
        </p:nvSpPr>
        <p:spPr>
          <a:xfrm>
            <a:off x="365760" y="960120"/>
            <a:ext cx="8229600" cy="320040"/>
          </a:xfrm>
          <a:prstGeom prst="rect">
            <a:avLst/>
          </a:prstGeom>
          <a:noFill/>
          <a:ln/>
        </p:spPr>
        <p:txBody>
          <a:bodyPr wrap="square" rtlCol="0" anchor="ctr"/>
          <a:lstStyle/>
          <a:p>
            <a:pPr indent="0" marL="0">
              <a:buNone/>
            </a:pPr>
            <a:r>
              <a:rPr lang="en-US" sz="1200" dirty="0">
                <a:solidFill>
                  <a:srgbClr val="8B949E"/>
                </a:solidFill>
              </a:rPr>
              <a:t>The largest flows — every row is a story the data can read aloud</a:t>
            </a:r>
            <a:endParaRPr lang="en-US" sz="1200" dirty="0"/>
          </a:p>
        </p:txBody>
      </p:sp>
      <p:sp>
        <p:nvSpPr>
          <p:cNvPr id="5" name="Shape 3"/>
          <p:cNvSpPr/>
          <p:nvPr/>
        </p:nvSpPr>
        <p:spPr>
          <a:xfrm>
            <a:off x="274320" y="1417320"/>
            <a:ext cx="8595360" cy="320040"/>
          </a:xfrm>
          <a:prstGeom prst="rect">
            <a:avLst/>
          </a:prstGeom>
          <a:solidFill>
            <a:srgbClr val="161B22"/>
          </a:solidFill>
          <a:ln w="12700">
            <a:solidFill>
              <a:srgbClr val="21262D"/>
            </a:solidFill>
            <a:prstDash val="solid"/>
          </a:ln>
        </p:spPr>
      </p:sp>
      <p:sp>
        <p:nvSpPr>
          <p:cNvPr id="6" name="Text 4"/>
          <p:cNvSpPr/>
          <p:nvPr/>
        </p:nvSpPr>
        <p:spPr>
          <a:xfrm>
            <a:off x="365760" y="1472184"/>
            <a:ext cx="2286000" cy="219456"/>
          </a:xfrm>
          <a:prstGeom prst="rect">
            <a:avLst/>
          </a:prstGeom>
          <a:noFill/>
          <a:ln/>
        </p:spPr>
        <p:txBody>
          <a:bodyPr wrap="square" rtlCol="0" anchor="ctr"/>
          <a:lstStyle/>
          <a:p>
            <a:pPr indent="0" marL="0">
              <a:buNone/>
            </a:pPr>
            <a:r>
              <a:rPr lang="en-US" sz="900" b="1" spc="100" kern="0" dirty="0">
                <a:solidFill>
                  <a:srgbClr val="8B949E"/>
                </a:solidFill>
              </a:rPr>
              <a:t>2021 WINNER</a:t>
            </a:r>
            <a:endParaRPr lang="en-US" sz="900" dirty="0"/>
          </a:p>
        </p:txBody>
      </p:sp>
      <p:sp>
        <p:nvSpPr>
          <p:cNvPr id="7" name="Text 5"/>
          <p:cNvSpPr/>
          <p:nvPr/>
        </p:nvSpPr>
        <p:spPr>
          <a:xfrm>
            <a:off x="3200400" y="1472184"/>
            <a:ext cx="2286000" cy="219456"/>
          </a:xfrm>
          <a:prstGeom prst="rect">
            <a:avLst/>
          </a:prstGeom>
          <a:noFill/>
          <a:ln/>
        </p:spPr>
        <p:txBody>
          <a:bodyPr wrap="square" rtlCol="0" anchor="ctr"/>
          <a:lstStyle/>
          <a:p>
            <a:pPr indent="0" marL="0">
              <a:buNone/>
            </a:pPr>
            <a:r>
              <a:rPr lang="en-US" sz="900" b="1" spc="100" kern="0" dirty="0">
                <a:solidFill>
                  <a:srgbClr val="8B949E"/>
                </a:solidFill>
              </a:rPr>
              <a:t>2026 WINNER</a:t>
            </a:r>
            <a:endParaRPr lang="en-US" sz="900" dirty="0"/>
          </a:p>
        </p:txBody>
      </p:sp>
      <p:sp>
        <p:nvSpPr>
          <p:cNvPr id="8" name="Text 6"/>
          <p:cNvSpPr/>
          <p:nvPr/>
        </p:nvSpPr>
        <p:spPr>
          <a:xfrm>
            <a:off x="5943600" y="1472184"/>
            <a:ext cx="1097280" cy="219456"/>
          </a:xfrm>
          <a:prstGeom prst="rect">
            <a:avLst/>
          </a:prstGeom>
          <a:noFill/>
          <a:ln/>
        </p:spPr>
        <p:txBody>
          <a:bodyPr wrap="square" rtlCol="0" anchor="ctr"/>
          <a:lstStyle/>
          <a:p>
            <a:pPr indent="0" marL="0">
              <a:buNone/>
            </a:pPr>
            <a:r>
              <a:rPr lang="en-US" sz="900" b="1" spc="100" kern="0" dirty="0">
                <a:solidFill>
                  <a:srgbClr val="8B949E"/>
                </a:solidFill>
              </a:rPr>
              <a:t>SEATS</a:t>
            </a:r>
            <a:endParaRPr lang="en-US" sz="900" dirty="0"/>
          </a:p>
        </p:txBody>
      </p:sp>
      <p:sp>
        <p:nvSpPr>
          <p:cNvPr id="9" name="Text 7"/>
          <p:cNvSpPr/>
          <p:nvPr/>
        </p:nvSpPr>
        <p:spPr>
          <a:xfrm>
            <a:off x="7132320" y="1472184"/>
            <a:ext cx="1737360" cy="219456"/>
          </a:xfrm>
          <a:prstGeom prst="rect">
            <a:avLst/>
          </a:prstGeom>
          <a:noFill/>
          <a:ln/>
        </p:spPr>
        <p:txBody>
          <a:bodyPr wrap="square" rtlCol="0" anchor="ctr"/>
          <a:lstStyle/>
          <a:p>
            <a:pPr indent="0" marL="0">
              <a:buNone/>
            </a:pPr>
            <a:r>
              <a:rPr lang="en-US" sz="900" b="1" spc="100" kern="0" dirty="0">
                <a:solidFill>
                  <a:srgbClr val="8B949E"/>
                </a:solidFill>
              </a:rPr>
              <a:t>SHARE OF ALL FLIPS</a:t>
            </a:r>
            <a:endParaRPr lang="en-US" sz="900" dirty="0"/>
          </a:p>
        </p:txBody>
      </p:sp>
      <p:sp>
        <p:nvSpPr>
          <p:cNvPr id="10" name="Shape 8"/>
          <p:cNvSpPr/>
          <p:nvPr/>
        </p:nvSpPr>
        <p:spPr>
          <a:xfrm>
            <a:off x="274320" y="1783080"/>
            <a:ext cx="8595360" cy="438912"/>
          </a:xfrm>
          <a:prstGeom prst="rect">
            <a:avLst/>
          </a:prstGeom>
          <a:solidFill>
            <a:srgbClr val="1A1F28"/>
          </a:solidFill>
          <a:ln w="6350">
            <a:solidFill>
              <a:srgbClr val="21262D"/>
            </a:solidFill>
            <a:prstDash val="solid"/>
          </a:ln>
        </p:spPr>
      </p:sp>
      <p:sp>
        <p:nvSpPr>
          <p:cNvPr id="11" name="Shape 9"/>
          <p:cNvSpPr/>
          <p:nvPr/>
        </p:nvSpPr>
        <p:spPr>
          <a:xfrm>
            <a:off x="384048" y="1874520"/>
            <a:ext cx="1005840" cy="256032"/>
          </a:xfrm>
          <a:prstGeom prst="roundRect">
            <a:avLst>
              <a:gd name="adj" fmla="val 14286"/>
            </a:avLst>
          </a:prstGeom>
          <a:solidFill>
            <a:srgbClr val="F5A623"/>
          </a:solidFill>
          <a:ln w="12700">
            <a:solidFill>
              <a:srgbClr val="F5A623"/>
            </a:solidFill>
            <a:prstDash val="solid"/>
          </a:ln>
        </p:spPr>
      </p:sp>
      <p:sp>
        <p:nvSpPr>
          <p:cNvPr id="12" name="Text 10"/>
          <p:cNvSpPr/>
          <p:nvPr/>
        </p:nvSpPr>
        <p:spPr>
          <a:xfrm>
            <a:off x="384048" y="1874520"/>
            <a:ext cx="1005840" cy="256032"/>
          </a:xfrm>
          <a:prstGeom prst="rect">
            <a:avLst/>
          </a:prstGeom>
          <a:noFill/>
          <a:ln/>
        </p:spPr>
        <p:txBody>
          <a:bodyPr wrap="square" rtlCol="0" anchor="ctr"/>
          <a:lstStyle/>
          <a:p>
            <a:pPr algn="ctr" indent="0" marL="0">
              <a:buNone/>
            </a:pPr>
            <a:r>
              <a:rPr lang="en-US" sz="1000" b="1" dirty="0">
                <a:solidFill>
                  <a:srgbClr val="FFFFFF"/>
                </a:solidFill>
              </a:rPr>
              <a:t>DMK</a:t>
            </a:r>
            <a:endParaRPr lang="en-US" sz="1000" dirty="0"/>
          </a:p>
        </p:txBody>
      </p:sp>
      <p:sp>
        <p:nvSpPr>
          <p:cNvPr id="13" name="Text 11"/>
          <p:cNvSpPr/>
          <p:nvPr/>
        </p:nvSpPr>
        <p:spPr>
          <a:xfrm>
            <a:off x="1463040" y="1874520"/>
            <a:ext cx="365760" cy="256032"/>
          </a:xfrm>
          <a:prstGeom prst="rect">
            <a:avLst/>
          </a:prstGeom>
          <a:noFill/>
          <a:ln/>
        </p:spPr>
        <p:txBody>
          <a:bodyPr wrap="square" rtlCol="0" anchor="ctr"/>
          <a:lstStyle/>
          <a:p>
            <a:pPr algn="ctr" indent="0" marL="0">
              <a:buNone/>
            </a:pPr>
            <a:r>
              <a:rPr lang="en-US" sz="1100" dirty="0">
                <a:solidFill>
                  <a:srgbClr val="8B949E"/>
                </a:solidFill>
              </a:rPr>
              <a:t>→</a:t>
            </a:r>
            <a:endParaRPr lang="en-US" sz="1100" dirty="0"/>
          </a:p>
        </p:txBody>
      </p:sp>
      <p:sp>
        <p:nvSpPr>
          <p:cNvPr id="14" name="Shape 12"/>
          <p:cNvSpPr/>
          <p:nvPr/>
        </p:nvSpPr>
        <p:spPr>
          <a:xfrm>
            <a:off x="1920240" y="1874520"/>
            <a:ext cx="1005840" cy="256032"/>
          </a:xfrm>
          <a:prstGeom prst="roundRect">
            <a:avLst>
              <a:gd name="adj" fmla="val 14286"/>
            </a:avLst>
          </a:prstGeom>
          <a:solidFill>
            <a:srgbClr val="3FB950"/>
          </a:solidFill>
          <a:ln w="12700">
            <a:solidFill>
              <a:srgbClr val="3FB950"/>
            </a:solidFill>
            <a:prstDash val="solid"/>
          </a:ln>
        </p:spPr>
      </p:sp>
      <p:sp>
        <p:nvSpPr>
          <p:cNvPr id="15" name="Text 13"/>
          <p:cNvSpPr/>
          <p:nvPr/>
        </p:nvSpPr>
        <p:spPr>
          <a:xfrm>
            <a:off x="1920240" y="1874520"/>
            <a:ext cx="1005840" cy="256032"/>
          </a:xfrm>
          <a:prstGeom prst="rect">
            <a:avLst/>
          </a:prstGeom>
          <a:noFill/>
          <a:ln/>
        </p:spPr>
        <p:txBody>
          <a:bodyPr wrap="square" rtlCol="0" anchor="ctr"/>
          <a:lstStyle/>
          <a:p>
            <a:pPr algn="ctr" indent="0" marL="0">
              <a:buNone/>
            </a:pPr>
            <a:r>
              <a:rPr lang="en-US" sz="1000" b="1" dirty="0">
                <a:solidFill>
                  <a:srgbClr val="FFFFFF"/>
                </a:solidFill>
              </a:rPr>
              <a:t>TVK</a:t>
            </a:r>
            <a:endParaRPr lang="en-US" sz="1000" dirty="0"/>
          </a:p>
        </p:txBody>
      </p:sp>
      <p:sp>
        <p:nvSpPr>
          <p:cNvPr id="16" name="Text 14"/>
          <p:cNvSpPr/>
          <p:nvPr/>
        </p:nvSpPr>
        <p:spPr>
          <a:xfrm>
            <a:off x="3200400" y="1901952"/>
            <a:ext cx="2560320" cy="228600"/>
          </a:xfrm>
          <a:prstGeom prst="rect">
            <a:avLst/>
          </a:prstGeom>
          <a:noFill/>
          <a:ln/>
        </p:spPr>
        <p:txBody>
          <a:bodyPr wrap="square" rtlCol="0" anchor="ctr"/>
          <a:lstStyle/>
          <a:p>
            <a:pPr indent="0" marL="0">
              <a:buNone/>
            </a:pPr>
            <a:r>
              <a:rPr lang="en-US" sz="1050" dirty="0">
                <a:solidFill>
                  <a:srgbClr val="8B949E"/>
                </a:solidFill>
              </a:rPr>
              <a:t>DMK → TVK</a:t>
            </a:r>
            <a:endParaRPr lang="en-US" sz="1050" dirty="0"/>
          </a:p>
        </p:txBody>
      </p:sp>
      <p:sp>
        <p:nvSpPr>
          <p:cNvPr id="17" name="Text 15"/>
          <p:cNvSpPr/>
          <p:nvPr/>
        </p:nvSpPr>
        <p:spPr>
          <a:xfrm>
            <a:off x="5943600" y="1856232"/>
            <a:ext cx="914400" cy="320040"/>
          </a:xfrm>
          <a:prstGeom prst="rect">
            <a:avLst/>
          </a:prstGeom>
          <a:noFill/>
          <a:ln/>
        </p:spPr>
        <p:txBody>
          <a:bodyPr wrap="square" rtlCol="0" anchor="ctr"/>
          <a:lstStyle/>
          <a:p>
            <a:pPr indent="0" marL="0">
              <a:buNone/>
            </a:pPr>
            <a:r>
              <a:rPr lang="en-US" sz="2000" b="1" dirty="0">
                <a:solidFill>
                  <a:srgbClr val="FFFFFF"/>
                </a:solidFill>
              </a:rPr>
              <a:t>65</a:t>
            </a:r>
            <a:endParaRPr lang="en-US" sz="2000" dirty="0"/>
          </a:p>
        </p:txBody>
      </p:sp>
      <p:sp>
        <p:nvSpPr>
          <p:cNvPr id="18" name="Shape 16"/>
          <p:cNvSpPr/>
          <p:nvPr/>
        </p:nvSpPr>
        <p:spPr>
          <a:xfrm>
            <a:off x="7132320" y="1929384"/>
            <a:ext cx="1371600" cy="146304"/>
          </a:xfrm>
          <a:prstGeom prst="rect">
            <a:avLst/>
          </a:prstGeom>
          <a:solidFill>
            <a:srgbClr val="F5A623"/>
          </a:solidFill>
          <a:ln w="12700">
            <a:solidFill>
              <a:srgbClr val="F5A623"/>
            </a:solidFill>
            <a:prstDash val="solid"/>
          </a:ln>
        </p:spPr>
      </p:sp>
      <p:sp>
        <p:nvSpPr>
          <p:cNvPr id="19" name="Text 17"/>
          <p:cNvSpPr/>
          <p:nvPr/>
        </p:nvSpPr>
        <p:spPr>
          <a:xfrm>
            <a:off x="8549640" y="1901952"/>
            <a:ext cx="640080" cy="201168"/>
          </a:xfrm>
          <a:prstGeom prst="rect">
            <a:avLst/>
          </a:prstGeom>
          <a:noFill/>
          <a:ln/>
        </p:spPr>
        <p:txBody>
          <a:bodyPr wrap="square" rtlCol="0" anchor="ctr"/>
          <a:lstStyle/>
          <a:p>
            <a:pPr indent="0" marL="0">
              <a:buNone/>
            </a:pPr>
            <a:r>
              <a:rPr lang="en-US" sz="1000" dirty="0">
                <a:solidFill>
                  <a:srgbClr val="8B949E"/>
                </a:solidFill>
              </a:rPr>
              <a:t>39.88%</a:t>
            </a:r>
            <a:endParaRPr lang="en-US" sz="1000" dirty="0"/>
          </a:p>
        </p:txBody>
      </p:sp>
      <p:sp>
        <p:nvSpPr>
          <p:cNvPr id="20" name="Shape 18"/>
          <p:cNvSpPr/>
          <p:nvPr/>
        </p:nvSpPr>
        <p:spPr>
          <a:xfrm>
            <a:off x="274320" y="2258568"/>
            <a:ext cx="8595360" cy="438912"/>
          </a:xfrm>
          <a:prstGeom prst="rect">
            <a:avLst/>
          </a:prstGeom>
          <a:solidFill>
            <a:srgbClr val="161B22"/>
          </a:solidFill>
          <a:ln w="6350">
            <a:solidFill>
              <a:srgbClr val="21262D"/>
            </a:solidFill>
            <a:prstDash val="solid"/>
          </a:ln>
        </p:spPr>
      </p:sp>
      <p:sp>
        <p:nvSpPr>
          <p:cNvPr id="21" name="Shape 19"/>
          <p:cNvSpPr/>
          <p:nvPr/>
        </p:nvSpPr>
        <p:spPr>
          <a:xfrm>
            <a:off x="384048" y="2350008"/>
            <a:ext cx="1005840" cy="256032"/>
          </a:xfrm>
          <a:prstGeom prst="roundRect">
            <a:avLst>
              <a:gd name="adj" fmla="val 14286"/>
            </a:avLst>
          </a:prstGeom>
          <a:solidFill>
            <a:srgbClr val="4D9DE0"/>
          </a:solidFill>
          <a:ln w="12700">
            <a:solidFill>
              <a:srgbClr val="4D9DE0"/>
            </a:solidFill>
            <a:prstDash val="solid"/>
          </a:ln>
        </p:spPr>
      </p:sp>
      <p:sp>
        <p:nvSpPr>
          <p:cNvPr id="22" name="Text 20"/>
          <p:cNvSpPr/>
          <p:nvPr/>
        </p:nvSpPr>
        <p:spPr>
          <a:xfrm>
            <a:off x="384048" y="2350008"/>
            <a:ext cx="1005840" cy="256032"/>
          </a:xfrm>
          <a:prstGeom prst="rect">
            <a:avLst/>
          </a:prstGeom>
          <a:noFill/>
          <a:ln/>
        </p:spPr>
        <p:txBody>
          <a:bodyPr wrap="square" rtlCol="0" anchor="ctr"/>
          <a:lstStyle/>
          <a:p>
            <a:pPr algn="ctr" indent="0" marL="0">
              <a:buNone/>
            </a:pPr>
            <a:r>
              <a:rPr lang="en-US" sz="1000" b="1" dirty="0">
                <a:solidFill>
                  <a:srgbClr val="FFFFFF"/>
                </a:solidFill>
              </a:rPr>
              <a:t>AIADMK</a:t>
            </a:r>
            <a:endParaRPr lang="en-US" sz="1000" dirty="0"/>
          </a:p>
        </p:txBody>
      </p:sp>
      <p:sp>
        <p:nvSpPr>
          <p:cNvPr id="23" name="Text 21"/>
          <p:cNvSpPr/>
          <p:nvPr/>
        </p:nvSpPr>
        <p:spPr>
          <a:xfrm>
            <a:off x="1463040" y="2350008"/>
            <a:ext cx="365760" cy="256032"/>
          </a:xfrm>
          <a:prstGeom prst="rect">
            <a:avLst/>
          </a:prstGeom>
          <a:noFill/>
          <a:ln/>
        </p:spPr>
        <p:txBody>
          <a:bodyPr wrap="square" rtlCol="0" anchor="ctr"/>
          <a:lstStyle/>
          <a:p>
            <a:pPr algn="ctr" indent="0" marL="0">
              <a:buNone/>
            </a:pPr>
            <a:r>
              <a:rPr lang="en-US" sz="1100" dirty="0">
                <a:solidFill>
                  <a:srgbClr val="8B949E"/>
                </a:solidFill>
              </a:rPr>
              <a:t>→</a:t>
            </a:r>
            <a:endParaRPr lang="en-US" sz="1100" dirty="0"/>
          </a:p>
        </p:txBody>
      </p:sp>
      <p:sp>
        <p:nvSpPr>
          <p:cNvPr id="24" name="Shape 22"/>
          <p:cNvSpPr/>
          <p:nvPr/>
        </p:nvSpPr>
        <p:spPr>
          <a:xfrm>
            <a:off x="1920240" y="2350008"/>
            <a:ext cx="1005840" cy="256032"/>
          </a:xfrm>
          <a:prstGeom prst="roundRect">
            <a:avLst>
              <a:gd name="adj" fmla="val 14286"/>
            </a:avLst>
          </a:prstGeom>
          <a:solidFill>
            <a:srgbClr val="3FB950"/>
          </a:solidFill>
          <a:ln w="12700">
            <a:solidFill>
              <a:srgbClr val="3FB950"/>
            </a:solidFill>
            <a:prstDash val="solid"/>
          </a:ln>
        </p:spPr>
      </p:sp>
      <p:sp>
        <p:nvSpPr>
          <p:cNvPr id="25" name="Text 23"/>
          <p:cNvSpPr/>
          <p:nvPr/>
        </p:nvSpPr>
        <p:spPr>
          <a:xfrm>
            <a:off x="1920240" y="2350008"/>
            <a:ext cx="1005840" cy="256032"/>
          </a:xfrm>
          <a:prstGeom prst="rect">
            <a:avLst/>
          </a:prstGeom>
          <a:noFill/>
          <a:ln/>
        </p:spPr>
        <p:txBody>
          <a:bodyPr wrap="square" rtlCol="0" anchor="ctr"/>
          <a:lstStyle/>
          <a:p>
            <a:pPr algn="ctr" indent="0" marL="0">
              <a:buNone/>
            </a:pPr>
            <a:r>
              <a:rPr lang="en-US" sz="1000" b="1" dirty="0">
                <a:solidFill>
                  <a:srgbClr val="FFFFFF"/>
                </a:solidFill>
              </a:rPr>
              <a:t>TVK</a:t>
            </a:r>
            <a:endParaRPr lang="en-US" sz="1000" dirty="0"/>
          </a:p>
        </p:txBody>
      </p:sp>
      <p:sp>
        <p:nvSpPr>
          <p:cNvPr id="26" name="Text 24"/>
          <p:cNvSpPr/>
          <p:nvPr/>
        </p:nvSpPr>
        <p:spPr>
          <a:xfrm>
            <a:off x="3200400" y="2377440"/>
            <a:ext cx="2560320" cy="228600"/>
          </a:xfrm>
          <a:prstGeom prst="rect">
            <a:avLst/>
          </a:prstGeom>
          <a:noFill/>
          <a:ln/>
        </p:spPr>
        <p:txBody>
          <a:bodyPr wrap="square" rtlCol="0" anchor="ctr"/>
          <a:lstStyle/>
          <a:p>
            <a:pPr indent="0" marL="0">
              <a:buNone/>
            </a:pPr>
            <a:r>
              <a:rPr lang="en-US" sz="1050" dirty="0">
                <a:solidFill>
                  <a:srgbClr val="8B949E"/>
                </a:solidFill>
              </a:rPr>
              <a:t>AIADMK → TVK</a:t>
            </a:r>
            <a:endParaRPr lang="en-US" sz="1050" dirty="0"/>
          </a:p>
        </p:txBody>
      </p:sp>
      <p:sp>
        <p:nvSpPr>
          <p:cNvPr id="27" name="Text 25"/>
          <p:cNvSpPr/>
          <p:nvPr/>
        </p:nvSpPr>
        <p:spPr>
          <a:xfrm>
            <a:off x="5943600" y="2331720"/>
            <a:ext cx="914400" cy="320040"/>
          </a:xfrm>
          <a:prstGeom prst="rect">
            <a:avLst/>
          </a:prstGeom>
          <a:noFill/>
          <a:ln/>
        </p:spPr>
        <p:txBody>
          <a:bodyPr wrap="square" rtlCol="0" anchor="ctr"/>
          <a:lstStyle/>
          <a:p>
            <a:pPr indent="0" marL="0">
              <a:buNone/>
            </a:pPr>
            <a:r>
              <a:rPr lang="en-US" sz="2000" b="1" dirty="0">
                <a:solidFill>
                  <a:srgbClr val="FFFFFF"/>
                </a:solidFill>
              </a:rPr>
              <a:t>26</a:t>
            </a:r>
            <a:endParaRPr lang="en-US" sz="2000" dirty="0"/>
          </a:p>
        </p:txBody>
      </p:sp>
      <p:sp>
        <p:nvSpPr>
          <p:cNvPr id="28" name="Shape 26"/>
          <p:cNvSpPr/>
          <p:nvPr/>
        </p:nvSpPr>
        <p:spPr>
          <a:xfrm>
            <a:off x="7132320" y="2404872"/>
            <a:ext cx="548640" cy="146304"/>
          </a:xfrm>
          <a:prstGeom prst="rect">
            <a:avLst/>
          </a:prstGeom>
          <a:solidFill>
            <a:srgbClr val="4D9DE0"/>
          </a:solidFill>
          <a:ln w="12700">
            <a:solidFill>
              <a:srgbClr val="4D9DE0"/>
            </a:solidFill>
            <a:prstDash val="solid"/>
          </a:ln>
        </p:spPr>
      </p:sp>
      <p:sp>
        <p:nvSpPr>
          <p:cNvPr id="29" name="Text 27"/>
          <p:cNvSpPr/>
          <p:nvPr/>
        </p:nvSpPr>
        <p:spPr>
          <a:xfrm>
            <a:off x="7726680" y="2377440"/>
            <a:ext cx="640080" cy="201168"/>
          </a:xfrm>
          <a:prstGeom prst="rect">
            <a:avLst/>
          </a:prstGeom>
          <a:noFill/>
          <a:ln/>
        </p:spPr>
        <p:txBody>
          <a:bodyPr wrap="square" rtlCol="0" anchor="ctr"/>
          <a:lstStyle/>
          <a:p>
            <a:pPr indent="0" marL="0">
              <a:buNone/>
            </a:pPr>
            <a:r>
              <a:rPr lang="en-US" sz="1000" dirty="0">
                <a:solidFill>
                  <a:srgbClr val="8B949E"/>
                </a:solidFill>
              </a:rPr>
              <a:t>15.95%</a:t>
            </a:r>
            <a:endParaRPr lang="en-US" sz="1000" dirty="0"/>
          </a:p>
        </p:txBody>
      </p:sp>
      <p:sp>
        <p:nvSpPr>
          <p:cNvPr id="30" name="Shape 28"/>
          <p:cNvSpPr/>
          <p:nvPr/>
        </p:nvSpPr>
        <p:spPr>
          <a:xfrm>
            <a:off x="274320" y="2734056"/>
            <a:ext cx="8595360" cy="438912"/>
          </a:xfrm>
          <a:prstGeom prst="rect">
            <a:avLst/>
          </a:prstGeom>
          <a:solidFill>
            <a:srgbClr val="1A1F28"/>
          </a:solidFill>
          <a:ln w="6350">
            <a:solidFill>
              <a:srgbClr val="21262D"/>
            </a:solidFill>
            <a:prstDash val="solid"/>
          </a:ln>
        </p:spPr>
      </p:sp>
      <p:sp>
        <p:nvSpPr>
          <p:cNvPr id="31" name="Shape 29"/>
          <p:cNvSpPr/>
          <p:nvPr/>
        </p:nvSpPr>
        <p:spPr>
          <a:xfrm>
            <a:off x="384048" y="2825496"/>
            <a:ext cx="1005840" cy="256032"/>
          </a:xfrm>
          <a:prstGeom prst="roundRect">
            <a:avLst>
              <a:gd name="adj" fmla="val 14286"/>
            </a:avLst>
          </a:prstGeom>
          <a:solidFill>
            <a:srgbClr val="F5A623"/>
          </a:solidFill>
          <a:ln w="12700">
            <a:solidFill>
              <a:srgbClr val="F5A623"/>
            </a:solidFill>
            <a:prstDash val="solid"/>
          </a:ln>
        </p:spPr>
      </p:sp>
      <p:sp>
        <p:nvSpPr>
          <p:cNvPr id="32" name="Text 30"/>
          <p:cNvSpPr/>
          <p:nvPr/>
        </p:nvSpPr>
        <p:spPr>
          <a:xfrm>
            <a:off x="384048" y="2825496"/>
            <a:ext cx="1005840" cy="256032"/>
          </a:xfrm>
          <a:prstGeom prst="rect">
            <a:avLst/>
          </a:prstGeom>
          <a:noFill/>
          <a:ln/>
        </p:spPr>
        <p:txBody>
          <a:bodyPr wrap="square" rtlCol="0" anchor="ctr"/>
          <a:lstStyle/>
          <a:p>
            <a:pPr algn="ctr" indent="0" marL="0">
              <a:buNone/>
            </a:pPr>
            <a:r>
              <a:rPr lang="en-US" sz="1000" b="1" dirty="0">
                <a:solidFill>
                  <a:srgbClr val="FFFFFF"/>
                </a:solidFill>
              </a:rPr>
              <a:t>DMK</a:t>
            </a:r>
            <a:endParaRPr lang="en-US" sz="1000" dirty="0"/>
          </a:p>
        </p:txBody>
      </p:sp>
      <p:sp>
        <p:nvSpPr>
          <p:cNvPr id="33" name="Text 31"/>
          <p:cNvSpPr/>
          <p:nvPr/>
        </p:nvSpPr>
        <p:spPr>
          <a:xfrm>
            <a:off x="1463040" y="2825496"/>
            <a:ext cx="365760" cy="256032"/>
          </a:xfrm>
          <a:prstGeom prst="rect">
            <a:avLst/>
          </a:prstGeom>
          <a:noFill/>
          <a:ln/>
        </p:spPr>
        <p:txBody>
          <a:bodyPr wrap="square" rtlCol="0" anchor="ctr"/>
          <a:lstStyle/>
          <a:p>
            <a:pPr algn="ctr" indent="0" marL="0">
              <a:buNone/>
            </a:pPr>
            <a:r>
              <a:rPr lang="en-US" sz="1100" dirty="0">
                <a:solidFill>
                  <a:srgbClr val="8B949E"/>
                </a:solidFill>
              </a:rPr>
              <a:t>→</a:t>
            </a:r>
            <a:endParaRPr lang="en-US" sz="1100" dirty="0"/>
          </a:p>
        </p:txBody>
      </p:sp>
      <p:sp>
        <p:nvSpPr>
          <p:cNvPr id="34" name="Shape 32"/>
          <p:cNvSpPr/>
          <p:nvPr/>
        </p:nvSpPr>
        <p:spPr>
          <a:xfrm>
            <a:off x="1920240" y="2825496"/>
            <a:ext cx="1005840" cy="256032"/>
          </a:xfrm>
          <a:prstGeom prst="roundRect">
            <a:avLst>
              <a:gd name="adj" fmla="val 14286"/>
            </a:avLst>
          </a:prstGeom>
          <a:solidFill>
            <a:srgbClr val="4D9DE0"/>
          </a:solidFill>
          <a:ln w="12700">
            <a:solidFill>
              <a:srgbClr val="4D9DE0"/>
            </a:solidFill>
            <a:prstDash val="solid"/>
          </a:ln>
        </p:spPr>
      </p:sp>
      <p:sp>
        <p:nvSpPr>
          <p:cNvPr id="35" name="Text 33"/>
          <p:cNvSpPr/>
          <p:nvPr/>
        </p:nvSpPr>
        <p:spPr>
          <a:xfrm>
            <a:off x="1920240" y="2825496"/>
            <a:ext cx="1005840" cy="256032"/>
          </a:xfrm>
          <a:prstGeom prst="rect">
            <a:avLst/>
          </a:prstGeom>
          <a:noFill/>
          <a:ln/>
        </p:spPr>
        <p:txBody>
          <a:bodyPr wrap="square" rtlCol="0" anchor="ctr"/>
          <a:lstStyle/>
          <a:p>
            <a:pPr algn="ctr" indent="0" marL="0">
              <a:buNone/>
            </a:pPr>
            <a:r>
              <a:rPr lang="en-US" sz="1000" b="1" dirty="0">
                <a:solidFill>
                  <a:srgbClr val="FFFFFF"/>
                </a:solidFill>
              </a:rPr>
              <a:t>AIADMK</a:t>
            </a:r>
            <a:endParaRPr lang="en-US" sz="1000" dirty="0"/>
          </a:p>
        </p:txBody>
      </p:sp>
      <p:sp>
        <p:nvSpPr>
          <p:cNvPr id="36" name="Text 34"/>
          <p:cNvSpPr/>
          <p:nvPr/>
        </p:nvSpPr>
        <p:spPr>
          <a:xfrm>
            <a:off x="3200400" y="2852928"/>
            <a:ext cx="2560320" cy="228600"/>
          </a:xfrm>
          <a:prstGeom prst="rect">
            <a:avLst/>
          </a:prstGeom>
          <a:noFill/>
          <a:ln/>
        </p:spPr>
        <p:txBody>
          <a:bodyPr wrap="square" rtlCol="0" anchor="ctr"/>
          <a:lstStyle/>
          <a:p>
            <a:pPr indent="0" marL="0">
              <a:buNone/>
            </a:pPr>
            <a:r>
              <a:rPr lang="en-US" sz="1050" dirty="0">
                <a:solidFill>
                  <a:srgbClr val="8B949E"/>
                </a:solidFill>
              </a:rPr>
              <a:t>DMK → AIADMK</a:t>
            </a:r>
            <a:endParaRPr lang="en-US" sz="1050" dirty="0"/>
          </a:p>
        </p:txBody>
      </p:sp>
      <p:sp>
        <p:nvSpPr>
          <p:cNvPr id="37" name="Text 35"/>
          <p:cNvSpPr/>
          <p:nvPr/>
        </p:nvSpPr>
        <p:spPr>
          <a:xfrm>
            <a:off x="5943600" y="2807208"/>
            <a:ext cx="914400" cy="320040"/>
          </a:xfrm>
          <a:prstGeom prst="rect">
            <a:avLst/>
          </a:prstGeom>
          <a:noFill/>
          <a:ln/>
        </p:spPr>
        <p:txBody>
          <a:bodyPr wrap="square" rtlCol="0" anchor="ctr"/>
          <a:lstStyle/>
          <a:p>
            <a:pPr indent="0" marL="0">
              <a:buNone/>
            </a:pPr>
            <a:r>
              <a:rPr lang="en-US" sz="2000" b="1" dirty="0">
                <a:solidFill>
                  <a:srgbClr val="FFFFFF"/>
                </a:solidFill>
              </a:rPr>
              <a:t>22</a:t>
            </a:r>
            <a:endParaRPr lang="en-US" sz="2000" dirty="0"/>
          </a:p>
        </p:txBody>
      </p:sp>
      <p:sp>
        <p:nvSpPr>
          <p:cNvPr id="38" name="Shape 36"/>
          <p:cNvSpPr/>
          <p:nvPr/>
        </p:nvSpPr>
        <p:spPr>
          <a:xfrm>
            <a:off x="7132320" y="2880360"/>
            <a:ext cx="475488" cy="146304"/>
          </a:xfrm>
          <a:prstGeom prst="rect">
            <a:avLst/>
          </a:prstGeom>
          <a:solidFill>
            <a:srgbClr val="F5A623"/>
          </a:solidFill>
          <a:ln w="12700">
            <a:solidFill>
              <a:srgbClr val="F5A623"/>
            </a:solidFill>
            <a:prstDash val="solid"/>
          </a:ln>
        </p:spPr>
      </p:sp>
      <p:sp>
        <p:nvSpPr>
          <p:cNvPr id="39" name="Text 37"/>
          <p:cNvSpPr/>
          <p:nvPr/>
        </p:nvSpPr>
        <p:spPr>
          <a:xfrm>
            <a:off x="7653528" y="2852928"/>
            <a:ext cx="640080" cy="201168"/>
          </a:xfrm>
          <a:prstGeom prst="rect">
            <a:avLst/>
          </a:prstGeom>
          <a:noFill/>
          <a:ln/>
        </p:spPr>
        <p:txBody>
          <a:bodyPr wrap="square" rtlCol="0" anchor="ctr"/>
          <a:lstStyle/>
          <a:p>
            <a:pPr indent="0" marL="0">
              <a:buNone/>
            </a:pPr>
            <a:r>
              <a:rPr lang="en-US" sz="1000" dirty="0">
                <a:solidFill>
                  <a:srgbClr val="8B949E"/>
                </a:solidFill>
              </a:rPr>
              <a:t>13.5%</a:t>
            </a:r>
            <a:endParaRPr lang="en-US" sz="1000" dirty="0"/>
          </a:p>
        </p:txBody>
      </p:sp>
      <p:sp>
        <p:nvSpPr>
          <p:cNvPr id="40" name="Shape 38"/>
          <p:cNvSpPr/>
          <p:nvPr/>
        </p:nvSpPr>
        <p:spPr>
          <a:xfrm>
            <a:off x="274320" y="3209544"/>
            <a:ext cx="8595360" cy="438912"/>
          </a:xfrm>
          <a:prstGeom prst="rect">
            <a:avLst/>
          </a:prstGeom>
          <a:solidFill>
            <a:srgbClr val="161B22"/>
          </a:solidFill>
          <a:ln w="6350">
            <a:solidFill>
              <a:srgbClr val="21262D"/>
            </a:solidFill>
            <a:prstDash val="solid"/>
          </a:ln>
        </p:spPr>
      </p:sp>
      <p:sp>
        <p:nvSpPr>
          <p:cNvPr id="41" name="Shape 39"/>
          <p:cNvSpPr/>
          <p:nvPr/>
        </p:nvSpPr>
        <p:spPr>
          <a:xfrm>
            <a:off x="384048" y="3300984"/>
            <a:ext cx="1005840" cy="256032"/>
          </a:xfrm>
          <a:prstGeom prst="roundRect">
            <a:avLst>
              <a:gd name="adj" fmla="val 14286"/>
            </a:avLst>
          </a:prstGeom>
          <a:solidFill>
            <a:srgbClr val="4D9DE0"/>
          </a:solidFill>
          <a:ln w="12700">
            <a:solidFill>
              <a:srgbClr val="4D9DE0"/>
            </a:solidFill>
            <a:prstDash val="solid"/>
          </a:ln>
        </p:spPr>
      </p:sp>
      <p:sp>
        <p:nvSpPr>
          <p:cNvPr id="42" name="Text 40"/>
          <p:cNvSpPr/>
          <p:nvPr/>
        </p:nvSpPr>
        <p:spPr>
          <a:xfrm>
            <a:off x="384048" y="3300984"/>
            <a:ext cx="1005840" cy="256032"/>
          </a:xfrm>
          <a:prstGeom prst="rect">
            <a:avLst/>
          </a:prstGeom>
          <a:noFill/>
          <a:ln/>
        </p:spPr>
        <p:txBody>
          <a:bodyPr wrap="square" rtlCol="0" anchor="ctr"/>
          <a:lstStyle/>
          <a:p>
            <a:pPr algn="ctr" indent="0" marL="0">
              <a:buNone/>
            </a:pPr>
            <a:r>
              <a:rPr lang="en-US" sz="1000" b="1" dirty="0">
                <a:solidFill>
                  <a:srgbClr val="FFFFFF"/>
                </a:solidFill>
              </a:rPr>
              <a:t>AIADMK</a:t>
            </a:r>
            <a:endParaRPr lang="en-US" sz="1000" dirty="0"/>
          </a:p>
        </p:txBody>
      </p:sp>
      <p:sp>
        <p:nvSpPr>
          <p:cNvPr id="43" name="Text 41"/>
          <p:cNvSpPr/>
          <p:nvPr/>
        </p:nvSpPr>
        <p:spPr>
          <a:xfrm>
            <a:off x="1463040" y="3300984"/>
            <a:ext cx="365760" cy="256032"/>
          </a:xfrm>
          <a:prstGeom prst="rect">
            <a:avLst/>
          </a:prstGeom>
          <a:noFill/>
          <a:ln/>
        </p:spPr>
        <p:txBody>
          <a:bodyPr wrap="square" rtlCol="0" anchor="ctr"/>
          <a:lstStyle/>
          <a:p>
            <a:pPr algn="ctr" indent="0" marL="0">
              <a:buNone/>
            </a:pPr>
            <a:r>
              <a:rPr lang="en-US" sz="1100" dirty="0">
                <a:solidFill>
                  <a:srgbClr val="8B949E"/>
                </a:solidFill>
              </a:rPr>
              <a:t>→</a:t>
            </a:r>
            <a:endParaRPr lang="en-US" sz="1100" dirty="0"/>
          </a:p>
        </p:txBody>
      </p:sp>
      <p:sp>
        <p:nvSpPr>
          <p:cNvPr id="44" name="Shape 42"/>
          <p:cNvSpPr/>
          <p:nvPr/>
        </p:nvSpPr>
        <p:spPr>
          <a:xfrm>
            <a:off x="1920240" y="3300984"/>
            <a:ext cx="1005840" cy="256032"/>
          </a:xfrm>
          <a:prstGeom prst="roundRect">
            <a:avLst>
              <a:gd name="adj" fmla="val 14286"/>
            </a:avLst>
          </a:prstGeom>
          <a:solidFill>
            <a:srgbClr val="F5A623"/>
          </a:solidFill>
          <a:ln w="12700">
            <a:solidFill>
              <a:srgbClr val="F5A623"/>
            </a:solidFill>
            <a:prstDash val="solid"/>
          </a:ln>
        </p:spPr>
      </p:sp>
      <p:sp>
        <p:nvSpPr>
          <p:cNvPr id="45" name="Text 43"/>
          <p:cNvSpPr/>
          <p:nvPr/>
        </p:nvSpPr>
        <p:spPr>
          <a:xfrm>
            <a:off x="1920240" y="3300984"/>
            <a:ext cx="1005840" cy="256032"/>
          </a:xfrm>
          <a:prstGeom prst="rect">
            <a:avLst/>
          </a:prstGeom>
          <a:noFill/>
          <a:ln/>
        </p:spPr>
        <p:txBody>
          <a:bodyPr wrap="square" rtlCol="0" anchor="ctr"/>
          <a:lstStyle/>
          <a:p>
            <a:pPr algn="ctr" indent="0" marL="0">
              <a:buNone/>
            </a:pPr>
            <a:r>
              <a:rPr lang="en-US" sz="1000" b="1" dirty="0">
                <a:solidFill>
                  <a:srgbClr val="FFFFFF"/>
                </a:solidFill>
              </a:rPr>
              <a:t>DMK</a:t>
            </a:r>
            <a:endParaRPr lang="en-US" sz="1000" dirty="0"/>
          </a:p>
        </p:txBody>
      </p:sp>
      <p:sp>
        <p:nvSpPr>
          <p:cNvPr id="46" name="Text 44"/>
          <p:cNvSpPr/>
          <p:nvPr/>
        </p:nvSpPr>
        <p:spPr>
          <a:xfrm>
            <a:off x="3200400" y="3328416"/>
            <a:ext cx="2560320" cy="228600"/>
          </a:xfrm>
          <a:prstGeom prst="rect">
            <a:avLst/>
          </a:prstGeom>
          <a:noFill/>
          <a:ln/>
        </p:spPr>
        <p:txBody>
          <a:bodyPr wrap="square" rtlCol="0" anchor="ctr"/>
          <a:lstStyle/>
          <a:p>
            <a:pPr indent="0" marL="0">
              <a:buNone/>
            </a:pPr>
            <a:r>
              <a:rPr lang="en-US" sz="1050" dirty="0">
                <a:solidFill>
                  <a:srgbClr val="8B949E"/>
                </a:solidFill>
              </a:rPr>
              <a:t>AIADMK → DMK</a:t>
            </a:r>
            <a:endParaRPr lang="en-US" sz="1050" dirty="0"/>
          </a:p>
        </p:txBody>
      </p:sp>
      <p:sp>
        <p:nvSpPr>
          <p:cNvPr id="47" name="Text 45"/>
          <p:cNvSpPr/>
          <p:nvPr/>
        </p:nvSpPr>
        <p:spPr>
          <a:xfrm>
            <a:off x="5943600" y="3282696"/>
            <a:ext cx="914400" cy="320040"/>
          </a:xfrm>
          <a:prstGeom prst="rect">
            <a:avLst/>
          </a:prstGeom>
          <a:noFill/>
          <a:ln/>
        </p:spPr>
        <p:txBody>
          <a:bodyPr wrap="square" rtlCol="0" anchor="ctr"/>
          <a:lstStyle/>
          <a:p>
            <a:pPr indent="0" marL="0">
              <a:buNone/>
            </a:pPr>
            <a:r>
              <a:rPr lang="en-US" sz="2000" b="1" dirty="0">
                <a:solidFill>
                  <a:srgbClr val="FFFFFF"/>
                </a:solidFill>
              </a:rPr>
              <a:t>15</a:t>
            </a:r>
            <a:endParaRPr lang="en-US" sz="2000" dirty="0"/>
          </a:p>
        </p:txBody>
      </p:sp>
      <p:sp>
        <p:nvSpPr>
          <p:cNvPr id="48" name="Shape 46"/>
          <p:cNvSpPr/>
          <p:nvPr/>
        </p:nvSpPr>
        <p:spPr>
          <a:xfrm>
            <a:off x="7132320" y="3355848"/>
            <a:ext cx="320040" cy="146304"/>
          </a:xfrm>
          <a:prstGeom prst="rect">
            <a:avLst/>
          </a:prstGeom>
          <a:solidFill>
            <a:srgbClr val="4D9DE0"/>
          </a:solidFill>
          <a:ln w="12700">
            <a:solidFill>
              <a:srgbClr val="4D9DE0"/>
            </a:solidFill>
            <a:prstDash val="solid"/>
          </a:ln>
        </p:spPr>
      </p:sp>
      <p:sp>
        <p:nvSpPr>
          <p:cNvPr id="49" name="Text 47"/>
          <p:cNvSpPr/>
          <p:nvPr/>
        </p:nvSpPr>
        <p:spPr>
          <a:xfrm>
            <a:off x="7498080" y="3328416"/>
            <a:ext cx="640080" cy="201168"/>
          </a:xfrm>
          <a:prstGeom prst="rect">
            <a:avLst/>
          </a:prstGeom>
          <a:noFill/>
          <a:ln/>
        </p:spPr>
        <p:txBody>
          <a:bodyPr wrap="square" rtlCol="0" anchor="ctr"/>
          <a:lstStyle/>
          <a:p>
            <a:pPr indent="0" marL="0">
              <a:buNone/>
            </a:pPr>
            <a:r>
              <a:rPr lang="en-US" sz="1000" dirty="0">
                <a:solidFill>
                  <a:srgbClr val="8B949E"/>
                </a:solidFill>
              </a:rPr>
              <a:t>9.2%</a:t>
            </a:r>
            <a:endParaRPr lang="en-US" sz="1000" dirty="0"/>
          </a:p>
        </p:txBody>
      </p:sp>
      <p:sp>
        <p:nvSpPr>
          <p:cNvPr id="50" name="Shape 48"/>
          <p:cNvSpPr/>
          <p:nvPr/>
        </p:nvSpPr>
        <p:spPr>
          <a:xfrm>
            <a:off x="274320" y="3685032"/>
            <a:ext cx="8595360" cy="438912"/>
          </a:xfrm>
          <a:prstGeom prst="rect">
            <a:avLst/>
          </a:prstGeom>
          <a:solidFill>
            <a:srgbClr val="1A1F28"/>
          </a:solidFill>
          <a:ln w="6350">
            <a:solidFill>
              <a:srgbClr val="21262D"/>
            </a:solidFill>
            <a:prstDash val="solid"/>
          </a:ln>
        </p:spPr>
      </p:sp>
      <p:sp>
        <p:nvSpPr>
          <p:cNvPr id="51" name="Shape 49"/>
          <p:cNvSpPr/>
          <p:nvPr/>
        </p:nvSpPr>
        <p:spPr>
          <a:xfrm>
            <a:off x="384048" y="3776472"/>
            <a:ext cx="1005840" cy="256032"/>
          </a:xfrm>
          <a:prstGeom prst="roundRect">
            <a:avLst>
              <a:gd name="adj" fmla="val 14286"/>
            </a:avLst>
          </a:prstGeom>
          <a:solidFill>
            <a:srgbClr val="9B5DE5"/>
          </a:solidFill>
          <a:ln w="12700">
            <a:solidFill>
              <a:srgbClr val="9B5DE5"/>
            </a:solidFill>
            <a:prstDash val="solid"/>
          </a:ln>
        </p:spPr>
      </p:sp>
      <p:sp>
        <p:nvSpPr>
          <p:cNvPr id="52" name="Text 50"/>
          <p:cNvSpPr/>
          <p:nvPr/>
        </p:nvSpPr>
        <p:spPr>
          <a:xfrm>
            <a:off x="384048" y="3776472"/>
            <a:ext cx="1005840" cy="256032"/>
          </a:xfrm>
          <a:prstGeom prst="rect">
            <a:avLst/>
          </a:prstGeom>
          <a:noFill/>
          <a:ln/>
        </p:spPr>
        <p:txBody>
          <a:bodyPr wrap="square" rtlCol="0" anchor="ctr"/>
          <a:lstStyle/>
          <a:p>
            <a:pPr algn="ctr" indent="0" marL="0">
              <a:buNone/>
            </a:pPr>
            <a:r>
              <a:rPr lang="en-US" sz="1000" b="1" dirty="0">
                <a:solidFill>
                  <a:srgbClr val="FFFFFF"/>
                </a:solidFill>
              </a:rPr>
              <a:t>INC</a:t>
            </a:r>
            <a:endParaRPr lang="en-US" sz="1000" dirty="0"/>
          </a:p>
        </p:txBody>
      </p:sp>
      <p:sp>
        <p:nvSpPr>
          <p:cNvPr id="53" name="Text 51"/>
          <p:cNvSpPr/>
          <p:nvPr/>
        </p:nvSpPr>
        <p:spPr>
          <a:xfrm>
            <a:off x="1463040" y="3776472"/>
            <a:ext cx="365760" cy="256032"/>
          </a:xfrm>
          <a:prstGeom prst="rect">
            <a:avLst/>
          </a:prstGeom>
          <a:noFill/>
          <a:ln/>
        </p:spPr>
        <p:txBody>
          <a:bodyPr wrap="square" rtlCol="0" anchor="ctr"/>
          <a:lstStyle/>
          <a:p>
            <a:pPr algn="ctr" indent="0" marL="0">
              <a:buNone/>
            </a:pPr>
            <a:r>
              <a:rPr lang="en-US" sz="1100" dirty="0">
                <a:solidFill>
                  <a:srgbClr val="8B949E"/>
                </a:solidFill>
              </a:rPr>
              <a:t>→</a:t>
            </a:r>
            <a:endParaRPr lang="en-US" sz="1100" dirty="0"/>
          </a:p>
        </p:txBody>
      </p:sp>
      <p:sp>
        <p:nvSpPr>
          <p:cNvPr id="54" name="Shape 52"/>
          <p:cNvSpPr/>
          <p:nvPr/>
        </p:nvSpPr>
        <p:spPr>
          <a:xfrm>
            <a:off x="1920240" y="3776472"/>
            <a:ext cx="1005840" cy="256032"/>
          </a:xfrm>
          <a:prstGeom prst="roundRect">
            <a:avLst>
              <a:gd name="adj" fmla="val 14286"/>
            </a:avLst>
          </a:prstGeom>
          <a:solidFill>
            <a:srgbClr val="3FB950"/>
          </a:solidFill>
          <a:ln w="12700">
            <a:solidFill>
              <a:srgbClr val="3FB950"/>
            </a:solidFill>
            <a:prstDash val="solid"/>
          </a:ln>
        </p:spPr>
      </p:sp>
      <p:sp>
        <p:nvSpPr>
          <p:cNvPr id="55" name="Text 53"/>
          <p:cNvSpPr/>
          <p:nvPr/>
        </p:nvSpPr>
        <p:spPr>
          <a:xfrm>
            <a:off x="1920240" y="3776472"/>
            <a:ext cx="1005840" cy="256032"/>
          </a:xfrm>
          <a:prstGeom prst="rect">
            <a:avLst/>
          </a:prstGeom>
          <a:noFill/>
          <a:ln/>
        </p:spPr>
        <p:txBody>
          <a:bodyPr wrap="square" rtlCol="0" anchor="ctr"/>
          <a:lstStyle/>
          <a:p>
            <a:pPr algn="ctr" indent="0" marL="0">
              <a:buNone/>
            </a:pPr>
            <a:r>
              <a:rPr lang="en-US" sz="1000" b="1" dirty="0">
                <a:solidFill>
                  <a:srgbClr val="FFFFFF"/>
                </a:solidFill>
              </a:rPr>
              <a:t>TVK</a:t>
            </a:r>
            <a:endParaRPr lang="en-US" sz="1000" dirty="0"/>
          </a:p>
        </p:txBody>
      </p:sp>
      <p:sp>
        <p:nvSpPr>
          <p:cNvPr id="56" name="Text 54"/>
          <p:cNvSpPr/>
          <p:nvPr/>
        </p:nvSpPr>
        <p:spPr>
          <a:xfrm>
            <a:off x="3200400" y="3803904"/>
            <a:ext cx="2560320" cy="228600"/>
          </a:xfrm>
          <a:prstGeom prst="rect">
            <a:avLst/>
          </a:prstGeom>
          <a:noFill/>
          <a:ln/>
        </p:spPr>
        <p:txBody>
          <a:bodyPr wrap="square" rtlCol="0" anchor="ctr"/>
          <a:lstStyle/>
          <a:p>
            <a:pPr indent="0" marL="0">
              <a:buNone/>
            </a:pPr>
            <a:r>
              <a:rPr lang="en-US" sz="1050" dirty="0">
                <a:solidFill>
                  <a:srgbClr val="8B949E"/>
                </a:solidFill>
              </a:rPr>
              <a:t>INC → TVK</a:t>
            </a:r>
            <a:endParaRPr lang="en-US" sz="1050" dirty="0"/>
          </a:p>
        </p:txBody>
      </p:sp>
      <p:sp>
        <p:nvSpPr>
          <p:cNvPr id="57" name="Text 55"/>
          <p:cNvSpPr/>
          <p:nvPr/>
        </p:nvSpPr>
        <p:spPr>
          <a:xfrm>
            <a:off x="5943600" y="3758184"/>
            <a:ext cx="914400" cy="320040"/>
          </a:xfrm>
          <a:prstGeom prst="rect">
            <a:avLst/>
          </a:prstGeom>
          <a:noFill/>
          <a:ln/>
        </p:spPr>
        <p:txBody>
          <a:bodyPr wrap="square" rtlCol="0" anchor="ctr"/>
          <a:lstStyle/>
          <a:p>
            <a:pPr indent="0" marL="0">
              <a:buNone/>
            </a:pPr>
            <a:r>
              <a:rPr lang="en-US" sz="2000" b="1" dirty="0">
                <a:solidFill>
                  <a:srgbClr val="FFFFFF"/>
                </a:solidFill>
              </a:rPr>
              <a:t>11</a:t>
            </a:r>
            <a:endParaRPr lang="en-US" sz="2000" dirty="0"/>
          </a:p>
        </p:txBody>
      </p:sp>
      <p:sp>
        <p:nvSpPr>
          <p:cNvPr id="58" name="Shape 56"/>
          <p:cNvSpPr/>
          <p:nvPr/>
        </p:nvSpPr>
        <p:spPr>
          <a:xfrm>
            <a:off x="7132320" y="3831336"/>
            <a:ext cx="237744" cy="146304"/>
          </a:xfrm>
          <a:prstGeom prst="rect">
            <a:avLst/>
          </a:prstGeom>
          <a:solidFill>
            <a:srgbClr val="9B5DE5"/>
          </a:solidFill>
          <a:ln w="12700">
            <a:solidFill>
              <a:srgbClr val="9B5DE5"/>
            </a:solidFill>
            <a:prstDash val="solid"/>
          </a:ln>
        </p:spPr>
      </p:sp>
      <p:sp>
        <p:nvSpPr>
          <p:cNvPr id="59" name="Text 57"/>
          <p:cNvSpPr/>
          <p:nvPr/>
        </p:nvSpPr>
        <p:spPr>
          <a:xfrm>
            <a:off x="7415784" y="3803904"/>
            <a:ext cx="640080" cy="201168"/>
          </a:xfrm>
          <a:prstGeom prst="rect">
            <a:avLst/>
          </a:prstGeom>
          <a:noFill/>
          <a:ln/>
        </p:spPr>
        <p:txBody>
          <a:bodyPr wrap="square" rtlCol="0" anchor="ctr"/>
          <a:lstStyle/>
          <a:p>
            <a:pPr indent="0" marL="0">
              <a:buNone/>
            </a:pPr>
            <a:r>
              <a:rPr lang="en-US" sz="1000" dirty="0">
                <a:solidFill>
                  <a:srgbClr val="8B949E"/>
                </a:solidFill>
              </a:rPr>
              <a:t>6.75%</a:t>
            </a:r>
            <a:endParaRPr lang="en-US" sz="1000" dirty="0"/>
          </a:p>
        </p:txBody>
      </p:sp>
      <p:sp>
        <p:nvSpPr>
          <p:cNvPr id="60" name="Shape 58"/>
          <p:cNvSpPr/>
          <p:nvPr/>
        </p:nvSpPr>
        <p:spPr>
          <a:xfrm>
            <a:off x="274320" y="4160520"/>
            <a:ext cx="8595360" cy="438912"/>
          </a:xfrm>
          <a:prstGeom prst="rect">
            <a:avLst/>
          </a:prstGeom>
          <a:solidFill>
            <a:srgbClr val="161B22"/>
          </a:solidFill>
          <a:ln w="6350">
            <a:solidFill>
              <a:srgbClr val="21262D"/>
            </a:solidFill>
            <a:prstDash val="solid"/>
          </a:ln>
        </p:spPr>
      </p:sp>
      <p:sp>
        <p:nvSpPr>
          <p:cNvPr id="61" name="Shape 59"/>
          <p:cNvSpPr/>
          <p:nvPr/>
        </p:nvSpPr>
        <p:spPr>
          <a:xfrm>
            <a:off x="384048" y="4251960"/>
            <a:ext cx="1005840" cy="256032"/>
          </a:xfrm>
          <a:prstGeom prst="roundRect">
            <a:avLst>
              <a:gd name="adj" fmla="val 14286"/>
            </a:avLst>
          </a:prstGeom>
          <a:solidFill>
            <a:srgbClr val="F5A623"/>
          </a:solidFill>
          <a:ln w="12700">
            <a:solidFill>
              <a:srgbClr val="F5A623"/>
            </a:solidFill>
            <a:prstDash val="solid"/>
          </a:ln>
        </p:spPr>
      </p:sp>
      <p:sp>
        <p:nvSpPr>
          <p:cNvPr id="62" name="Text 60"/>
          <p:cNvSpPr/>
          <p:nvPr/>
        </p:nvSpPr>
        <p:spPr>
          <a:xfrm>
            <a:off x="384048" y="4251960"/>
            <a:ext cx="1005840" cy="256032"/>
          </a:xfrm>
          <a:prstGeom prst="rect">
            <a:avLst/>
          </a:prstGeom>
          <a:noFill/>
          <a:ln/>
        </p:spPr>
        <p:txBody>
          <a:bodyPr wrap="square" rtlCol="0" anchor="ctr"/>
          <a:lstStyle/>
          <a:p>
            <a:pPr algn="ctr" indent="0" marL="0">
              <a:buNone/>
            </a:pPr>
            <a:r>
              <a:rPr lang="en-US" sz="1000" b="1" dirty="0">
                <a:solidFill>
                  <a:srgbClr val="FFFFFF"/>
                </a:solidFill>
              </a:rPr>
              <a:t>DMK</a:t>
            </a:r>
            <a:endParaRPr lang="en-US" sz="1000" dirty="0"/>
          </a:p>
        </p:txBody>
      </p:sp>
      <p:sp>
        <p:nvSpPr>
          <p:cNvPr id="63" name="Text 61"/>
          <p:cNvSpPr/>
          <p:nvPr/>
        </p:nvSpPr>
        <p:spPr>
          <a:xfrm>
            <a:off x="1463040" y="4251960"/>
            <a:ext cx="365760" cy="256032"/>
          </a:xfrm>
          <a:prstGeom prst="rect">
            <a:avLst/>
          </a:prstGeom>
          <a:noFill/>
          <a:ln/>
        </p:spPr>
        <p:txBody>
          <a:bodyPr wrap="square" rtlCol="0" anchor="ctr"/>
          <a:lstStyle/>
          <a:p>
            <a:pPr algn="ctr" indent="0" marL="0">
              <a:buNone/>
            </a:pPr>
            <a:r>
              <a:rPr lang="en-US" sz="1100" dirty="0">
                <a:solidFill>
                  <a:srgbClr val="8B949E"/>
                </a:solidFill>
              </a:rPr>
              <a:t>→</a:t>
            </a:r>
            <a:endParaRPr lang="en-US" sz="1100" dirty="0"/>
          </a:p>
        </p:txBody>
      </p:sp>
      <p:sp>
        <p:nvSpPr>
          <p:cNvPr id="64" name="Shape 62"/>
          <p:cNvSpPr/>
          <p:nvPr/>
        </p:nvSpPr>
        <p:spPr>
          <a:xfrm>
            <a:off x="1920240" y="4251960"/>
            <a:ext cx="1005840" cy="256032"/>
          </a:xfrm>
          <a:prstGeom prst="roundRect">
            <a:avLst>
              <a:gd name="adj" fmla="val 14286"/>
            </a:avLst>
          </a:prstGeom>
          <a:solidFill>
            <a:srgbClr val="8B949E"/>
          </a:solidFill>
          <a:ln w="12700">
            <a:solidFill>
              <a:srgbClr val="8B949E"/>
            </a:solidFill>
            <a:prstDash val="solid"/>
          </a:ln>
        </p:spPr>
      </p:sp>
      <p:sp>
        <p:nvSpPr>
          <p:cNvPr id="65" name="Text 63"/>
          <p:cNvSpPr/>
          <p:nvPr/>
        </p:nvSpPr>
        <p:spPr>
          <a:xfrm>
            <a:off x="1920240" y="4251960"/>
            <a:ext cx="1005840" cy="256032"/>
          </a:xfrm>
          <a:prstGeom prst="rect">
            <a:avLst/>
          </a:prstGeom>
          <a:noFill/>
          <a:ln/>
        </p:spPr>
        <p:txBody>
          <a:bodyPr wrap="square" rtlCol="0" anchor="ctr"/>
          <a:lstStyle/>
          <a:p>
            <a:pPr algn="ctr" indent="0" marL="0">
              <a:buNone/>
            </a:pPr>
            <a:r>
              <a:rPr lang="en-US" sz="1000" b="1" dirty="0">
                <a:solidFill>
                  <a:srgbClr val="FFFFFF"/>
                </a:solidFill>
              </a:rPr>
              <a:t>PMK</a:t>
            </a:r>
            <a:endParaRPr lang="en-US" sz="1000" dirty="0"/>
          </a:p>
        </p:txBody>
      </p:sp>
      <p:sp>
        <p:nvSpPr>
          <p:cNvPr id="66" name="Text 64"/>
          <p:cNvSpPr/>
          <p:nvPr/>
        </p:nvSpPr>
        <p:spPr>
          <a:xfrm>
            <a:off x="3200400" y="4279392"/>
            <a:ext cx="2560320" cy="228600"/>
          </a:xfrm>
          <a:prstGeom prst="rect">
            <a:avLst/>
          </a:prstGeom>
          <a:noFill/>
          <a:ln/>
        </p:spPr>
        <p:txBody>
          <a:bodyPr wrap="square" rtlCol="0" anchor="ctr"/>
          <a:lstStyle/>
          <a:p>
            <a:pPr indent="0" marL="0">
              <a:buNone/>
            </a:pPr>
            <a:r>
              <a:rPr lang="en-US" sz="1050" dirty="0">
                <a:solidFill>
                  <a:srgbClr val="8B949E"/>
                </a:solidFill>
              </a:rPr>
              <a:t>DMK → PMK</a:t>
            </a:r>
            <a:endParaRPr lang="en-US" sz="1050" dirty="0"/>
          </a:p>
        </p:txBody>
      </p:sp>
      <p:sp>
        <p:nvSpPr>
          <p:cNvPr id="67" name="Text 65"/>
          <p:cNvSpPr/>
          <p:nvPr/>
        </p:nvSpPr>
        <p:spPr>
          <a:xfrm>
            <a:off x="5943600" y="4233672"/>
            <a:ext cx="914400" cy="320040"/>
          </a:xfrm>
          <a:prstGeom prst="rect">
            <a:avLst/>
          </a:prstGeom>
          <a:noFill/>
          <a:ln/>
        </p:spPr>
        <p:txBody>
          <a:bodyPr wrap="square" rtlCol="0" anchor="ctr"/>
          <a:lstStyle/>
          <a:p>
            <a:pPr indent="0" marL="0">
              <a:buNone/>
            </a:pPr>
            <a:r>
              <a:rPr lang="en-US" sz="2000" b="1" dirty="0">
                <a:solidFill>
                  <a:srgbClr val="FFFFFF"/>
                </a:solidFill>
              </a:rPr>
              <a:t>3</a:t>
            </a:r>
            <a:endParaRPr lang="en-US" sz="2000" dirty="0"/>
          </a:p>
        </p:txBody>
      </p:sp>
      <p:sp>
        <p:nvSpPr>
          <p:cNvPr id="68" name="Shape 66"/>
          <p:cNvSpPr/>
          <p:nvPr/>
        </p:nvSpPr>
        <p:spPr>
          <a:xfrm>
            <a:off x="7132320" y="4306824"/>
            <a:ext cx="64008" cy="146304"/>
          </a:xfrm>
          <a:prstGeom prst="rect">
            <a:avLst/>
          </a:prstGeom>
          <a:solidFill>
            <a:srgbClr val="F5A623"/>
          </a:solidFill>
          <a:ln w="12700">
            <a:solidFill>
              <a:srgbClr val="F5A623"/>
            </a:solidFill>
            <a:prstDash val="solid"/>
          </a:ln>
        </p:spPr>
      </p:sp>
      <p:sp>
        <p:nvSpPr>
          <p:cNvPr id="69" name="Text 67"/>
          <p:cNvSpPr/>
          <p:nvPr/>
        </p:nvSpPr>
        <p:spPr>
          <a:xfrm>
            <a:off x="7242048" y="4279392"/>
            <a:ext cx="640080" cy="201168"/>
          </a:xfrm>
          <a:prstGeom prst="rect">
            <a:avLst/>
          </a:prstGeom>
          <a:noFill/>
          <a:ln/>
        </p:spPr>
        <p:txBody>
          <a:bodyPr wrap="square" rtlCol="0" anchor="ctr"/>
          <a:lstStyle/>
          <a:p>
            <a:pPr indent="0" marL="0">
              <a:buNone/>
            </a:pPr>
            <a:r>
              <a:rPr lang="en-US" sz="1000" dirty="0">
                <a:solidFill>
                  <a:srgbClr val="8B949E"/>
                </a:solidFill>
              </a:rPr>
              <a:t>1.84%</a:t>
            </a:r>
            <a:endParaRPr lang="en-US" sz="1000" dirty="0"/>
          </a:p>
        </p:txBody>
      </p:sp>
      <p:sp>
        <p:nvSpPr>
          <p:cNvPr id="70" name="Shape 68"/>
          <p:cNvSpPr/>
          <p:nvPr/>
        </p:nvSpPr>
        <p:spPr>
          <a:xfrm>
            <a:off x="274320" y="4645152"/>
            <a:ext cx="8595360" cy="320040"/>
          </a:xfrm>
          <a:prstGeom prst="rect">
            <a:avLst/>
          </a:prstGeom>
          <a:solidFill>
            <a:srgbClr val="1E2A1E"/>
          </a:solidFill>
          <a:ln w="12700">
            <a:solidFill>
              <a:srgbClr val="3FB950"/>
            </a:solidFill>
            <a:prstDash val="solid"/>
          </a:ln>
        </p:spPr>
      </p:sp>
      <p:sp>
        <p:nvSpPr>
          <p:cNvPr id="71" name="Text 69"/>
          <p:cNvSpPr/>
          <p:nvPr/>
        </p:nvSpPr>
        <p:spPr>
          <a:xfrm>
            <a:off x="457200" y="4690872"/>
            <a:ext cx="8229600" cy="237744"/>
          </a:xfrm>
          <a:prstGeom prst="rect">
            <a:avLst/>
          </a:prstGeom>
          <a:noFill/>
          <a:ln/>
        </p:spPr>
        <p:txBody>
          <a:bodyPr wrap="square" rtlCol="0" anchor="ctr"/>
          <a:lstStyle/>
          <a:p>
            <a:pPr indent="0" marL="0">
              <a:buNone/>
            </a:pPr>
            <a:r>
              <a:rPr lang="en-US" sz="1050" dirty="0">
                <a:solidFill>
                  <a:srgbClr val="3FB950"/>
                </a:solidFill>
              </a:rPr>
              <a:t>KEY INSIGHT:  TVK was the destination in 5 of the top 6 flip flows — absorbing from both DMK and AIADMK simultaneously.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5486400" cy="228600"/>
          </a:xfrm>
          <a:prstGeom prst="rect">
            <a:avLst/>
          </a:prstGeom>
          <a:noFill/>
          <a:ln/>
        </p:spPr>
        <p:txBody>
          <a:bodyPr wrap="square" rtlCol="0" anchor="ctr"/>
          <a:lstStyle/>
          <a:p>
            <a:pPr indent="0" marL="0">
              <a:buNone/>
            </a:pPr>
            <a:r>
              <a:rPr lang="en-US" sz="900" b="1" spc="300" kern="0" dirty="0">
                <a:solidFill>
                  <a:srgbClr val="F5A623"/>
                </a:solidFill>
              </a:rPr>
              <a:t>STORY 2  ·  THE VOTE SHARE</a:t>
            </a:r>
            <a:endParaRPr lang="en-US" sz="900" dirty="0"/>
          </a:p>
        </p:txBody>
      </p:sp>
      <p:sp>
        <p:nvSpPr>
          <p:cNvPr id="3" name="Text 1"/>
          <p:cNvSpPr/>
          <p:nvPr/>
        </p:nvSpPr>
        <p:spPr>
          <a:xfrm>
            <a:off x="365760" y="457200"/>
            <a:ext cx="6400800" cy="960120"/>
          </a:xfrm>
          <a:prstGeom prst="rect">
            <a:avLst/>
          </a:prstGeom>
          <a:noFill/>
          <a:ln/>
        </p:spPr>
        <p:txBody>
          <a:bodyPr wrap="square" rtlCol="0" anchor="ctr"/>
          <a:lstStyle/>
          <a:p>
            <a:pPr indent="0" marL="0">
              <a:buNone/>
            </a:pPr>
            <a:r>
              <a:rPr lang="en-US" sz="2800" b="1" dirty="0">
                <a:solidFill>
                  <a:srgbClr val="FFFFFF"/>
                </a:solidFill>
              </a:rPr>
              <a:t>TVK Drew Votes From</a:t>
            </a:r>
            <a:endParaRPr lang="en-US" sz="2800" dirty="0"/>
          </a:p>
          <a:p>
            <a:pPr indent="0" marL="0">
              <a:buNone/>
            </a:pPr>
            <a:r>
              <a:rPr lang="en-US" sz="2800" b="1" dirty="0">
                <a:solidFill>
                  <a:srgbClr val="FFFFFF"/>
                </a:solidFill>
              </a:rPr>
              <a:t>Every Region of Tamil Nadu</a:t>
            </a:r>
            <a:endParaRPr lang="en-US" sz="2800" dirty="0"/>
          </a:p>
        </p:txBody>
      </p:sp>
      <p:sp>
        <p:nvSpPr>
          <p:cNvPr id="4" name="Text 2"/>
          <p:cNvSpPr/>
          <p:nvPr/>
        </p:nvSpPr>
        <p:spPr>
          <a:xfrm>
            <a:off x="365760" y="1463040"/>
            <a:ext cx="8412480" cy="411480"/>
          </a:xfrm>
          <a:prstGeom prst="rect">
            <a:avLst/>
          </a:prstGeom>
          <a:noFill/>
          <a:ln/>
        </p:spPr>
        <p:txBody>
          <a:bodyPr wrap="square" rtlCol="0" anchor="ctr"/>
          <a:lstStyle/>
          <a:p>
            <a:pPr indent="0" marL="0">
              <a:buNone/>
            </a:pPr>
            <a:r>
              <a:rPr lang="en-US" sz="1200" dirty="0">
                <a:solidFill>
                  <a:srgbClr val="8B949E"/>
                </a:solidFill>
              </a:rPr>
              <a:t>TVK's 35.08% statewide vote share came at the cost of both DMK (down 6.7pp) and AIADMK (down 7.5pp). No region was untouched.</a:t>
            </a:r>
            <a:endParaRPr lang="en-US" sz="1200" dirty="0"/>
          </a:p>
        </p:txBody>
      </p:sp>
      <p:sp>
        <p:nvSpPr>
          <p:cNvPr id="5" name="Shape 3"/>
          <p:cNvSpPr/>
          <p:nvPr/>
        </p:nvSpPr>
        <p:spPr>
          <a:xfrm>
            <a:off x="274320" y="1993392"/>
            <a:ext cx="2011680" cy="150876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6" name="Shape 4"/>
          <p:cNvSpPr/>
          <p:nvPr/>
        </p:nvSpPr>
        <p:spPr>
          <a:xfrm>
            <a:off x="274320" y="1993392"/>
            <a:ext cx="2011680" cy="64008"/>
          </a:xfrm>
          <a:prstGeom prst="rect">
            <a:avLst/>
          </a:prstGeom>
          <a:solidFill>
            <a:srgbClr val="F5A623"/>
          </a:solidFill>
          <a:ln w="12700">
            <a:solidFill>
              <a:srgbClr val="F5A623"/>
            </a:solidFill>
            <a:prstDash val="solid"/>
          </a:ln>
        </p:spPr>
      </p:sp>
      <p:sp>
        <p:nvSpPr>
          <p:cNvPr id="7" name="Text 5"/>
          <p:cNvSpPr/>
          <p:nvPr/>
        </p:nvSpPr>
        <p:spPr>
          <a:xfrm>
            <a:off x="274320" y="2084832"/>
            <a:ext cx="2011680" cy="228600"/>
          </a:xfrm>
          <a:prstGeom prst="rect">
            <a:avLst/>
          </a:prstGeom>
          <a:noFill/>
          <a:ln/>
        </p:spPr>
        <p:txBody>
          <a:bodyPr wrap="square" rtlCol="0" anchor="ctr"/>
          <a:lstStyle/>
          <a:p>
            <a:pPr algn="ctr" indent="0" marL="0">
              <a:buNone/>
            </a:pPr>
            <a:r>
              <a:rPr lang="en-US" sz="1000" b="1" dirty="0">
                <a:solidFill>
                  <a:srgbClr val="F5A623"/>
                </a:solidFill>
              </a:rPr>
              <a:t>DMK</a:t>
            </a:r>
            <a:endParaRPr lang="en-US" sz="1000" dirty="0"/>
          </a:p>
        </p:txBody>
      </p:sp>
      <p:sp>
        <p:nvSpPr>
          <p:cNvPr id="8" name="Text 6"/>
          <p:cNvSpPr/>
          <p:nvPr/>
        </p:nvSpPr>
        <p:spPr>
          <a:xfrm>
            <a:off x="274320" y="2286000"/>
            <a:ext cx="2011680" cy="548640"/>
          </a:xfrm>
          <a:prstGeom prst="rect">
            <a:avLst/>
          </a:prstGeom>
          <a:noFill/>
          <a:ln/>
        </p:spPr>
        <p:txBody>
          <a:bodyPr wrap="square" rtlCol="0" anchor="ctr"/>
          <a:lstStyle/>
          <a:p>
            <a:pPr algn="ctr" indent="0" marL="0">
              <a:buNone/>
            </a:pPr>
            <a:r>
              <a:rPr lang="en-US" sz="2600" b="1" dirty="0">
                <a:solidFill>
                  <a:srgbClr val="FFFFFF"/>
                </a:solidFill>
              </a:rPr>
              <a:t>24%</a:t>
            </a:r>
            <a:endParaRPr lang="en-US" sz="2600" dirty="0"/>
          </a:p>
        </p:txBody>
      </p:sp>
      <p:sp>
        <p:nvSpPr>
          <p:cNvPr id="9" name="Text 7"/>
          <p:cNvSpPr/>
          <p:nvPr/>
        </p:nvSpPr>
        <p:spPr>
          <a:xfrm>
            <a:off x="274320" y="2834640"/>
            <a:ext cx="2011680" cy="256032"/>
          </a:xfrm>
          <a:prstGeom prst="rect">
            <a:avLst/>
          </a:prstGeom>
          <a:noFill/>
          <a:ln/>
        </p:spPr>
        <p:txBody>
          <a:bodyPr wrap="square" rtlCol="0" anchor="ctr"/>
          <a:lstStyle/>
          <a:p>
            <a:pPr algn="ctr" indent="0" marL="0">
              <a:buNone/>
            </a:pPr>
            <a:r>
              <a:rPr lang="en-US" sz="950" dirty="0">
                <a:solidFill>
                  <a:srgbClr val="8B949E"/>
                </a:solidFill>
              </a:rPr>
              <a:t>vs 57.8% in 2021</a:t>
            </a:r>
            <a:endParaRPr lang="en-US" sz="950" dirty="0"/>
          </a:p>
        </p:txBody>
      </p:sp>
      <p:sp>
        <p:nvSpPr>
          <p:cNvPr id="10" name="Text 8"/>
          <p:cNvSpPr/>
          <p:nvPr/>
        </p:nvSpPr>
        <p:spPr>
          <a:xfrm>
            <a:off x="274320" y="3108960"/>
            <a:ext cx="2011680" cy="256032"/>
          </a:xfrm>
          <a:prstGeom prst="rect">
            <a:avLst/>
          </a:prstGeom>
          <a:noFill/>
          <a:ln/>
        </p:spPr>
        <p:txBody>
          <a:bodyPr wrap="square" rtlCol="0" anchor="ctr"/>
          <a:lstStyle/>
          <a:p>
            <a:pPr algn="ctr" indent="0" marL="0">
              <a:buNone/>
            </a:pPr>
            <a:r>
              <a:rPr lang="en-US" sz="1050" b="1" dirty="0">
                <a:solidFill>
                  <a:srgbClr val="F85149"/>
                </a:solidFill>
              </a:rPr>
              <a:t>▼ 33.6 pp</a:t>
            </a:r>
            <a:endParaRPr lang="en-US" sz="1050" dirty="0"/>
          </a:p>
        </p:txBody>
      </p:sp>
      <p:sp>
        <p:nvSpPr>
          <p:cNvPr id="11" name="Shape 9"/>
          <p:cNvSpPr/>
          <p:nvPr/>
        </p:nvSpPr>
        <p:spPr>
          <a:xfrm>
            <a:off x="2450592" y="1993392"/>
            <a:ext cx="2011680" cy="150876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2" name="Shape 10"/>
          <p:cNvSpPr/>
          <p:nvPr/>
        </p:nvSpPr>
        <p:spPr>
          <a:xfrm>
            <a:off x="2450592" y="1993392"/>
            <a:ext cx="2011680" cy="64008"/>
          </a:xfrm>
          <a:prstGeom prst="rect">
            <a:avLst/>
          </a:prstGeom>
          <a:solidFill>
            <a:srgbClr val="4D9DE0"/>
          </a:solidFill>
          <a:ln w="12700">
            <a:solidFill>
              <a:srgbClr val="4D9DE0"/>
            </a:solidFill>
            <a:prstDash val="solid"/>
          </a:ln>
        </p:spPr>
      </p:sp>
      <p:sp>
        <p:nvSpPr>
          <p:cNvPr id="13" name="Text 11"/>
          <p:cNvSpPr/>
          <p:nvPr/>
        </p:nvSpPr>
        <p:spPr>
          <a:xfrm>
            <a:off x="2450592" y="2084832"/>
            <a:ext cx="2011680" cy="228600"/>
          </a:xfrm>
          <a:prstGeom prst="rect">
            <a:avLst/>
          </a:prstGeom>
          <a:noFill/>
          <a:ln/>
        </p:spPr>
        <p:txBody>
          <a:bodyPr wrap="square" rtlCol="0" anchor="ctr"/>
          <a:lstStyle/>
          <a:p>
            <a:pPr algn="ctr" indent="0" marL="0">
              <a:buNone/>
            </a:pPr>
            <a:r>
              <a:rPr lang="en-US" sz="1000" b="1" dirty="0">
                <a:solidFill>
                  <a:srgbClr val="4D9DE0"/>
                </a:solidFill>
              </a:rPr>
              <a:t>AIADMK</a:t>
            </a:r>
            <a:endParaRPr lang="en-US" sz="1000" dirty="0"/>
          </a:p>
        </p:txBody>
      </p:sp>
      <p:sp>
        <p:nvSpPr>
          <p:cNvPr id="14" name="Text 12"/>
          <p:cNvSpPr/>
          <p:nvPr/>
        </p:nvSpPr>
        <p:spPr>
          <a:xfrm>
            <a:off x="2450592" y="2286000"/>
            <a:ext cx="2011680" cy="548640"/>
          </a:xfrm>
          <a:prstGeom prst="rect">
            <a:avLst/>
          </a:prstGeom>
          <a:noFill/>
          <a:ln/>
        </p:spPr>
        <p:txBody>
          <a:bodyPr wrap="square" rtlCol="0" anchor="ctr"/>
          <a:lstStyle/>
          <a:p>
            <a:pPr algn="ctr" indent="0" marL="0">
              <a:buNone/>
            </a:pPr>
            <a:r>
              <a:rPr lang="en-US" sz="2600" b="1" dirty="0">
                <a:solidFill>
                  <a:srgbClr val="FFFFFF"/>
                </a:solidFill>
              </a:rPr>
              <a:t>21.21%</a:t>
            </a:r>
            <a:endParaRPr lang="en-US" sz="2600" dirty="0"/>
          </a:p>
        </p:txBody>
      </p:sp>
      <p:sp>
        <p:nvSpPr>
          <p:cNvPr id="15" name="Text 13"/>
          <p:cNvSpPr/>
          <p:nvPr/>
        </p:nvSpPr>
        <p:spPr>
          <a:xfrm>
            <a:off x="2450592" y="2834640"/>
            <a:ext cx="2011680" cy="256032"/>
          </a:xfrm>
          <a:prstGeom prst="rect">
            <a:avLst/>
          </a:prstGeom>
          <a:noFill/>
          <a:ln/>
        </p:spPr>
        <p:txBody>
          <a:bodyPr wrap="square" rtlCol="0" anchor="ctr"/>
          <a:lstStyle/>
          <a:p>
            <a:pPr algn="ctr" indent="0" marL="0">
              <a:buNone/>
            </a:pPr>
            <a:r>
              <a:rPr lang="en-US" sz="950" dirty="0">
                <a:solidFill>
                  <a:srgbClr val="8B949E"/>
                </a:solidFill>
              </a:rPr>
              <a:t>vs 28.8% in 2021</a:t>
            </a:r>
            <a:endParaRPr lang="en-US" sz="950" dirty="0"/>
          </a:p>
        </p:txBody>
      </p:sp>
      <p:sp>
        <p:nvSpPr>
          <p:cNvPr id="16" name="Text 14"/>
          <p:cNvSpPr/>
          <p:nvPr/>
        </p:nvSpPr>
        <p:spPr>
          <a:xfrm>
            <a:off x="2450592" y="3108960"/>
            <a:ext cx="2011680" cy="256032"/>
          </a:xfrm>
          <a:prstGeom prst="rect">
            <a:avLst/>
          </a:prstGeom>
          <a:noFill/>
          <a:ln/>
        </p:spPr>
        <p:txBody>
          <a:bodyPr wrap="square" rtlCol="0" anchor="ctr"/>
          <a:lstStyle/>
          <a:p>
            <a:pPr algn="ctr" indent="0" marL="0">
              <a:buNone/>
            </a:pPr>
            <a:r>
              <a:rPr lang="en-US" sz="1050" b="1" dirty="0">
                <a:solidFill>
                  <a:srgbClr val="F85149"/>
                </a:solidFill>
              </a:rPr>
              <a:t>▼ 7.6 pp</a:t>
            </a:r>
            <a:endParaRPr lang="en-US" sz="1050" dirty="0"/>
          </a:p>
        </p:txBody>
      </p:sp>
      <p:sp>
        <p:nvSpPr>
          <p:cNvPr id="17" name="Shape 15"/>
          <p:cNvSpPr/>
          <p:nvPr/>
        </p:nvSpPr>
        <p:spPr>
          <a:xfrm>
            <a:off x="4626864" y="1993392"/>
            <a:ext cx="2011680" cy="150876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8" name="Shape 16"/>
          <p:cNvSpPr/>
          <p:nvPr/>
        </p:nvSpPr>
        <p:spPr>
          <a:xfrm>
            <a:off x="4626864" y="1993392"/>
            <a:ext cx="2011680" cy="64008"/>
          </a:xfrm>
          <a:prstGeom prst="rect">
            <a:avLst/>
          </a:prstGeom>
          <a:solidFill>
            <a:srgbClr val="3FB950"/>
          </a:solidFill>
          <a:ln w="12700">
            <a:solidFill>
              <a:srgbClr val="3FB950"/>
            </a:solidFill>
            <a:prstDash val="solid"/>
          </a:ln>
        </p:spPr>
      </p:sp>
      <p:sp>
        <p:nvSpPr>
          <p:cNvPr id="19" name="Text 17"/>
          <p:cNvSpPr/>
          <p:nvPr/>
        </p:nvSpPr>
        <p:spPr>
          <a:xfrm>
            <a:off x="4626864" y="2084832"/>
            <a:ext cx="2011680" cy="228600"/>
          </a:xfrm>
          <a:prstGeom prst="rect">
            <a:avLst/>
          </a:prstGeom>
          <a:noFill/>
          <a:ln/>
        </p:spPr>
        <p:txBody>
          <a:bodyPr wrap="square" rtlCol="0" anchor="ctr"/>
          <a:lstStyle/>
          <a:p>
            <a:pPr algn="ctr" indent="0" marL="0">
              <a:buNone/>
            </a:pPr>
            <a:r>
              <a:rPr lang="en-US" sz="1000" b="1" dirty="0">
                <a:solidFill>
                  <a:srgbClr val="3FB950"/>
                </a:solidFill>
              </a:rPr>
              <a:t>TVK</a:t>
            </a:r>
            <a:endParaRPr lang="en-US" sz="1000" dirty="0"/>
          </a:p>
        </p:txBody>
      </p:sp>
      <p:sp>
        <p:nvSpPr>
          <p:cNvPr id="20" name="Text 18"/>
          <p:cNvSpPr/>
          <p:nvPr/>
        </p:nvSpPr>
        <p:spPr>
          <a:xfrm>
            <a:off x="4626864" y="2286000"/>
            <a:ext cx="2011680" cy="548640"/>
          </a:xfrm>
          <a:prstGeom prst="rect">
            <a:avLst/>
          </a:prstGeom>
          <a:noFill/>
          <a:ln/>
        </p:spPr>
        <p:txBody>
          <a:bodyPr wrap="square" rtlCol="0" anchor="ctr"/>
          <a:lstStyle/>
          <a:p>
            <a:pPr algn="ctr" indent="0" marL="0">
              <a:buNone/>
            </a:pPr>
            <a:r>
              <a:rPr lang="en-US" sz="2600" b="1" dirty="0">
                <a:solidFill>
                  <a:srgbClr val="FFFFFF"/>
                </a:solidFill>
              </a:rPr>
              <a:t>35.08%</a:t>
            </a:r>
            <a:endParaRPr lang="en-US" sz="2600" dirty="0"/>
          </a:p>
        </p:txBody>
      </p:sp>
      <p:sp>
        <p:nvSpPr>
          <p:cNvPr id="21" name="Text 19"/>
          <p:cNvSpPr/>
          <p:nvPr/>
        </p:nvSpPr>
        <p:spPr>
          <a:xfrm>
            <a:off x="4626864" y="2834640"/>
            <a:ext cx="2011680" cy="256032"/>
          </a:xfrm>
          <a:prstGeom prst="rect">
            <a:avLst/>
          </a:prstGeom>
          <a:noFill/>
          <a:ln/>
        </p:spPr>
        <p:txBody>
          <a:bodyPr wrap="square" rtlCol="0" anchor="ctr"/>
          <a:lstStyle/>
          <a:p>
            <a:pPr algn="ctr" indent="0" marL="0">
              <a:buNone/>
            </a:pPr>
            <a:r>
              <a:rPr lang="en-US" sz="950" dirty="0">
                <a:solidFill>
                  <a:srgbClr val="8B949E"/>
                </a:solidFill>
              </a:rPr>
              <a:t>debut — from zero</a:t>
            </a:r>
            <a:endParaRPr lang="en-US" sz="950" dirty="0"/>
          </a:p>
        </p:txBody>
      </p:sp>
      <p:sp>
        <p:nvSpPr>
          <p:cNvPr id="22" name="Text 20"/>
          <p:cNvSpPr/>
          <p:nvPr/>
        </p:nvSpPr>
        <p:spPr>
          <a:xfrm>
            <a:off x="4626864" y="3108960"/>
            <a:ext cx="2011680" cy="256032"/>
          </a:xfrm>
          <a:prstGeom prst="rect">
            <a:avLst/>
          </a:prstGeom>
          <a:noFill/>
          <a:ln/>
        </p:spPr>
        <p:txBody>
          <a:bodyPr wrap="square" rtlCol="0" anchor="ctr"/>
          <a:lstStyle/>
          <a:p>
            <a:pPr algn="ctr" indent="0" marL="0">
              <a:buNone/>
            </a:pPr>
            <a:r>
              <a:rPr lang="en-US" sz="1050" b="1" dirty="0">
                <a:solidFill>
                  <a:srgbClr val="3FB950"/>
                </a:solidFill>
              </a:rPr>
              <a:t>★ +35.08 pp</a:t>
            </a:r>
            <a:endParaRPr lang="en-US" sz="1050" dirty="0"/>
          </a:p>
        </p:txBody>
      </p:sp>
      <p:sp>
        <p:nvSpPr>
          <p:cNvPr id="23" name="Shape 21"/>
          <p:cNvSpPr/>
          <p:nvPr/>
        </p:nvSpPr>
        <p:spPr>
          <a:xfrm>
            <a:off x="6803136" y="1993392"/>
            <a:ext cx="2011680" cy="150876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24" name="Shape 22"/>
          <p:cNvSpPr/>
          <p:nvPr/>
        </p:nvSpPr>
        <p:spPr>
          <a:xfrm>
            <a:off x="6803136" y="1993392"/>
            <a:ext cx="2011680" cy="64008"/>
          </a:xfrm>
          <a:prstGeom prst="rect">
            <a:avLst/>
          </a:prstGeom>
          <a:solidFill>
            <a:srgbClr val="F85149"/>
          </a:solidFill>
          <a:ln w="12700">
            <a:solidFill>
              <a:srgbClr val="F85149"/>
            </a:solidFill>
            <a:prstDash val="solid"/>
          </a:ln>
        </p:spPr>
      </p:sp>
      <p:sp>
        <p:nvSpPr>
          <p:cNvPr id="25" name="Text 23"/>
          <p:cNvSpPr/>
          <p:nvPr/>
        </p:nvSpPr>
        <p:spPr>
          <a:xfrm>
            <a:off x="6803136" y="2084832"/>
            <a:ext cx="2011680" cy="228600"/>
          </a:xfrm>
          <a:prstGeom prst="rect">
            <a:avLst/>
          </a:prstGeom>
          <a:noFill/>
          <a:ln/>
        </p:spPr>
        <p:txBody>
          <a:bodyPr wrap="square" rtlCol="0" anchor="ctr"/>
          <a:lstStyle/>
          <a:p>
            <a:pPr algn="ctr" indent="0" marL="0">
              <a:buNone/>
            </a:pPr>
            <a:r>
              <a:rPr lang="en-US" sz="1000" b="1" dirty="0">
                <a:solidFill>
                  <a:srgbClr val="F85149"/>
                </a:solidFill>
              </a:rPr>
              <a:t>BJP</a:t>
            </a:r>
            <a:endParaRPr lang="en-US" sz="1000" dirty="0"/>
          </a:p>
        </p:txBody>
      </p:sp>
      <p:sp>
        <p:nvSpPr>
          <p:cNvPr id="26" name="Text 24"/>
          <p:cNvSpPr/>
          <p:nvPr/>
        </p:nvSpPr>
        <p:spPr>
          <a:xfrm>
            <a:off x="6803136" y="2286000"/>
            <a:ext cx="2011680" cy="548640"/>
          </a:xfrm>
          <a:prstGeom prst="rect">
            <a:avLst/>
          </a:prstGeom>
          <a:noFill/>
          <a:ln/>
        </p:spPr>
        <p:txBody>
          <a:bodyPr wrap="square" rtlCol="0" anchor="ctr"/>
          <a:lstStyle/>
          <a:p>
            <a:pPr algn="ctr" indent="0" marL="0">
              <a:buNone/>
            </a:pPr>
            <a:r>
              <a:rPr lang="en-US" sz="2600" b="1" dirty="0">
                <a:solidFill>
                  <a:srgbClr val="FFFFFF"/>
                </a:solidFill>
              </a:rPr>
              <a:t>2.97%</a:t>
            </a:r>
            <a:endParaRPr lang="en-US" sz="2600" dirty="0"/>
          </a:p>
        </p:txBody>
      </p:sp>
      <p:sp>
        <p:nvSpPr>
          <p:cNvPr id="27" name="Text 25"/>
          <p:cNvSpPr/>
          <p:nvPr/>
        </p:nvSpPr>
        <p:spPr>
          <a:xfrm>
            <a:off x="6803136" y="2834640"/>
            <a:ext cx="2011680" cy="256032"/>
          </a:xfrm>
          <a:prstGeom prst="rect">
            <a:avLst/>
          </a:prstGeom>
          <a:noFill/>
          <a:ln/>
        </p:spPr>
        <p:txBody>
          <a:bodyPr wrap="square" rtlCol="0" anchor="ctr"/>
          <a:lstStyle/>
          <a:p>
            <a:pPr algn="ctr" indent="0" marL="0">
              <a:buNone/>
            </a:pPr>
            <a:r>
              <a:rPr lang="en-US" sz="950" dirty="0">
                <a:solidFill>
                  <a:srgbClr val="8B949E"/>
                </a:solidFill>
              </a:rPr>
              <a:t>vs 1.4% in 2021</a:t>
            </a:r>
            <a:endParaRPr lang="en-US" sz="950" dirty="0"/>
          </a:p>
        </p:txBody>
      </p:sp>
      <p:sp>
        <p:nvSpPr>
          <p:cNvPr id="28" name="Text 26"/>
          <p:cNvSpPr/>
          <p:nvPr/>
        </p:nvSpPr>
        <p:spPr>
          <a:xfrm>
            <a:off x="6803136" y="3108960"/>
            <a:ext cx="2011680" cy="256032"/>
          </a:xfrm>
          <a:prstGeom prst="rect">
            <a:avLst/>
          </a:prstGeom>
          <a:noFill/>
          <a:ln/>
        </p:spPr>
        <p:txBody>
          <a:bodyPr wrap="square" rtlCol="0" anchor="ctr"/>
          <a:lstStyle/>
          <a:p>
            <a:pPr algn="ctr" indent="0" marL="0">
              <a:buNone/>
            </a:pPr>
            <a:r>
              <a:rPr lang="en-US" sz="1050" b="1" dirty="0">
                <a:solidFill>
                  <a:srgbClr val="3FB950"/>
                </a:solidFill>
              </a:rPr>
              <a:t>▲ 1.6 pp</a:t>
            </a:r>
            <a:endParaRPr lang="en-US" sz="1050" dirty="0"/>
          </a:p>
        </p:txBody>
      </p:sp>
      <p:sp>
        <p:nvSpPr>
          <p:cNvPr id="29" name="Shape 27"/>
          <p:cNvSpPr/>
          <p:nvPr/>
        </p:nvSpPr>
        <p:spPr>
          <a:xfrm>
            <a:off x="274320" y="3703320"/>
            <a:ext cx="8595360" cy="1188720"/>
          </a:xfrm>
          <a:prstGeom prst="rect">
            <a:avLst/>
          </a:prstGeom>
          <a:solidFill>
            <a:srgbClr val="161B22"/>
          </a:solidFill>
          <a:ln w="12700">
            <a:solidFill>
              <a:srgbClr val="21262D"/>
            </a:solidFill>
            <a:prstDash val="solid"/>
          </a:ln>
        </p:spPr>
      </p:sp>
      <p:sp>
        <p:nvSpPr>
          <p:cNvPr id="30" name="Text 28"/>
          <p:cNvSpPr/>
          <p:nvPr/>
        </p:nvSpPr>
        <p:spPr>
          <a:xfrm>
            <a:off x="457200" y="3767328"/>
            <a:ext cx="7772400" cy="256032"/>
          </a:xfrm>
          <a:prstGeom prst="rect">
            <a:avLst/>
          </a:prstGeom>
          <a:noFill/>
          <a:ln/>
        </p:spPr>
        <p:txBody>
          <a:bodyPr wrap="square" rtlCol="0" anchor="ctr"/>
          <a:lstStyle/>
          <a:p>
            <a:pPr indent="0" marL="0">
              <a:buNone/>
            </a:pPr>
            <a:r>
              <a:rPr lang="en-US" sz="900" b="1" spc="150" kern="0" dirty="0">
                <a:solidFill>
                  <a:srgbClr val="F5A623"/>
                </a:solidFill>
              </a:rPr>
              <a:t>2021 → 2026: TVK ABSORBS ~14 PP FROM THE TWO MAJOR PARTIES</a:t>
            </a:r>
            <a:endParaRPr lang="en-US" sz="900" dirty="0"/>
          </a:p>
        </p:txBody>
      </p:sp>
      <p:sp>
        <p:nvSpPr>
          <p:cNvPr id="31" name="Shape 29"/>
          <p:cNvSpPr/>
          <p:nvPr/>
        </p:nvSpPr>
        <p:spPr>
          <a:xfrm>
            <a:off x="978408" y="4370070"/>
            <a:ext cx="320040" cy="293370"/>
          </a:xfrm>
          <a:prstGeom prst="rect">
            <a:avLst/>
          </a:prstGeom>
          <a:solidFill>
            <a:srgbClr val="3FB950"/>
          </a:solidFill>
          <a:ln w="12700">
            <a:solidFill>
              <a:srgbClr val="3FB950"/>
            </a:solidFill>
            <a:prstDash val="solid"/>
          </a:ln>
        </p:spPr>
      </p:sp>
      <p:sp>
        <p:nvSpPr>
          <p:cNvPr id="32" name="Text 30"/>
          <p:cNvSpPr/>
          <p:nvPr/>
        </p:nvSpPr>
        <p:spPr>
          <a:xfrm>
            <a:off x="548640" y="4681728"/>
            <a:ext cx="914400" cy="201168"/>
          </a:xfrm>
          <a:prstGeom prst="rect">
            <a:avLst/>
          </a:prstGeom>
          <a:noFill/>
          <a:ln/>
        </p:spPr>
        <p:txBody>
          <a:bodyPr wrap="square" rtlCol="0" anchor="ctr"/>
          <a:lstStyle/>
          <a:p>
            <a:pPr algn="ctr" indent="0" marL="0">
              <a:buNone/>
            </a:pPr>
            <a:r>
              <a:rPr lang="en-US" sz="950" dirty="0">
                <a:solidFill>
                  <a:srgbClr val="8B949E"/>
                </a:solidFill>
              </a:rPr>
              <a:t>TVK</a:t>
            </a:r>
            <a:endParaRPr lang="en-US" sz="950" dirty="0"/>
          </a:p>
        </p:txBody>
      </p:sp>
      <p:sp>
        <p:nvSpPr>
          <p:cNvPr id="33" name="Shape 31"/>
          <p:cNvSpPr/>
          <p:nvPr/>
        </p:nvSpPr>
        <p:spPr>
          <a:xfrm>
            <a:off x="2240280" y="4177284"/>
            <a:ext cx="320040" cy="486156"/>
          </a:xfrm>
          <a:prstGeom prst="rect">
            <a:avLst/>
          </a:prstGeom>
          <a:solidFill>
            <a:srgbClr val="4A4F5A"/>
          </a:solidFill>
          <a:ln w="12700">
            <a:solidFill>
              <a:srgbClr val="4A4F5A"/>
            </a:solidFill>
            <a:prstDash val="solid"/>
          </a:ln>
        </p:spPr>
      </p:sp>
      <p:sp>
        <p:nvSpPr>
          <p:cNvPr id="34" name="Shape 32"/>
          <p:cNvSpPr/>
          <p:nvPr/>
        </p:nvSpPr>
        <p:spPr>
          <a:xfrm>
            <a:off x="2624328" y="4462272"/>
            <a:ext cx="320040" cy="201168"/>
          </a:xfrm>
          <a:prstGeom prst="rect">
            <a:avLst/>
          </a:prstGeom>
          <a:solidFill>
            <a:srgbClr val="F5A623"/>
          </a:solidFill>
          <a:ln w="12700">
            <a:solidFill>
              <a:srgbClr val="F5A623"/>
            </a:solidFill>
            <a:prstDash val="solid"/>
          </a:ln>
        </p:spPr>
      </p:sp>
      <p:sp>
        <p:nvSpPr>
          <p:cNvPr id="35" name="Text 33"/>
          <p:cNvSpPr/>
          <p:nvPr/>
        </p:nvSpPr>
        <p:spPr>
          <a:xfrm>
            <a:off x="2194560" y="4681728"/>
            <a:ext cx="914400" cy="201168"/>
          </a:xfrm>
          <a:prstGeom prst="rect">
            <a:avLst/>
          </a:prstGeom>
          <a:noFill/>
          <a:ln/>
        </p:spPr>
        <p:txBody>
          <a:bodyPr wrap="square" rtlCol="0" anchor="ctr"/>
          <a:lstStyle/>
          <a:p>
            <a:pPr algn="ctr" indent="0" marL="0">
              <a:buNone/>
            </a:pPr>
            <a:r>
              <a:rPr lang="en-US" sz="950" dirty="0">
                <a:solidFill>
                  <a:srgbClr val="8B949E"/>
                </a:solidFill>
              </a:rPr>
              <a:t>DMK</a:t>
            </a:r>
            <a:endParaRPr lang="en-US" sz="950" dirty="0"/>
          </a:p>
        </p:txBody>
      </p:sp>
      <p:sp>
        <p:nvSpPr>
          <p:cNvPr id="36" name="Shape 34"/>
          <p:cNvSpPr/>
          <p:nvPr/>
        </p:nvSpPr>
        <p:spPr>
          <a:xfrm>
            <a:off x="3886200" y="4420362"/>
            <a:ext cx="320040" cy="243078"/>
          </a:xfrm>
          <a:prstGeom prst="rect">
            <a:avLst/>
          </a:prstGeom>
          <a:solidFill>
            <a:srgbClr val="4A4F5A"/>
          </a:solidFill>
          <a:ln w="12700">
            <a:solidFill>
              <a:srgbClr val="4A4F5A"/>
            </a:solidFill>
            <a:prstDash val="solid"/>
          </a:ln>
        </p:spPr>
      </p:sp>
      <p:sp>
        <p:nvSpPr>
          <p:cNvPr id="37" name="Shape 35"/>
          <p:cNvSpPr/>
          <p:nvPr/>
        </p:nvSpPr>
        <p:spPr>
          <a:xfrm>
            <a:off x="4270248" y="4487418"/>
            <a:ext cx="320040" cy="176022"/>
          </a:xfrm>
          <a:prstGeom prst="rect">
            <a:avLst/>
          </a:prstGeom>
          <a:solidFill>
            <a:srgbClr val="4D9DE0"/>
          </a:solidFill>
          <a:ln w="12700">
            <a:solidFill>
              <a:srgbClr val="4D9DE0"/>
            </a:solidFill>
            <a:prstDash val="solid"/>
          </a:ln>
        </p:spPr>
      </p:sp>
      <p:sp>
        <p:nvSpPr>
          <p:cNvPr id="38" name="Text 36"/>
          <p:cNvSpPr/>
          <p:nvPr/>
        </p:nvSpPr>
        <p:spPr>
          <a:xfrm>
            <a:off x="3840480" y="4681728"/>
            <a:ext cx="914400" cy="201168"/>
          </a:xfrm>
          <a:prstGeom prst="rect">
            <a:avLst/>
          </a:prstGeom>
          <a:noFill/>
          <a:ln/>
        </p:spPr>
        <p:txBody>
          <a:bodyPr wrap="square" rtlCol="0" anchor="ctr"/>
          <a:lstStyle/>
          <a:p>
            <a:pPr algn="ctr" indent="0" marL="0">
              <a:buNone/>
            </a:pPr>
            <a:r>
              <a:rPr lang="en-US" sz="950" dirty="0">
                <a:solidFill>
                  <a:srgbClr val="8B949E"/>
                </a:solidFill>
              </a:rPr>
              <a:t>AIADMK</a:t>
            </a:r>
            <a:endParaRPr lang="en-US" sz="950" dirty="0"/>
          </a:p>
        </p:txBody>
      </p:sp>
      <p:sp>
        <p:nvSpPr>
          <p:cNvPr id="39" name="Shape 37"/>
          <p:cNvSpPr/>
          <p:nvPr/>
        </p:nvSpPr>
        <p:spPr>
          <a:xfrm>
            <a:off x="5532120" y="4613148"/>
            <a:ext cx="320040" cy="50292"/>
          </a:xfrm>
          <a:prstGeom prst="rect">
            <a:avLst/>
          </a:prstGeom>
          <a:solidFill>
            <a:srgbClr val="4A4F5A"/>
          </a:solidFill>
          <a:ln w="12700">
            <a:solidFill>
              <a:srgbClr val="4A4F5A"/>
            </a:solidFill>
            <a:prstDash val="solid"/>
          </a:ln>
        </p:spPr>
      </p:sp>
      <p:sp>
        <p:nvSpPr>
          <p:cNvPr id="40" name="Shape 38"/>
          <p:cNvSpPr/>
          <p:nvPr/>
        </p:nvSpPr>
        <p:spPr>
          <a:xfrm>
            <a:off x="5916168" y="4621530"/>
            <a:ext cx="320040" cy="41910"/>
          </a:xfrm>
          <a:prstGeom prst="rect">
            <a:avLst/>
          </a:prstGeom>
          <a:solidFill>
            <a:srgbClr val="9B5DE5"/>
          </a:solidFill>
          <a:ln w="12700">
            <a:solidFill>
              <a:srgbClr val="9B5DE5"/>
            </a:solidFill>
            <a:prstDash val="solid"/>
          </a:ln>
        </p:spPr>
      </p:sp>
      <p:sp>
        <p:nvSpPr>
          <p:cNvPr id="41" name="Text 39"/>
          <p:cNvSpPr/>
          <p:nvPr/>
        </p:nvSpPr>
        <p:spPr>
          <a:xfrm>
            <a:off x="5486400" y="4681728"/>
            <a:ext cx="914400" cy="201168"/>
          </a:xfrm>
          <a:prstGeom prst="rect">
            <a:avLst/>
          </a:prstGeom>
          <a:noFill/>
          <a:ln/>
        </p:spPr>
        <p:txBody>
          <a:bodyPr wrap="square" rtlCol="0" anchor="ctr"/>
          <a:lstStyle/>
          <a:p>
            <a:pPr algn="ctr" indent="0" marL="0">
              <a:buNone/>
            </a:pPr>
            <a:r>
              <a:rPr lang="en-US" sz="950" dirty="0">
                <a:solidFill>
                  <a:srgbClr val="8B949E"/>
                </a:solidFill>
              </a:rPr>
              <a:t>INC</a:t>
            </a:r>
            <a:endParaRPr lang="en-US" sz="950" dirty="0"/>
          </a:p>
        </p:txBody>
      </p:sp>
      <p:sp>
        <p:nvSpPr>
          <p:cNvPr id="42" name="Shape 40"/>
          <p:cNvSpPr/>
          <p:nvPr/>
        </p:nvSpPr>
        <p:spPr>
          <a:xfrm>
            <a:off x="7178040" y="4651705"/>
            <a:ext cx="320040" cy="11735"/>
          </a:xfrm>
          <a:prstGeom prst="rect">
            <a:avLst/>
          </a:prstGeom>
          <a:solidFill>
            <a:srgbClr val="4A4F5A"/>
          </a:solidFill>
          <a:ln w="12700">
            <a:solidFill>
              <a:srgbClr val="4A4F5A"/>
            </a:solidFill>
            <a:prstDash val="solid"/>
          </a:ln>
        </p:spPr>
      </p:sp>
      <p:sp>
        <p:nvSpPr>
          <p:cNvPr id="43" name="Shape 41"/>
          <p:cNvSpPr/>
          <p:nvPr/>
        </p:nvSpPr>
        <p:spPr>
          <a:xfrm>
            <a:off x="7562088" y="4638294"/>
            <a:ext cx="320040" cy="25146"/>
          </a:xfrm>
          <a:prstGeom prst="rect">
            <a:avLst/>
          </a:prstGeom>
          <a:solidFill>
            <a:srgbClr val="F85149"/>
          </a:solidFill>
          <a:ln w="12700">
            <a:solidFill>
              <a:srgbClr val="F85149"/>
            </a:solidFill>
            <a:prstDash val="solid"/>
          </a:ln>
        </p:spPr>
      </p:sp>
      <p:sp>
        <p:nvSpPr>
          <p:cNvPr id="44" name="Text 42"/>
          <p:cNvSpPr/>
          <p:nvPr/>
        </p:nvSpPr>
        <p:spPr>
          <a:xfrm>
            <a:off x="7132320" y="4681728"/>
            <a:ext cx="914400" cy="201168"/>
          </a:xfrm>
          <a:prstGeom prst="rect">
            <a:avLst/>
          </a:prstGeom>
          <a:noFill/>
          <a:ln/>
        </p:spPr>
        <p:txBody>
          <a:bodyPr wrap="square" rtlCol="0" anchor="ctr"/>
          <a:lstStyle/>
          <a:p>
            <a:pPr algn="ctr" indent="0" marL="0">
              <a:buNone/>
            </a:pPr>
            <a:r>
              <a:rPr lang="en-US" sz="950" dirty="0">
                <a:solidFill>
                  <a:srgbClr val="8B949E"/>
                </a:solidFill>
              </a:rPr>
              <a:t>BJP</a:t>
            </a:r>
            <a:endParaRPr lang="en-US" sz="950" dirty="0"/>
          </a:p>
        </p:txBody>
      </p:sp>
      <p:sp>
        <p:nvSpPr>
          <p:cNvPr id="45" name="Text 43"/>
          <p:cNvSpPr/>
          <p:nvPr/>
        </p:nvSpPr>
        <p:spPr>
          <a:xfrm>
            <a:off x="502920" y="4041648"/>
            <a:ext cx="914400" cy="201168"/>
          </a:xfrm>
          <a:prstGeom prst="rect">
            <a:avLst/>
          </a:prstGeom>
          <a:noFill/>
          <a:ln/>
        </p:spPr>
        <p:txBody>
          <a:bodyPr wrap="square" rtlCol="0" anchor="ctr"/>
          <a:lstStyle/>
          <a:p>
            <a:pPr indent="0" marL="0">
              <a:buNone/>
            </a:pPr>
            <a:r>
              <a:rPr lang="en-US" sz="900" dirty="0">
                <a:solidFill>
                  <a:srgbClr val="4A4F5A"/>
                </a:solidFill>
              </a:rPr>
              <a:t>■ 2021</a:t>
            </a:r>
            <a:endParaRPr lang="en-US" sz="900" dirty="0"/>
          </a:p>
        </p:txBody>
      </p:sp>
      <p:sp>
        <p:nvSpPr>
          <p:cNvPr id="46" name="Text 44"/>
          <p:cNvSpPr/>
          <p:nvPr/>
        </p:nvSpPr>
        <p:spPr>
          <a:xfrm>
            <a:off x="1280160" y="4041648"/>
            <a:ext cx="914400" cy="201168"/>
          </a:xfrm>
          <a:prstGeom prst="rect">
            <a:avLst/>
          </a:prstGeom>
          <a:noFill/>
          <a:ln/>
        </p:spPr>
        <p:txBody>
          <a:bodyPr wrap="square" rtlCol="0" anchor="ctr"/>
          <a:lstStyle/>
          <a:p>
            <a:pPr indent="0" marL="0">
              <a:buNone/>
            </a:pPr>
            <a:r>
              <a:rPr lang="en-US" sz="900" dirty="0">
                <a:solidFill>
                  <a:srgbClr val="F5A623"/>
                </a:solidFill>
              </a:rPr>
              <a:t>■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5486400" cy="228600"/>
          </a:xfrm>
          <a:prstGeom prst="rect">
            <a:avLst/>
          </a:prstGeom>
          <a:noFill/>
          <a:ln/>
        </p:spPr>
        <p:txBody>
          <a:bodyPr wrap="square" rtlCol="0" anchor="ctr"/>
          <a:lstStyle/>
          <a:p>
            <a:pPr indent="0" marL="0">
              <a:buNone/>
            </a:pPr>
            <a:r>
              <a:rPr lang="en-US" sz="900" b="1" spc="300" kern="0" dirty="0">
                <a:solidFill>
                  <a:srgbClr val="F5A623"/>
                </a:solidFill>
              </a:rPr>
              <a:t>STORY 2  ·  THE VOTE SHARE</a:t>
            </a:r>
            <a:endParaRPr lang="en-US" sz="900" dirty="0"/>
          </a:p>
        </p:txBody>
      </p:sp>
      <p:sp>
        <p:nvSpPr>
          <p:cNvPr id="3" name="Text 1"/>
          <p:cNvSpPr/>
          <p:nvPr/>
        </p:nvSpPr>
        <p:spPr>
          <a:xfrm>
            <a:off x="365760" y="457200"/>
            <a:ext cx="8229600" cy="548640"/>
          </a:xfrm>
          <a:prstGeom prst="rect">
            <a:avLst/>
          </a:prstGeom>
          <a:noFill/>
          <a:ln/>
        </p:spPr>
        <p:txBody>
          <a:bodyPr wrap="square" rtlCol="0" anchor="ctr"/>
          <a:lstStyle/>
          <a:p>
            <a:pPr indent="0" marL="0">
              <a:buNone/>
            </a:pPr>
            <a:r>
              <a:rPr lang="en-US" sz="2600" b="1" dirty="0">
                <a:solidFill>
                  <a:srgbClr val="FFFFFF"/>
                </a:solidFill>
              </a:rPr>
              <a:t>Every Region Shows the Same Pattern</a:t>
            </a:r>
            <a:endParaRPr lang="en-US" sz="2600" dirty="0"/>
          </a:p>
        </p:txBody>
      </p:sp>
      <p:sp>
        <p:nvSpPr>
          <p:cNvPr id="4" name="Text 2"/>
          <p:cNvSpPr/>
          <p:nvPr/>
        </p:nvSpPr>
        <p:spPr>
          <a:xfrm>
            <a:off x="365760" y="1005840"/>
            <a:ext cx="8229600" cy="320040"/>
          </a:xfrm>
          <a:prstGeom prst="rect">
            <a:avLst/>
          </a:prstGeom>
          <a:noFill/>
          <a:ln/>
        </p:spPr>
        <p:txBody>
          <a:bodyPr wrap="square" rtlCol="0" anchor="ctr"/>
          <a:lstStyle/>
          <a:p>
            <a:pPr indent="0" marL="0">
              <a:buNone/>
            </a:pPr>
            <a:r>
              <a:rPr lang="en-US" sz="1300" dirty="0">
                <a:solidFill>
                  <a:srgbClr val="8B949E"/>
                </a:solidFill>
              </a:rPr>
              <a:t>DMK and AIADMK down, TVK up — no region was an exception.</a:t>
            </a:r>
            <a:endParaRPr lang="en-US" sz="1300" dirty="0"/>
          </a:p>
        </p:txBody>
      </p:sp>
      <p:sp>
        <p:nvSpPr>
          <p:cNvPr id="5" name="Shape 3"/>
          <p:cNvSpPr/>
          <p:nvPr/>
        </p:nvSpPr>
        <p:spPr>
          <a:xfrm>
            <a:off x="274320" y="1417320"/>
            <a:ext cx="3931920" cy="347472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6" name="Text 4"/>
          <p:cNvSpPr/>
          <p:nvPr/>
        </p:nvSpPr>
        <p:spPr>
          <a:xfrm>
            <a:off x="457200" y="1508760"/>
            <a:ext cx="3474720" cy="256032"/>
          </a:xfrm>
          <a:prstGeom prst="rect">
            <a:avLst/>
          </a:prstGeom>
          <a:noFill/>
          <a:ln/>
        </p:spPr>
        <p:txBody>
          <a:bodyPr wrap="square" rtlCol="0" anchor="ctr"/>
          <a:lstStyle/>
          <a:p>
            <a:pPr indent="0" marL="0">
              <a:buNone/>
            </a:pPr>
            <a:r>
              <a:rPr lang="en-US" sz="900" b="1" spc="200" kern="0" dirty="0">
                <a:solidFill>
                  <a:srgbClr val="3FB950"/>
                </a:solidFill>
              </a:rPr>
              <a:t>TVK % BY REGION · 2026</a:t>
            </a:r>
            <a:endParaRPr lang="en-US" sz="900" dirty="0"/>
          </a:p>
        </p:txBody>
      </p:sp>
      <p:sp>
        <p:nvSpPr>
          <p:cNvPr id="7" name="Text 5"/>
          <p:cNvSpPr/>
          <p:nvPr/>
        </p:nvSpPr>
        <p:spPr>
          <a:xfrm>
            <a:off x="457200" y="1755648"/>
            <a:ext cx="3566160" cy="347472"/>
          </a:xfrm>
          <a:prstGeom prst="rect">
            <a:avLst/>
          </a:prstGeom>
          <a:noFill/>
          <a:ln/>
        </p:spPr>
        <p:txBody>
          <a:bodyPr wrap="square" rtlCol="0" anchor="ctr"/>
          <a:lstStyle/>
          <a:p>
            <a:pPr indent="0" marL="0">
              <a:buNone/>
            </a:pPr>
            <a:r>
              <a:rPr lang="en-US" sz="1050" b="1" dirty="0">
                <a:solidFill>
                  <a:srgbClr val="FFFFFF"/>
                </a:solidFill>
              </a:rPr>
              <a:t>Strongest in Chennai Metro (46.69%), weakest in Central (31.42%)</a:t>
            </a:r>
            <a:endParaRPr lang="en-US" sz="1050" dirty="0"/>
          </a:p>
        </p:txBody>
      </p:sp>
      <p:sp>
        <p:nvSpPr>
          <p:cNvPr id="8" name="Text 6"/>
          <p:cNvSpPr/>
          <p:nvPr/>
        </p:nvSpPr>
        <p:spPr>
          <a:xfrm>
            <a:off x="457200" y="2212848"/>
            <a:ext cx="1417320" cy="256032"/>
          </a:xfrm>
          <a:prstGeom prst="rect">
            <a:avLst/>
          </a:prstGeom>
          <a:noFill/>
          <a:ln/>
        </p:spPr>
        <p:txBody>
          <a:bodyPr wrap="square" rtlCol="0" anchor="ctr"/>
          <a:lstStyle/>
          <a:p>
            <a:pPr indent="0" marL="0">
              <a:buNone/>
            </a:pPr>
            <a:r>
              <a:rPr lang="en-US" sz="1050" dirty="0">
                <a:solidFill>
                  <a:srgbClr val="E6EDF3"/>
                </a:solidFill>
              </a:rPr>
              <a:t>Chennai Metro</a:t>
            </a:r>
            <a:endParaRPr lang="en-US" sz="1050" dirty="0"/>
          </a:p>
        </p:txBody>
      </p:sp>
      <p:sp>
        <p:nvSpPr>
          <p:cNvPr id="9" name="Text 7"/>
          <p:cNvSpPr/>
          <p:nvPr/>
        </p:nvSpPr>
        <p:spPr>
          <a:xfrm>
            <a:off x="1874520" y="2212848"/>
            <a:ext cx="365760" cy="256032"/>
          </a:xfrm>
          <a:prstGeom prst="rect">
            <a:avLst/>
          </a:prstGeom>
          <a:noFill/>
          <a:ln/>
        </p:spPr>
        <p:txBody>
          <a:bodyPr wrap="square" rtlCol="0" anchor="ctr"/>
          <a:lstStyle/>
          <a:p>
            <a:pPr algn="ctr" indent="0" marL="0">
              <a:buNone/>
            </a:pPr>
            <a:r>
              <a:rPr lang="en-US" sz="1000" dirty="0">
                <a:solidFill>
                  <a:srgbClr val="8B949E"/>
                </a:solidFill>
              </a:rPr>
              <a:t>32</a:t>
            </a:r>
            <a:endParaRPr lang="en-US" sz="1000" dirty="0"/>
          </a:p>
        </p:txBody>
      </p:sp>
      <p:sp>
        <p:nvSpPr>
          <p:cNvPr id="10" name="Text 8"/>
          <p:cNvSpPr/>
          <p:nvPr/>
        </p:nvSpPr>
        <p:spPr>
          <a:xfrm>
            <a:off x="2286000" y="2212848"/>
            <a:ext cx="594360" cy="256032"/>
          </a:xfrm>
          <a:prstGeom prst="rect">
            <a:avLst/>
          </a:prstGeom>
          <a:noFill/>
          <a:ln/>
        </p:spPr>
        <p:txBody>
          <a:bodyPr wrap="square" rtlCol="0" anchor="ctr"/>
          <a:lstStyle/>
          <a:p>
            <a:pPr indent="0" marL="0">
              <a:buNone/>
            </a:pPr>
            <a:r>
              <a:rPr lang="en-US" sz="1050" b="1" dirty="0">
                <a:solidFill>
                  <a:srgbClr val="3FB950"/>
                </a:solidFill>
              </a:rPr>
              <a:t>46.69%</a:t>
            </a:r>
            <a:endParaRPr lang="en-US" sz="1050" dirty="0"/>
          </a:p>
        </p:txBody>
      </p:sp>
      <p:sp>
        <p:nvSpPr>
          <p:cNvPr id="11" name="Shape 9"/>
          <p:cNvSpPr/>
          <p:nvPr/>
        </p:nvSpPr>
        <p:spPr>
          <a:xfrm>
            <a:off x="2926080" y="2276856"/>
            <a:ext cx="1508760" cy="128016"/>
          </a:xfrm>
          <a:prstGeom prst="rect">
            <a:avLst/>
          </a:prstGeom>
          <a:solidFill>
            <a:srgbClr val="3FB950"/>
          </a:solidFill>
          <a:ln w="12700">
            <a:solidFill>
              <a:srgbClr val="3FB950"/>
            </a:solidFill>
            <a:prstDash val="solid"/>
          </a:ln>
        </p:spPr>
      </p:sp>
      <p:sp>
        <p:nvSpPr>
          <p:cNvPr id="12" name="Text 10"/>
          <p:cNvSpPr/>
          <p:nvPr/>
        </p:nvSpPr>
        <p:spPr>
          <a:xfrm>
            <a:off x="457200" y="2651760"/>
            <a:ext cx="1417320" cy="256032"/>
          </a:xfrm>
          <a:prstGeom prst="rect">
            <a:avLst/>
          </a:prstGeom>
          <a:noFill/>
          <a:ln/>
        </p:spPr>
        <p:txBody>
          <a:bodyPr wrap="square" rtlCol="0" anchor="ctr"/>
          <a:lstStyle/>
          <a:p>
            <a:pPr indent="0" marL="0">
              <a:buNone/>
            </a:pPr>
            <a:r>
              <a:rPr lang="en-US" sz="1050" dirty="0">
                <a:solidFill>
                  <a:srgbClr val="E6EDF3"/>
                </a:solidFill>
              </a:rPr>
              <a:t>Kongu</a:t>
            </a:r>
            <a:endParaRPr lang="en-US" sz="1050" dirty="0"/>
          </a:p>
        </p:txBody>
      </p:sp>
      <p:sp>
        <p:nvSpPr>
          <p:cNvPr id="13" name="Text 11"/>
          <p:cNvSpPr/>
          <p:nvPr/>
        </p:nvSpPr>
        <p:spPr>
          <a:xfrm>
            <a:off x="1874520" y="2651760"/>
            <a:ext cx="365760" cy="256032"/>
          </a:xfrm>
          <a:prstGeom prst="rect">
            <a:avLst/>
          </a:prstGeom>
          <a:noFill/>
          <a:ln/>
        </p:spPr>
        <p:txBody>
          <a:bodyPr wrap="square" rtlCol="0" anchor="ctr"/>
          <a:lstStyle/>
          <a:p>
            <a:pPr algn="ctr" indent="0" marL="0">
              <a:buNone/>
            </a:pPr>
            <a:r>
              <a:rPr lang="en-US" sz="1000" dirty="0">
                <a:solidFill>
                  <a:srgbClr val="8B949E"/>
                </a:solidFill>
              </a:rPr>
              <a:t>33</a:t>
            </a:r>
            <a:endParaRPr lang="en-US" sz="1000" dirty="0"/>
          </a:p>
        </p:txBody>
      </p:sp>
      <p:sp>
        <p:nvSpPr>
          <p:cNvPr id="14" name="Text 12"/>
          <p:cNvSpPr/>
          <p:nvPr/>
        </p:nvSpPr>
        <p:spPr>
          <a:xfrm>
            <a:off x="2286000" y="2651760"/>
            <a:ext cx="594360" cy="256032"/>
          </a:xfrm>
          <a:prstGeom prst="rect">
            <a:avLst/>
          </a:prstGeom>
          <a:noFill/>
          <a:ln/>
        </p:spPr>
        <p:txBody>
          <a:bodyPr wrap="square" rtlCol="0" anchor="ctr"/>
          <a:lstStyle/>
          <a:p>
            <a:pPr indent="0" marL="0">
              <a:buNone/>
            </a:pPr>
            <a:r>
              <a:rPr lang="en-US" sz="1050" b="1" dirty="0">
                <a:solidFill>
                  <a:srgbClr val="3FB950"/>
                </a:solidFill>
              </a:rPr>
              <a:t>34.61%</a:t>
            </a:r>
            <a:endParaRPr lang="en-US" sz="1050" dirty="0"/>
          </a:p>
        </p:txBody>
      </p:sp>
      <p:sp>
        <p:nvSpPr>
          <p:cNvPr id="15" name="Shape 13"/>
          <p:cNvSpPr/>
          <p:nvPr/>
        </p:nvSpPr>
        <p:spPr>
          <a:xfrm>
            <a:off x="2926080" y="2715768"/>
            <a:ext cx="1115568" cy="128016"/>
          </a:xfrm>
          <a:prstGeom prst="rect">
            <a:avLst/>
          </a:prstGeom>
          <a:solidFill>
            <a:srgbClr val="3FB950"/>
          </a:solidFill>
          <a:ln w="12700">
            <a:solidFill>
              <a:srgbClr val="3FB950"/>
            </a:solidFill>
            <a:prstDash val="solid"/>
          </a:ln>
        </p:spPr>
      </p:sp>
      <p:sp>
        <p:nvSpPr>
          <p:cNvPr id="16" name="Text 14"/>
          <p:cNvSpPr/>
          <p:nvPr/>
        </p:nvSpPr>
        <p:spPr>
          <a:xfrm>
            <a:off x="457200" y="3090672"/>
            <a:ext cx="1417320" cy="256032"/>
          </a:xfrm>
          <a:prstGeom prst="rect">
            <a:avLst/>
          </a:prstGeom>
          <a:noFill/>
          <a:ln/>
        </p:spPr>
        <p:txBody>
          <a:bodyPr wrap="square" rtlCol="0" anchor="ctr"/>
          <a:lstStyle/>
          <a:p>
            <a:pPr indent="0" marL="0">
              <a:buNone/>
            </a:pPr>
            <a:r>
              <a:rPr lang="en-US" sz="1050" dirty="0">
                <a:solidFill>
                  <a:srgbClr val="E6EDF3"/>
                </a:solidFill>
              </a:rPr>
              <a:t>South</a:t>
            </a:r>
            <a:endParaRPr lang="en-US" sz="1050" dirty="0"/>
          </a:p>
        </p:txBody>
      </p:sp>
      <p:sp>
        <p:nvSpPr>
          <p:cNvPr id="17" name="Text 15"/>
          <p:cNvSpPr/>
          <p:nvPr/>
        </p:nvSpPr>
        <p:spPr>
          <a:xfrm>
            <a:off x="1874520" y="3090672"/>
            <a:ext cx="365760" cy="256032"/>
          </a:xfrm>
          <a:prstGeom prst="rect">
            <a:avLst/>
          </a:prstGeom>
          <a:noFill/>
          <a:ln/>
        </p:spPr>
        <p:txBody>
          <a:bodyPr wrap="square" rtlCol="0" anchor="ctr"/>
          <a:lstStyle/>
          <a:p>
            <a:pPr algn="ctr" indent="0" marL="0">
              <a:buNone/>
            </a:pPr>
            <a:r>
              <a:rPr lang="en-US" sz="1000" dirty="0">
                <a:solidFill>
                  <a:srgbClr val="8B949E"/>
                </a:solidFill>
              </a:rPr>
              <a:t>58</a:t>
            </a:r>
            <a:endParaRPr lang="en-US" sz="1000" dirty="0"/>
          </a:p>
        </p:txBody>
      </p:sp>
      <p:sp>
        <p:nvSpPr>
          <p:cNvPr id="18" name="Text 16"/>
          <p:cNvSpPr/>
          <p:nvPr/>
        </p:nvSpPr>
        <p:spPr>
          <a:xfrm>
            <a:off x="2286000" y="3090672"/>
            <a:ext cx="594360" cy="256032"/>
          </a:xfrm>
          <a:prstGeom prst="rect">
            <a:avLst/>
          </a:prstGeom>
          <a:noFill/>
          <a:ln/>
        </p:spPr>
        <p:txBody>
          <a:bodyPr wrap="square" rtlCol="0" anchor="ctr"/>
          <a:lstStyle/>
          <a:p>
            <a:pPr indent="0" marL="0">
              <a:buNone/>
            </a:pPr>
            <a:r>
              <a:rPr lang="en-US" sz="1050" b="1" dirty="0">
                <a:solidFill>
                  <a:srgbClr val="3FB950"/>
                </a:solidFill>
              </a:rPr>
              <a:t>33.6%</a:t>
            </a:r>
            <a:endParaRPr lang="en-US" sz="1050" dirty="0"/>
          </a:p>
        </p:txBody>
      </p:sp>
      <p:sp>
        <p:nvSpPr>
          <p:cNvPr id="19" name="Shape 17"/>
          <p:cNvSpPr/>
          <p:nvPr/>
        </p:nvSpPr>
        <p:spPr>
          <a:xfrm>
            <a:off x="2926080" y="3154680"/>
            <a:ext cx="1088136" cy="128016"/>
          </a:xfrm>
          <a:prstGeom prst="rect">
            <a:avLst/>
          </a:prstGeom>
          <a:solidFill>
            <a:srgbClr val="3FB950"/>
          </a:solidFill>
          <a:ln w="12700">
            <a:solidFill>
              <a:srgbClr val="3FB950"/>
            </a:solidFill>
            <a:prstDash val="solid"/>
          </a:ln>
        </p:spPr>
      </p:sp>
      <p:sp>
        <p:nvSpPr>
          <p:cNvPr id="20" name="Text 18"/>
          <p:cNvSpPr/>
          <p:nvPr/>
        </p:nvSpPr>
        <p:spPr>
          <a:xfrm>
            <a:off x="457200" y="3529584"/>
            <a:ext cx="1417320" cy="256032"/>
          </a:xfrm>
          <a:prstGeom prst="rect">
            <a:avLst/>
          </a:prstGeom>
          <a:noFill/>
          <a:ln/>
        </p:spPr>
        <p:txBody>
          <a:bodyPr wrap="square" rtlCol="0" anchor="ctr"/>
          <a:lstStyle/>
          <a:p>
            <a:pPr indent="0" marL="0">
              <a:buNone/>
            </a:pPr>
            <a:r>
              <a:rPr lang="en-US" sz="1050" dirty="0">
                <a:solidFill>
                  <a:srgbClr val="E6EDF3"/>
                </a:solidFill>
              </a:rPr>
              <a:t>North</a:t>
            </a:r>
            <a:endParaRPr lang="en-US" sz="1050" dirty="0"/>
          </a:p>
        </p:txBody>
      </p:sp>
      <p:sp>
        <p:nvSpPr>
          <p:cNvPr id="21" name="Text 19"/>
          <p:cNvSpPr/>
          <p:nvPr/>
        </p:nvSpPr>
        <p:spPr>
          <a:xfrm>
            <a:off x="1874520" y="3529584"/>
            <a:ext cx="365760" cy="256032"/>
          </a:xfrm>
          <a:prstGeom prst="rect">
            <a:avLst/>
          </a:prstGeom>
          <a:noFill/>
          <a:ln/>
        </p:spPr>
        <p:txBody>
          <a:bodyPr wrap="square" rtlCol="0" anchor="ctr"/>
          <a:lstStyle/>
          <a:p>
            <a:pPr algn="ctr" indent="0" marL="0">
              <a:buNone/>
            </a:pPr>
            <a:r>
              <a:rPr lang="en-US" sz="1000" dirty="0">
                <a:solidFill>
                  <a:srgbClr val="8B949E"/>
                </a:solidFill>
              </a:rPr>
              <a:t>37</a:t>
            </a:r>
            <a:endParaRPr lang="en-US" sz="1000" dirty="0"/>
          </a:p>
        </p:txBody>
      </p:sp>
      <p:sp>
        <p:nvSpPr>
          <p:cNvPr id="22" name="Text 20"/>
          <p:cNvSpPr/>
          <p:nvPr/>
        </p:nvSpPr>
        <p:spPr>
          <a:xfrm>
            <a:off x="2286000" y="3529584"/>
            <a:ext cx="594360" cy="256032"/>
          </a:xfrm>
          <a:prstGeom prst="rect">
            <a:avLst/>
          </a:prstGeom>
          <a:noFill/>
          <a:ln/>
        </p:spPr>
        <p:txBody>
          <a:bodyPr wrap="square" rtlCol="0" anchor="ctr"/>
          <a:lstStyle/>
          <a:p>
            <a:pPr indent="0" marL="0">
              <a:buNone/>
            </a:pPr>
            <a:r>
              <a:rPr lang="en-US" sz="1050" b="1" dirty="0">
                <a:solidFill>
                  <a:srgbClr val="3FB950"/>
                </a:solidFill>
              </a:rPr>
              <a:t>33.18%</a:t>
            </a:r>
            <a:endParaRPr lang="en-US" sz="1050" dirty="0"/>
          </a:p>
        </p:txBody>
      </p:sp>
      <p:sp>
        <p:nvSpPr>
          <p:cNvPr id="23" name="Shape 21"/>
          <p:cNvSpPr/>
          <p:nvPr/>
        </p:nvSpPr>
        <p:spPr>
          <a:xfrm>
            <a:off x="2926080" y="3593592"/>
            <a:ext cx="1069848" cy="128016"/>
          </a:xfrm>
          <a:prstGeom prst="rect">
            <a:avLst/>
          </a:prstGeom>
          <a:solidFill>
            <a:srgbClr val="3FB950"/>
          </a:solidFill>
          <a:ln w="12700">
            <a:solidFill>
              <a:srgbClr val="3FB950"/>
            </a:solidFill>
            <a:prstDash val="solid"/>
          </a:ln>
        </p:spPr>
      </p:sp>
      <p:sp>
        <p:nvSpPr>
          <p:cNvPr id="24" name="Text 22"/>
          <p:cNvSpPr/>
          <p:nvPr/>
        </p:nvSpPr>
        <p:spPr>
          <a:xfrm>
            <a:off x="457200" y="3968496"/>
            <a:ext cx="1417320" cy="256032"/>
          </a:xfrm>
          <a:prstGeom prst="rect">
            <a:avLst/>
          </a:prstGeom>
          <a:noFill/>
          <a:ln/>
        </p:spPr>
        <p:txBody>
          <a:bodyPr wrap="square" rtlCol="0" anchor="ctr"/>
          <a:lstStyle/>
          <a:p>
            <a:pPr indent="0" marL="0">
              <a:buNone/>
            </a:pPr>
            <a:r>
              <a:rPr lang="en-US" sz="1050" dirty="0">
                <a:solidFill>
                  <a:srgbClr val="E6EDF3"/>
                </a:solidFill>
              </a:rPr>
              <a:t>Delta</a:t>
            </a:r>
            <a:endParaRPr lang="en-US" sz="1050" dirty="0"/>
          </a:p>
        </p:txBody>
      </p:sp>
      <p:sp>
        <p:nvSpPr>
          <p:cNvPr id="25" name="Text 23"/>
          <p:cNvSpPr/>
          <p:nvPr/>
        </p:nvSpPr>
        <p:spPr>
          <a:xfrm>
            <a:off x="1874520" y="3968496"/>
            <a:ext cx="365760" cy="256032"/>
          </a:xfrm>
          <a:prstGeom prst="rect">
            <a:avLst/>
          </a:prstGeom>
          <a:noFill/>
          <a:ln/>
        </p:spPr>
        <p:txBody>
          <a:bodyPr wrap="square" rtlCol="0" anchor="ctr"/>
          <a:lstStyle/>
          <a:p>
            <a:pPr algn="ctr" indent="0" marL="0">
              <a:buNone/>
            </a:pPr>
            <a:r>
              <a:rPr lang="en-US" sz="1000" dirty="0">
                <a:solidFill>
                  <a:srgbClr val="8B949E"/>
                </a:solidFill>
              </a:rPr>
              <a:t>33</a:t>
            </a:r>
            <a:endParaRPr lang="en-US" sz="1000" dirty="0"/>
          </a:p>
        </p:txBody>
      </p:sp>
      <p:sp>
        <p:nvSpPr>
          <p:cNvPr id="26" name="Text 24"/>
          <p:cNvSpPr/>
          <p:nvPr/>
        </p:nvSpPr>
        <p:spPr>
          <a:xfrm>
            <a:off x="2286000" y="3968496"/>
            <a:ext cx="594360" cy="256032"/>
          </a:xfrm>
          <a:prstGeom prst="rect">
            <a:avLst/>
          </a:prstGeom>
          <a:noFill/>
          <a:ln/>
        </p:spPr>
        <p:txBody>
          <a:bodyPr wrap="square" rtlCol="0" anchor="ctr"/>
          <a:lstStyle/>
          <a:p>
            <a:pPr indent="0" marL="0">
              <a:buNone/>
            </a:pPr>
            <a:r>
              <a:rPr lang="en-US" sz="1050" b="1" dirty="0">
                <a:solidFill>
                  <a:srgbClr val="3FB950"/>
                </a:solidFill>
              </a:rPr>
              <a:t>33.01%</a:t>
            </a:r>
            <a:endParaRPr lang="en-US" sz="1050" dirty="0"/>
          </a:p>
        </p:txBody>
      </p:sp>
      <p:sp>
        <p:nvSpPr>
          <p:cNvPr id="27" name="Shape 25"/>
          <p:cNvSpPr/>
          <p:nvPr/>
        </p:nvSpPr>
        <p:spPr>
          <a:xfrm>
            <a:off x="2926080" y="4032504"/>
            <a:ext cx="1060704" cy="128016"/>
          </a:xfrm>
          <a:prstGeom prst="rect">
            <a:avLst/>
          </a:prstGeom>
          <a:solidFill>
            <a:srgbClr val="3FB950"/>
          </a:solidFill>
          <a:ln w="12700">
            <a:solidFill>
              <a:srgbClr val="3FB950"/>
            </a:solidFill>
            <a:prstDash val="solid"/>
          </a:ln>
        </p:spPr>
      </p:sp>
      <p:sp>
        <p:nvSpPr>
          <p:cNvPr id="28" name="Text 26"/>
          <p:cNvSpPr/>
          <p:nvPr/>
        </p:nvSpPr>
        <p:spPr>
          <a:xfrm>
            <a:off x="457200" y="4407408"/>
            <a:ext cx="1417320" cy="256032"/>
          </a:xfrm>
          <a:prstGeom prst="rect">
            <a:avLst/>
          </a:prstGeom>
          <a:noFill/>
          <a:ln/>
        </p:spPr>
        <p:txBody>
          <a:bodyPr wrap="square" rtlCol="0" anchor="ctr"/>
          <a:lstStyle/>
          <a:p>
            <a:pPr indent="0" marL="0">
              <a:buNone/>
            </a:pPr>
            <a:r>
              <a:rPr lang="en-US" sz="1050" dirty="0">
                <a:solidFill>
                  <a:srgbClr val="E6EDF3"/>
                </a:solidFill>
              </a:rPr>
              <a:t>Central</a:t>
            </a:r>
            <a:endParaRPr lang="en-US" sz="1050" dirty="0"/>
          </a:p>
        </p:txBody>
      </p:sp>
      <p:sp>
        <p:nvSpPr>
          <p:cNvPr id="29" name="Text 27"/>
          <p:cNvSpPr/>
          <p:nvPr/>
        </p:nvSpPr>
        <p:spPr>
          <a:xfrm>
            <a:off x="1874520" y="4407408"/>
            <a:ext cx="365760" cy="256032"/>
          </a:xfrm>
          <a:prstGeom prst="rect">
            <a:avLst/>
          </a:prstGeom>
          <a:noFill/>
          <a:ln/>
        </p:spPr>
        <p:txBody>
          <a:bodyPr wrap="square" rtlCol="0" anchor="ctr"/>
          <a:lstStyle/>
          <a:p>
            <a:pPr algn="ctr" indent="0" marL="0">
              <a:buNone/>
            </a:pPr>
            <a:r>
              <a:rPr lang="en-US" sz="1000" dirty="0">
                <a:solidFill>
                  <a:srgbClr val="8B949E"/>
                </a:solidFill>
              </a:rPr>
              <a:t>41</a:t>
            </a:r>
            <a:endParaRPr lang="en-US" sz="1000" dirty="0"/>
          </a:p>
        </p:txBody>
      </p:sp>
      <p:sp>
        <p:nvSpPr>
          <p:cNvPr id="30" name="Text 28"/>
          <p:cNvSpPr/>
          <p:nvPr/>
        </p:nvSpPr>
        <p:spPr>
          <a:xfrm>
            <a:off x="2286000" y="4407408"/>
            <a:ext cx="594360" cy="256032"/>
          </a:xfrm>
          <a:prstGeom prst="rect">
            <a:avLst/>
          </a:prstGeom>
          <a:noFill/>
          <a:ln/>
        </p:spPr>
        <p:txBody>
          <a:bodyPr wrap="square" rtlCol="0" anchor="ctr"/>
          <a:lstStyle/>
          <a:p>
            <a:pPr indent="0" marL="0">
              <a:buNone/>
            </a:pPr>
            <a:r>
              <a:rPr lang="en-US" sz="1050" b="1" dirty="0">
                <a:solidFill>
                  <a:srgbClr val="3FB950"/>
                </a:solidFill>
              </a:rPr>
              <a:t>31.42%</a:t>
            </a:r>
            <a:endParaRPr lang="en-US" sz="1050" dirty="0"/>
          </a:p>
        </p:txBody>
      </p:sp>
      <p:sp>
        <p:nvSpPr>
          <p:cNvPr id="31" name="Shape 29"/>
          <p:cNvSpPr/>
          <p:nvPr/>
        </p:nvSpPr>
        <p:spPr>
          <a:xfrm>
            <a:off x="2926080" y="4471416"/>
            <a:ext cx="1014984" cy="128016"/>
          </a:xfrm>
          <a:prstGeom prst="rect">
            <a:avLst/>
          </a:prstGeom>
          <a:solidFill>
            <a:srgbClr val="3FB950"/>
          </a:solidFill>
          <a:ln w="12700">
            <a:solidFill>
              <a:srgbClr val="3FB950"/>
            </a:solidFill>
            <a:prstDash val="solid"/>
          </a:ln>
        </p:spPr>
      </p:sp>
      <p:sp>
        <p:nvSpPr>
          <p:cNvPr id="32" name="Shape 30"/>
          <p:cNvSpPr/>
          <p:nvPr/>
        </p:nvSpPr>
        <p:spPr>
          <a:xfrm>
            <a:off x="4389120" y="1417320"/>
            <a:ext cx="4480560" cy="347472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33" name="Text 31"/>
          <p:cNvSpPr/>
          <p:nvPr/>
        </p:nvSpPr>
        <p:spPr>
          <a:xfrm>
            <a:off x="4572000" y="1508760"/>
            <a:ext cx="4114800" cy="256032"/>
          </a:xfrm>
          <a:prstGeom prst="rect">
            <a:avLst/>
          </a:prstGeom>
          <a:noFill/>
          <a:ln/>
        </p:spPr>
        <p:txBody>
          <a:bodyPr wrap="square" rtlCol="0" anchor="ctr"/>
          <a:lstStyle/>
          <a:p>
            <a:pPr indent="0" marL="0">
              <a:buNone/>
            </a:pPr>
            <a:r>
              <a:rPr lang="en-US" sz="900" b="1" spc="200" kern="0" dirty="0">
                <a:solidFill>
                  <a:srgbClr val="F5A623"/>
                </a:solidFill>
              </a:rPr>
              <a:t>REGIONAL INSIGHTS</a:t>
            </a:r>
            <a:endParaRPr lang="en-US" sz="900" dirty="0"/>
          </a:p>
        </p:txBody>
      </p:sp>
      <p:sp>
        <p:nvSpPr>
          <p:cNvPr id="34" name="Shape 32"/>
          <p:cNvSpPr/>
          <p:nvPr/>
        </p:nvSpPr>
        <p:spPr>
          <a:xfrm>
            <a:off x="4526280" y="1828800"/>
            <a:ext cx="54864" cy="502920"/>
          </a:xfrm>
          <a:prstGeom prst="rect">
            <a:avLst/>
          </a:prstGeom>
          <a:solidFill>
            <a:srgbClr val="3FB950"/>
          </a:solidFill>
          <a:ln w="12700">
            <a:solidFill>
              <a:srgbClr val="3FB950"/>
            </a:solidFill>
            <a:prstDash val="solid"/>
          </a:ln>
        </p:spPr>
      </p:sp>
      <p:sp>
        <p:nvSpPr>
          <p:cNvPr id="35" name="Text 33"/>
          <p:cNvSpPr/>
          <p:nvPr/>
        </p:nvSpPr>
        <p:spPr>
          <a:xfrm>
            <a:off x="4663440" y="1847088"/>
            <a:ext cx="4023360" cy="228600"/>
          </a:xfrm>
          <a:prstGeom prst="rect">
            <a:avLst/>
          </a:prstGeom>
          <a:noFill/>
          <a:ln/>
        </p:spPr>
        <p:txBody>
          <a:bodyPr wrap="square" rtlCol="0" anchor="ctr"/>
          <a:lstStyle/>
          <a:p>
            <a:pPr indent="0" marL="0">
              <a:buNone/>
            </a:pPr>
            <a:r>
              <a:rPr lang="en-US" sz="1100" b="1" dirty="0">
                <a:solidFill>
                  <a:srgbClr val="3FB950"/>
                </a:solidFill>
              </a:rPr>
              <a:t>Chennai Metro — TVK's stronghold</a:t>
            </a:r>
            <a:endParaRPr lang="en-US" sz="1100" dirty="0"/>
          </a:p>
        </p:txBody>
      </p:sp>
      <p:sp>
        <p:nvSpPr>
          <p:cNvPr id="36" name="Text 34"/>
          <p:cNvSpPr/>
          <p:nvPr/>
        </p:nvSpPr>
        <p:spPr>
          <a:xfrm>
            <a:off x="4663440" y="2075688"/>
            <a:ext cx="4023360" cy="292608"/>
          </a:xfrm>
          <a:prstGeom prst="rect">
            <a:avLst/>
          </a:prstGeom>
          <a:noFill/>
          <a:ln/>
        </p:spPr>
        <p:txBody>
          <a:bodyPr wrap="square" rtlCol="0" anchor="ctr"/>
          <a:lstStyle/>
          <a:p>
            <a:pPr indent="0" marL="0">
              <a:buNone/>
            </a:pPr>
            <a:r>
              <a:rPr lang="en-US" sz="1000" dirty="0">
                <a:solidFill>
                  <a:srgbClr val="8B949E"/>
                </a:solidFill>
              </a:rPr>
              <a:t>Highest TVK vote share at 46.69% across 32 constituencies. The urban vote swung hardest.</a:t>
            </a:r>
            <a:endParaRPr lang="en-US" sz="1000" dirty="0"/>
          </a:p>
        </p:txBody>
      </p:sp>
      <p:sp>
        <p:nvSpPr>
          <p:cNvPr id="37" name="Shape 35"/>
          <p:cNvSpPr/>
          <p:nvPr/>
        </p:nvSpPr>
        <p:spPr>
          <a:xfrm>
            <a:off x="4526280" y="2578608"/>
            <a:ext cx="54864" cy="502920"/>
          </a:xfrm>
          <a:prstGeom prst="rect">
            <a:avLst/>
          </a:prstGeom>
          <a:solidFill>
            <a:srgbClr val="F5A623"/>
          </a:solidFill>
          <a:ln w="12700">
            <a:solidFill>
              <a:srgbClr val="F5A623"/>
            </a:solidFill>
            <a:prstDash val="solid"/>
          </a:ln>
        </p:spPr>
      </p:sp>
      <p:sp>
        <p:nvSpPr>
          <p:cNvPr id="38" name="Text 36"/>
          <p:cNvSpPr/>
          <p:nvPr/>
        </p:nvSpPr>
        <p:spPr>
          <a:xfrm>
            <a:off x="4663440" y="2596896"/>
            <a:ext cx="4023360" cy="228600"/>
          </a:xfrm>
          <a:prstGeom prst="rect">
            <a:avLst/>
          </a:prstGeom>
          <a:noFill/>
          <a:ln/>
        </p:spPr>
        <p:txBody>
          <a:bodyPr wrap="square" rtlCol="0" anchor="ctr"/>
          <a:lstStyle/>
          <a:p>
            <a:pPr indent="0" marL="0">
              <a:buNone/>
            </a:pPr>
            <a:r>
              <a:rPr lang="en-US" sz="1100" b="1" dirty="0">
                <a:solidFill>
                  <a:srgbClr val="F5A623"/>
                </a:solidFill>
              </a:rPr>
              <a:t>Kongu — Surprise swing</a:t>
            </a:r>
            <a:endParaRPr lang="en-US" sz="1100" dirty="0"/>
          </a:p>
        </p:txBody>
      </p:sp>
      <p:sp>
        <p:nvSpPr>
          <p:cNvPr id="39" name="Text 37"/>
          <p:cNvSpPr/>
          <p:nvPr/>
        </p:nvSpPr>
        <p:spPr>
          <a:xfrm>
            <a:off x="4663440" y="2825496"/>
            <a:ext cx="4023360" cy="292608"/>
          </a:xfrm>
          <a:prstGeom prst="rect">
            <a:avLst/>
          </a:prstGeom>
          <a:noFill/>
          <a:ln/>
        </p:spPr>
        <p:txBody>
          <a:bodyPr wrap="square" rtlCol="0" anchor="ctr"/>
          <a:lstStyle/>
          <a:p>
            <a:pPr indent="0" marL="0">
              <a:buNone/>
            </a:pPr>
            <a:r>
              <a:rPr lang="en-US" sz="1000" dirty="0">
                <a:solidFill>
                  <a:srgbClr val="8B949E"/>
                </a:solidFill>
              </a:rPr>
              <a:t>Industrial heartland gave TVK 34.61%. AIADMK's traditional base eroded significantly here.</a:t>
            </a:r>
            <a:endParaRPr lang="en-US" sz="1000" dirty="0"/>
          </a:p>
        </p:txBody>
      </p:sp>
      <p:sp>
        <p:nvSpPr>
          <p:cNvPr id="40" name="Shape 38"/>
          <p:cNvSpPr/>
          <p:nvPr/>
        </p:nvSpPr>
        <p:spPr>
          <a:xfrm>
            <a:off x="4526280" y="3328416"/>
            <a:ext cx="54864" cy="502920"/>
          </a:xfrm>
          <a:prstGeom prst="rect">
            <a:avLst/>
          </a:prstGeom>
          <a:solidFill>
            <a:srgbClr val="4D9DE0"/>
          </a:solidFill>
          <a:ln w="12700">
            <a:solidFill>
              <a:srgbClr val="4D9DE0"/>
            </a:solidFill>
            <a:prstDash val="solid"/>
          </a:ln>
        </p:spPr>
      </p:sp>
      <p:sp>
        <p:nvSpPr>
          <p:cNvPr id="41" name="Text 39"/>
          <p:cNvSpPr/>
          <p:nvPr/>
        </p:nvSpPr>
        <p:spPr>
          <a:xfrm>
            <a:off x="4663440" y="3346704"/>
            <a:ext cx="4023360" cy="228600"/>
          </a:xfrm>
          <a:prstGeom prst="rect">
            <a:avLst/>
          </a:prstGeom>
          <a:noFill/>
          <a:ln/>
        </p:spPr>
        <p:txBody>
          <a:bodyPr wrap="square" rtlCol="0" anchor="ctr"/>
          <a:lstStyle/>
          <a:p>
            <a:pPr indent="0" marL="0">
              <a:buNone/>
            </a:pPr>
            <a:r>
              <a:rPr lang="en-US" sz="1100" b="1" dirty="0">
                <a:solidFill>
                  <a:srgbClr val="4D9DE0"/>
                </a:solidFill>
              </a:rPr>
              <a:t>South — Most ACs, tight margin</a:t>
            </a:r>
            <a:endParaRPr lang="en-US" sz="1100" dirty="0"/>
          </a:p>
        </p:txBody>
      </p:sp>
      <p:sp>
        <p:nvSpPr>
          <p:cNvPr id="42" name="Text 40"/>
          <p:cNvSpPr/>
          <p:nvPr/>
        </p:nvSpPr>
        <p:spPr>
          <a:xfrm>
            <a:off x="4663440" y="3575304"/>
            <a:ext cx="4023360" cy="292608"/>
          </a:xfrm>
          <a:prstGeom prst="rect">
            <a:avLst/>
          </a:prstGeom>
          <a:noFill/>
          <a:ln/>
        </p:spPr>
        <p:txBody>
          <a:bodyPr wrap="square" rtlCol="0" anchor="ctr"/>
          <a:lstStyle/>
          <a:p>
            <a:pPr indent="0" marL="0">
              <a:buNone/>
            </a:pPr>
            <a:r>
              <a:rPr lang="en-US" sz="1000" dirty="0">
                <a:solidFill>
                  <a:srgbClr val="8B949E"/>
                </a:solidFill>
              </a:rPr>
              <a:t>58 ACs, but TVK at 33.60% — competitive three-way contest in every constituency.</a:t>
            </a:r>
            <a:endParaRPr lang="en-US" sz="1000" dirty="0"/>
          </a:p>
        </p:txBody>
      </p:sp>
      <p:sp>
        <p:nvSpPr>
          <p:cNvPr id="43" name="Shape 41"/>
          <p:cNvSpPr/>
          <p:nvPr/>
        </p:nvSpPr>
        <p:spPr>
          <a:xfrm>
            <a:off x="4526280" y="4078224"/>
            <a:ext cx="54864" cy="502920"/>
          </a:xfrm>
          <a:prstGeom prst="rect">
            <a:avLst/>
          </a:prstGeom>
          <a:solidFill>
            <a:srgbClr val="8B949E"/>
          </a:solidFill>
          <a:ln w="12700">
            <a:solidFill>
              <a:srgbClr val="8B949E"/>
            </a:solidFill>
            <a:prstDash val="solid"/>
          </a:ln>
        </p:spPr>
      </p:sp>
      <p:sp>
        <p:nvSpPr>
          <p:cNvPr id="44" name="Text 42"/>
          <p:cNvSpPr/>
          <p:nvPr/>
        </p:nvSpPr>
        <p:spPr>
          <a:xfrm>
            <a:off x="4663440" y="4096512"/>
            <a:ext cx="4023360" cy="228600"/>
          </a:xfrm>
          <a:prstGeom prst="rect">
            <a:avLst/>
          </a:prstGeom>
          <a:noFill/>
          <a:ln/>
        </p:spPr>
        <p:txBody>
          <a:bodyPr wrap="square" rtlCol="0" anchor="ctr"/>
          <a:lstStyle/>
          <a:p>
            <a:pPr indent="0" marL="0">
              <a:buNone/>
            </a:pPr>
            <a:r>
              <a:rPr lang="en-US" sz="1100" b="1" dirty="0">
                <a:solidFill>
                  <a:srgbClr val="8B949E"/>
                </a:solidFill>
              </a:rPr>
              <a:t>Central — TVK's weakest region</a:t>
            </a:r>
            <a:endParaRPr lang="en-US" sz="1100" dirty="0"/>
          </a:p>
        </p:txBody>
      </p:sp>
      <p:sp>
        <p:nvSpPr>
          <p:cNvPr id="45" name="Text 43"/>
          <p:cNvSpPr/>
          <p:nvPr/>
        </p:nvSpPr>
        <p:spPr>
          <a:xfrm>
            <a:off x="4663440" y="4325112"/>
            <a:ext cx="4023360" cy="292608"/>
          </a:xfrm>
          <a:prstGeom prst="rect">
            <a:avLst/>
          </a:prstGeom>
          <a:noFill/>
          <a:ln/>
        </p:spPr>
        <p:txBody>
          <a:bodyPr wrap="square" rtlCol="0" anchor="ctr"/>
          <a:lstStyle/>
          <a:p>
            <a:pPr indent="0" marL="0">
              <a:buNone/>
            </a:pPr>
            <a:r>
              <a:rPr lang="en-US" sz="1000" dirty="0">
                <a:solidFill>
                  <a:srgbClr val="8B949E"/>
                </a:solidFill>
              </a:rPr>
              <a:t>31.42% — still a strong debut but DMK retained more loyalty here than elsewhere.</a:t>
            </a:r>
            <a:endParaRPr lang="en-US" sz="1000" dirty="0"/>
          </a:p>
        </p:txBody>
      </p:sp>
      <p:sp>
        <p:nvSpPr>
          <p:cNvPr id="46" name="Shape 44"/>
          <p:cNvSpPr/>
          <p:nvPr/>
        </p:nvSpPr>
        <p:spPr>
          <a:xfrm>
            <a:off x="274320" y="4645152"/>
            <a:ext cx="8595360" cy="320040"/>
          </a:xfrm>
          <a:prstGeom prst="rect">
            <a:avLst/>
          </a:prstGeom>
          <a:solidFill>
            <a:srgbClr val="1A2A1A"/>
          </a:solidFill>
          <a:ln w="12700">
            <a:solidFill>
              <a:srgbClr val="3FB950"/>
            </a:solidFill>
            <a:prstDash val="solid"/>
          </a:ln>
        </p:spPr>
      </p:sp>
      <p:sp>
        <p:nvSpPr>
          <p:cNvPr id="47" name="Text 45"/>
          <p:cNvSpPr/>
          <p:nvPr/>
        </p:nvSpPr>
        <p:spPr>
          <a:xfrm>
            <a:off x="457200" y="4690872"/>
            <a:ext cx="8229600" cy="237744"/>
          </a:xfrm>
          <a:prstGeom prst="rect">
            <a:avLst/>
          </a:prstGeom>
          <a:noFill/>
          <a:ln/>
        </p:spPr>
        <p:txBody>
          <a:bodyPr wrap="square" rtlCol="0" anchor="ctr"/>
          <a:lstStyle/>
          <a:p>
            <a:pPr indent="0" marL="0">
              <a:buNone/>
            </a:pPr>
            <a:r>
              <a:rPr lang="en-US" sz="1050" dirty="0">
                <a:solidFill>
                  <a:srgbClr val="3FB950"/>
                </a:solidFill>
              </a:rPr>
              <a:t>KEY INSIGHT:  TVK's vote share rise was geographically universal — not driven by any single region or stronghold.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5486400" cy="228600"/>
          </a:xfrm>
          <a:prstGeom prst="rect">
            <a:avLst/>
          </a:prstGeom>
          <a:noFill/>
          <a:ln/>
        </p:spPr>
        <p:txBody>
          <a:bodyPr wrap="square" rtlCol="0" anchor="ctr"/>
          <a:lstStyle/>
          <a:p>
            <a:pPr indent="0" marL="0">
              <a:buNone/>
            </a:pPr>
            <a:r>
              <a:rPr lang="en-US" sz="900" b="1" spc="300" kern="0" dirty="0">
                <a:solidFill>
                  <a:srgbClr val="F85149"/>
                </a:solidFill>
              </a:rPr>
              <a:t>STORY 3  ·  THE MARGIN</a:t>
            </a:r>
            <a:endParaRPr lang="en-US" sz="900" dirty="0"/>
          </a:p>
        </p:txBody>
      </p:sp>
      <p:sp>
        <p:nvSpPr>
          <p:cNvPr id="3" name="Text 1"/>
          <p:cNvSpPr/>
          <p:nvPr/>
        </p:nvSpPr>
        <p:spPr>
          <a:xfrm>
            <a:off x="365760" y="457200"/>
            <a:ext cx="6400800" cy="914400"/>
          </a:xfrm>
          <a:prstGeom prst="rect">
            <a:avLst/>
          </a:prstGeom>
          <a:noFill/>
          <a:ln/>
        </p:spPr>
        <p:txBody>
          <a:bodyPr wrap="square" rtlCol="0" anchor="ctr"/>
          <a:lstStyle/>
          <a:p>
            <a:pPr indent="0" marL="0">
              <a:buNone/>
            </a:pPr>
            <a:r>
              <a:rPr lang="en-US" sz="3000" b="1" dirty="0">
                <a:solidFill>
                  <a:srgbClr val="FFFFFF"/>
                </a:solidFill>
              </a:rPr>
              <a:t>Closer Races,</a:t>
            </a:r>
            <a:endParaRPr lang="en-US" sz="3000" dirty="0"/>
          </a:p>
          <a:p>
            <a:pPr indent="0" marL="0">
              <a:buNone/>
            </a:pPr>
            <a:r>
              <a:rPr lang="en-US" sz="3000" b="1" dirty="0">
                <a:solidFill>
                  <a:srgbClr val="FFFFFF"/>
                </a:solidFill>
              </a:rPr>
              <a:t>Fragmented Mandate</a:t>
            </a:r>
            <a:endParaRPr lang="en-US" sz="3000" dirty="0"/>
          </a:p>
        </p:txBody>
      </p:sp>
      <p:sp>
        <p:nvSpPr>
          <p:cNvPr id="4" name="Text 2"/>
          <p:cNvSpPr/>
          <p:nvPr/>
        </p:nvSpPr>
        <p:spPr>
          <a:xfrm>
            <a:off x="365760" y="1417320"/>
            <a:ext cx="8412480" cy="411480"/>
          </a:xfrm>
          <a:prstGeom prst="rect">
            <a:avLst/>
          </a:prstGeom>
          <a:noFill/>
          <a:ln/>
        </p:spPr>
        <p:txBody>
          <a:bodyPr wrap="square" rtlCol="0" anchor="ctr"/>
          <a:lstStyle/>
          <a:p>
            <a:pPr indent="0" marL="0">
              <a:buNone/>
            </a:pPr>
            <a:r>
              <a:rPr lang="en-US" sz="1250" dirty="0">
                <a:solidFill>
                  <a:srgbClr val="8B949E"/>
                </a:solidFill>
              </a:rPr>
              <a:t>Average margin of victory fell from 25,365 votes in 2021 to 16,780 in 2026. Photo-finish seats (margin under 5,000) nearly doubled.</a:t>
            </a:r>
            <a:endParaRPr lang="en-US" sz="1250" dirty="0"/>
          </a:p>
        </p:txBody>
      </p:sp>
      <p:sp>
        <p:nvSpPr>
          <p:cNvPr id="5" name="Shape 3"/>
          <p:cNvSpPr/>
          <p:nvPr/>
        </p:nvSpPr>
        <p:spPr>
          <a:xfrm>
            <a:off x="274320" y="1920240"/>
            <a:ext cx="2011680" cy="160020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6" name="Shape 4"/>
          <p:cNvSpPr/>
          <p:nvPr/>
        </p:nvSpPr>
        <p:spPr>
          <a:xfrm>
            <a:off x="274320" y="1920240"/>
            <a:ext cx="2011680" cy="64008"/>
          </a:xfrm>
          <a:prstGeom prst="rect">
            <a:avLst/>
          </a:prstGeom>
          <a:solidFill>
            <a:srgbClr val="4D9DE0"/>
          </a:solidFill>
          <a:ln w="12700">
            <a:solidFill>
              <a:srgbClr val="4D9DE0"/>
            </a:solidFill>
            <a:prstDash val="solid"/>
          </a:ln>
        </p:spPr>
      </p:sp>
      <p:sp>
        <p:nvSpPr>
          <p:cNvPr id="7" name="Text 5"/>
          <p:cNvSpPr/>
          <p:nvPr/>
        </p:nvSpPr>
        <p:spPr>
          <a:xfrm>
            <a:off x="274320" y="2011680"/>
            <a:ext cx="2011680" cy="256032"/>
          </a:xfrm>
          <a:prstGeom prst="rect">
            <a:avLst/>
          </a:prstGeom>
          <a:noFill/>
          <a:ln/>
        </p:spPr>
        <p:txBody>
          <a:bodyPr wrap="square" rtlCol="0" anchor="ctr"/>
          <a:lstStyle/>
          <a:p>
            <a:pPr algn="ctr" indent="0" marL="0">
              <a:buNone/>
            </a:pPr>
            <a:r>
              <a:rPr lang="en-US" sz="850" b="1" spc="50" kern="0" dirty="0">
                <a:solidFill>
                  <a:srgbClr val="4D9DE0"/>
                </a:solidFill>
              </a:rPr>
              <a:t>AVG MARGIN 2026</a:t>
            </a:r>
            <a:endParaRPr lang="en-US" sz="850" dirty="0"/>
          </a:p>
        </p:txBody>
      </p:sp>
      <p:sp>
        <p:nvSpPr>
          <p:cNvPr id="8" name="Text 6"/>
          <p:cNvSpPr/>
          <p:nvPr/>
        </p:nvSpPr>
        <p:spPr>
          <a:xfrm>
            <a:off x="274320" y="2240280"/>
            <a:ext cx="2011680" cy="594360"/>
          </a:xfrm>
          <a:prstGeom prst="rect">
            <a:avLst/>
          </a:prstGeom>
          <a:noFill/>
          <a:ln/>
        </p:spPr>
        <p:txBody>
          <a:bodyPr wrap="square" rtlCol="0" anchor="ctr"/>
          <a:lstStyle/>
          <a:p>
            <a:pPr algn="ctr" indent="0" marL="0">
              <a:buNone/>
            </a:pPr>
            <a:r>
              <a:rPr lang="en-US" sz="3000" b="1" dirty="0">
                <a:solidFill>
                  <a:srgbClr val="FFFFFF"/>
                </a:solidFill>
              </a:rPr>
              <a:t>16.78K</a:t>
            </a:r>
            <a:endParaRPr lang="en-US" sz="3000" dirty="0"/>
          </a:p>
        </p:txBody>
      </p:sp>
      <p:sp>
        <p:nvSpPr>
          <p:cNvPr id="9" name="Text 7"/>
          <p:cNvSpPr/>
          <p:nvPr/>
        </p:nvSpPr>
        <p:spPr>
          <a:xfrm>
            <a:off x="274320" y="2816352"/>
            <a:ext cx="2011680" cy="256032"/>
          </a:xfrm>
          <a:prstGeom prst="rect">
            <a:avLst/>
          </a:prstGeom>
          <a:noFill/>
          <a:ln/>
        </p:spPr>
        <p:txBody>
          <a:bodyPr wrap="square" rtlCol="0" anchor="ctr"/>
          <a:lstStyle/>
          <a:p>
            <a:pPr algn="ctr" indent="0" marL="0">
              <a:buNone/>
            </a:pPr>
            <a:r>
              <a:rPr lang="en-US" sz="900" dirty="0">
                <a:solidFill>
                  <a:srgbClr val="8B949E"/>
                </a:solidFill>
              </a:rPr>
              <a:t>votes (2021: 25,365)</a:t>
            </a:r>
            <a:endParaRPr lang="en-US" sz="900" dirty="0"/>
          </a:p>
        </p:txBody>
      </p:sp>
      <p:sp>
        <p:nvSpPr>
          <p:cNvPr id="10" name="Text 8"/>
          <p:cNvSpPr/>
          <p:nvPr/>
        </p:nvSpPr>
        <p:spPr>
          <a:xfrm>
            <a:off x="274320" y="3090672"/>
            <a:ext cx="2011680" cy="320040"/>
          </a:xfrm>
          <a:prstGeom prst="rect">
            <a:avLst/>
          </a:prstGeom>
          <a:noFill/>
          <a:ln/>
        </p:spPr>
        <p:txBody>
          <a:bodyPr wrap="square" rtlCol="0" anchor="ctr"/>
          <a:lstStyle/>
          <a:p>
            <a:pPr algn="ctr" indent="0" marL="0">
              <a:buNone/>
            </a:pPr>
            <a:r>
              <a:rPr lang="en-US" sz="950" b="1" dirty="0">
                <a:solidFill>
                  <a:srgbClr val="F85149"/>
                </a:solidFill>
              </a:rPr>
              <a:t>▼ 8,581 votes narrower</a:t>
            </a:r>
            <a:endParaRPr lang="en-US" sz="950" dirty="0"/>
          </a:p>
        </p:txBody>
      </p:sp>
      <p:sp>
        <p:nvSpPr>
          <p:cNvPr id="11" name="Shape 9"/>
          <p:cNvSpPr/>
          <p:nvPr/>
        </p:nvSpPr>
        <p:spPr>
          <a:xfrm>
            <a:off x="2450592" y="1920240"/>
            <a:ext cx="2011680" cy="160020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2" name="Shape 10"/>
          <p:cNvSpPr/>
          <p:nvPr/>
        </p:nvSpPr>
        <p:spPr>
          <a:xfrm>
            <a:off x="2450592" y="1920240"/>
            <a:ext cx="2011680" cy="64008"/>
          </a:xfrm>
          <a:prstGeom prst="rect">
            <a:avLst/>
          </a:prstGeom>
          <a:solidFill>
            <a:srgbClr val="3FB950"/>
          </a:solidFill>
          <a:ln w="12700">
            <a:solidFill>
              <a:srgbClr val="3FB950"/>
            </a:solidFill>
            <a:prstDash val="solid"/>
          </a:ln>
        </p:spPr>
      </p:sp>
      <p:sp>
        <p:nvSpPr>
          <p:cNvPr id="13" name="Text 11"/>
          <p:cNvSpPr/>
          <p:nvPr/>
        </p:nvSpPr>
        <p:spPr>
          <a:xfrm>
            <a:off x="2450592" y="2011680"/>
            <a:ext cx="2011680" cy="256032"/>
          </a:xfrm>
          <a:prstGeom prst="rect">
            <a:avLst/>
          </a:prstGeom>
          <a:noFill/>
          <a:ln/>
        </p:spPr>
        <p:txBody>
          <a:bodyPr wrap="square" rtlCol="0" anchor="ctr"/>
          <a:lstStyle/>
          <a:p>
            <a:pPr algn="ctr" indent="0" marL="0">
              <a:buNone/>
            </a:pPr>
            <a:r>
              <a:rPr lang="en-US" sz="850" b="1" spc="50" kern="0" dirty="0">
                <a:solidFill>
                  <a:srgbClr val="3FB950"/>
                </a:solidFill>
              </a:rPr>
              <a:t>WON WITH &gt;50%</a:t>
            </a:r>
            <a:endParaRPr lang="en-US" sz="850" dirty="0"/>
          </a:p>
        </p:txBody>
      </p:sp>
      <p:sp>
        <p:nvSpPr>
          <p:cNvPr id="14" name="Text 12"/>
          <p:cNvSpPr/>
          <p:nvPr/>
        </p:nvSpPr>
        <p:spPr>
          <a:xfrm>
            <a:off x="2450592" y="2240280"/>
            <a:ext cx="2011680" cy="594360"/>
          </a:xfrm>
          <a:prstGeom prst="rect">
            <a:avLst/>
          </a:prstGeom>
          <a:noFill/>
          <a:ln/>
        </p:spPr>
        <p:txBody>
          <a:bodyPr wrap="square" rtlCol="0" anchor="ctr"/>
          <a:lstStyle/>
          <a:p>
            <a:pPr algn="ctr" indent="0" marL="0">
              <a:buNone/>
            </a:pPr>
            <a:r>
              <a:rPr lang="en-US" sz="3000" b="1" dirty="0">
                <a:solidFill>
                  <a:srgbClr val="FFFFFF"/>
                </a:solidFill>
              </a:rPr>
              <a:t>13</a:t>
            </a:r>
            <a:endParaRPr lang="en-US" sz="3000" dirty="0"/>
          </a:p>
        </p:txBody>
      </p:sp>
      <p:sp>
        <p:nvSpPr>
          <p:cNvPr id="15" name="Text 13"/>
          <p:cNvSpPr/>
          <p:nvPr/>
        </p:nvSpPr>
        <p:spPr>
          <a:xfrm>
            <a:off x="2450592" y="2816352"/>
            <a:ext cx="2011680" cy="256032"/>
          </a:xfrm>
          <a:prstGeom prst="rect">
            <a:avLst/>
          </a:prstGeom>
          <a:noFill/>
          <a:ln/>
        </p:spPr>
        <p:txBody>
          <a:bodyPr wrap="square" rtlCol="0" anchor="ctr"/>
          <a:lstStyle/>
          <a:p>
            <a:pPr algn="ctr" indent="0" marL="0">
              <a:buNone/>
            </a:pPr>
            <a:r>
              <a:rPr lang="en-US" sz="900" dirty="0">
                <a:solidFill>
                  <a:srgbClr val="8B949E"/>
                </a:solidFill>
              </a:rPr>
              <a:t>ACs in 2026 (2021: 39)</a:t>
            </a:r>
            <a:endParaRPr lang="en-US" sz="900" dirty="0"/>
          </a:p>
        </p:txBody>
      </p:sp>
      <p:sp>
        <p:nvSpPr>
          <p:cNvPr id="16" name="Text 14"/>
          <p:cNvSpPr/>
          <p:nvPr/>
        </p:nvSpPr>
        <p:spPr>
          <a:xfrm>
            <a:off x="2450592" y="3090672"/>
            <a:ext cx="2011680" cy="320040"/>
          </a:xfrm>
          <a:prstGeom prst="rect">
            <a:avLst/>
          </a:prstGeom>
          <a:noFill/>
          <a:ln/>
        </p:spPr>
        <p:txBody>
          <a:bodyPr wrap="square" rtlCol="0" anchor="ctr"/>
          <a:lstStyle/>
          <a:p>
            <a:pPr algn="ctr" indent="0" marL="0">
              <a:buNone/>
            </a:pPr>
            <a:r>
              <a:rPr lang="en-US" sz="950" b="1" dirty="0">
                <a:solidFill>
                  <a:srgbClr val="F85149"/>
                </a:solidFill>
              </a:rPr>
              <a:t>▼ 26 fewer dominant wins</a:t>
            </a:r>
            <a:endParaRPr lang="en-US" sz="950" dirty="0"/>
          </a:p>
        </p:txBody>
      </p:sp>
      <p:sp>
        <p:nvSpPr>
          <p:cNvPr id="17" name="Shape 15"/>
          <p:cNvSpPr/>
          <p:nvPr/>
        </p:nvSpPr>
        <p:spPr>
          <a:xfrm>
            <a:off x="4626864" y="1920240"/>
            <a:ext cx="2011680" cy="160020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8" name="Shape 16"/>
          <p:cNvSpPr/>
          <p:nvPr/>
        </p:nvSpPr>
        <p:spPr>
          <a:xfrm>
            <a:off x="4626864" y="1920240"/>
            <a:ext cx="2011680" cy="64008"/>
          </a:xfrm>
          <a:prstGeom prst="rect">
            <a:avLst/>
          </a:prstGeom>
          <a:solidFill>
            <a:srgbClr val="F5A623"/>
          </a:solidFill>
          <a:ln w="12700">
            <a:solidFill>
              <a:srgbClr val="F5A623"/>
            </a:solidFill>
            <a:prstDash val="solid"/>
          </a:ln>
        </p:spPr>
      </p:sp>
      <p:sp>
        <p:nvSpPr>
          <p:cNvPr id="19" name="Text 17"/>
          <p:cNvSpPr/>
          <p:nvPr/>
        </p:nvSpPr>
        <p:spPr>
          <a:xfrm>
            <a:off x="4626864" y="2011680"/>
            <a:ext cx="2011680" cy="256032"/>
          </a:xfrm>
          <a:prstGeom prst="rect">
            <a:avLst/>
          </a:prstGeom>
          <a:noFill/>
          <a:ln/>
        </p:spPr>
        <p:txBody>
          <a:bodyPr wrap="square" rtlCol="0" anchor="ctr"/>
          <a:lstStyle/>
          <a:p>
            <a:pPr algn="ctr" indent="0" marL="0">
              <a:buNone/>
            </a:pPr>
            <a:r>
              <a:rPr lang="en-US" sz="850" b="1" spc="50" kern="0" dirty="0">
                <a:solidFill>
                  <a:srgbClr val="F5A623"/>
                </a:solidFill>
              </a:rPr>
              <a:t>WON WITH &lt;35%</a:t>
            </a:r>
            <a:endParaRPr lang="en-US" sz="850" dirty="0"/>
          </a:p>
        </p:txBody>
      </p:sp>
      <p:sp>
        <p:nvSpPr>
          <p:cNvPr id="20" name="Text 18"/>
          <p:cNvSpPr/>
          <p:nvPr/>
        </p:nvSpPr>
        <p:spPr>
          <a:xfrm>
            <a:off x="4626864" y="2240280"/>
            <a:ext cx="2011680" cy="594360"/>
          </a:xfrm>
          <a:prstGeom prst="rect">
            <a:avLst/>
          </a:prstGeom>
          <a:noFill/>
          <a:ln/>
        </p:spPr>
        <p:txBody>
          <a:bodyPr wrap="square" rtlCol="0" anchor="ctr"/>
          <a:lstStyle/>
          <a:p>
            <a:pPr algn="ctr" indent="0" marL="0">
              <a:buNone/>
            </a:pPr>
            <a:r>
              <a:rPr lang="en-US" sz="3000" b="1" dirty="0">
                <a:solidFill>
                  <a:srgbClr val="FFFFFF"/>
                </a:solidFill>
              </a:rPr>
              <a:t>64</a:t>
            </a:r>
            <a:endParaRPr lang="en-US" sz="3000" dirty="0"/>
          </a:p>
        </p:txBody>
      </p:sp>
      <p:sp>
        <p:nvSpPr>
          <p:cNvPr id="21" name="Text 19"/>
          <p:cNvSpPr/>
          <p:nvPr/>
        </p:nvSpPr>
        <p:spPr>
          <a:xfrm>
            <a:off x="4626864" y="2816352"/>
            <a:ext cx="2011680" cy="256032"/>
          </a:xfrm>
          <a:prstGeom prst="rect">
            <a:avLst/>
          </a:prstGeom>
          <a:noFill/>
          <a:ln/>
        </p:spPr>
        <p:txBody>
          <a:bodyPr wrap="square" rtlCol="0" anchor="ctr"/>
          <a:lstStyle/>
          <a:p>
            <a:pPr algn="ctr" indent="0" marL="0">
              <a:buNone/>
            </a:pPr>
            <a:r>
              <a:rPr lang="en-US" sz="900" dirty="0">
                <a:solidFill>
                  <a:srgbClr val="8B949E"/>
                </a:solidFill>
              </a:rPr>
              <a:t>ACs in 2026 (2021: 5)</a:t>
            </a:r>
            <a:endParaRPr lang="en-US" sz="900" dirty="0"/>
          </a:p>
        </p:txBody>
      </p:sp>
      <p:sp>
        <p:nvSpPr>
          <p:cNvPr id="22" name="Text 20"/>
          <p:cNvSpPr/>
          <p:nvPr/>
        </p:nvSpPr>
        <p:spPr>
          <a:xfrm>
            <a:off x="4626864" y="3090672"/>
            <a:ext cx="2011680" cy="320040"/>
          </a:xfrm>
          <a:prstGeom prst="rect">
            <a:avLst/>
          </a:prstGeom>
          <a:noFill/>
          <a:ln/>
        </p:spPr>
        <p:txBody>
          <a:bodyPr wrap="square" rtlCol="0" anchor="ctr"/>
          <a:lstStyle/>
          <a:p>
            <a:pPr algn="ctr" indent="0" marL="0">
              <a:buNone/>
            </a:pPr>
            <a:r>
              <a:rPr lang="en-US" sz="950" b="1" dirty="0">
                <a:solidFill>
                  <a:srgbClr val="F85149"/>
                </a:solidFill>
              </a:rPr>
              <a:t>▼ Fragmented ×12.8</a:t>
            </a:r>
            <a:endParaRPr lang="en-US" sz="950" dirty="0"/>
          </a:p>
        </p:txBody>
      </p:sp>
      <p:sp>
        <p:nvSpPr>
          <p:cNvPr id="23" name="Shape 21"/>
          <p:cNvSpPr/>
          <p:nvPr/>
        </p:nvSpPr>
        <p:spPr>
          <a:xfrm>
            <a:off x="6803136" y="1920240"/>
            <a:ext cx="2011680" cy="160020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24" name="Shape 22"/>
          <p:cNvSpPr/>
          <p:nvPr/>
        </p:nvSpPr>
        <p:spPr>
          <a:xfrm>
            <a:off x="6803136" y="1920240"/>
            <a:ext cx="2011680" cy="64008"/>
          </a:xfrm>
          <a:prstGeom prst="rect">
            <a:avLst/>
          </a:prstGeom>
          <a:solidFill>
            <a:srgbClr val="F85149"/>
          </a:solidFill>
          <a:ln w="12700">
            <a:solidFill>
              <a:srgbClr val="F85149"/>
            </a:solidFill>
            <a:prstDash val="solid"/>
          </a:ln>
        </p:spPr>
      </p:sp>
      <p:sp>
        <p:nvSpPr>
          <p:cNvPr id="25" name="Text 23"/>
          <p:cNvSpPr/>
          <p:nvPr/>
        </p:nvSpPr>
        <p:spPr>
          <a:xfrm>
            <a:off x="6803136" y="2011680"/>
            <a:ext cx="2011680" cy="256032"/>
          </a:xfrm>
          <a:prstGeom prst="rect">
            <a:avLst/>
          </a:prstGeom>
          <a:noFill/>
          <a:ln/>
        </p:spPr>
        <p:txBody>
          <a:bodyPr wrap="square" rtlCol="0" anchor="ctr"/>
          <a:lstStyle/>
          <a:p>
            <a:pPr algn="ctr" indent="0" marL="0">
              <a:buNone/>
            </a:pPr>
            <a:r>
              <a:rPr lang="en-US" sz="850" b="1" spc="50" kern="0" dirty="0">
                <a:solidFill>
                  <a:srgbClr val="F85149"/>
                </a:solidFill>
              </a:rPr>
              <a:t>PHOTO-FINISH &lt;5K</a:t>
            </a:r>
            <a:endParaRPr lang="en-US" sz="850" dirty="0"/>
          </a:p>
        </p:txBody>
      </p:sp>
      <p:sp>
        <p:nvSpPr>
          <p:cNvPr id="26" name="Text 24"/>
          <p:cNvSpPr/>
          <p:nvPr/>
        </p:nvSpPr>
        <p:spPr>
          <a:xfrm>
            <a:off x="6803136" y="2240280"/>
            <a:ext cx="2011680" cy="594360"/>
          </a:xfrm>
          <a:prstGeom prst="rect">
            <a:avLst/>
          </a:prstGeom>
          <a:noFill/>
          <a:ln/>
        </p:spPr>
        <p:txBody>
          <a:bodyPr wrap="square" rtlCol="0" anchor="ctr"/>
          <a:lstStyle/>
          <a:p>
            <a:pPr algn="ctr" indent="0" marL="0">
              <a:buNone/>
            </a:pPr>
            <a:r>
              <a:rPr lang="en-US" sz="3000" b="1" dirty="0">
                <a:solidFill>
                  <a:srgbClr val="FFFFFF"/>
                </a:solidFill>
              </a:rPr>
              <a:t>61</a:t>
            </a:r>
            <a:endParaRPr lang="en-US" sz="3000" dirty="0"/>
          </a:p>
        </p:txBody>
      </p:sp>
      <p:sp>
        <p:nvSpPr>
          <p:cNvPr id="27" name="Text 25"/>
          <p:cNvSpPr/>
          <p:nvPr/>
        </p:nvSpPr>
        <p:spPr>
          <a:xfrm>
            <a:off x="6803136" y="2816352"/>
            <a:ext cx="2011680" cy="256032"/>
          </a:xfrm>
          <a:prstGeom prst="rect">
            <a:avLst/>
          </a:prstGeom>
          <a:noFill/>
          <a:ln/>
        </p:spPr>
        <p:txBody>
          <a:bodyPr wrap="square" rtlCol="0" anchor="ctr"/>
          <a:lstStyle/>
          <a:p>
            <a:pPr algn="ctr" indent="0" marL="0">
              <a:buNone/>
            </a:pPr>
            <a:r>
              <a:rPr lang="en-US" sz="900" dirty="0">
                <a:solidFill>
                  <a:srgbClr val="8B949E"/>
                </a:solidFill>
              </a:rPr>
              <a:t>ACs in 2026 (2021: 23)</a:t>
            </a:r>
            <a:endParaRPr lang="en-US" sz="900" dirty="0"/>
          </a:p>
        </p:txBody>
      </p:sp>
      <p:sp>
        <p:nvSpPr>
          <p:cNvPr id="28" name="Text 26"/>
          <p:cNvSpPr/>
          <p:nvPr/>
        </p:nvSpPr>
        <p:spPr>
          <a:xfrm>
            <a:off x="6803136" y="3090672"/>
            <a:ext cx="2011680" cy="320040"/>
          </a:xfrm>
          <a:prstGeom prst="rect">
            <a:avLst/>
          </a:prstGeom>
          <a:noFill/>
          <a:ln/>
        </p:spPr>
        <p:txBody>
          <a:bodyPr wrap="square" rtlCol="0" anchor="ctr"/>
          <a:lstStyle/>
          <a:p>
            <a:pPr algn="ctr" indent="0" marL="0">
              <a:buNone/>
            </a:pPr>
            <a:r>
              <a:rPr lang="en-US" sz="950" b="1" dirty="0">
                <a:solidFill>
                  <a:srgbClr val="F85149"/>
                </a:solidFill>
              </a:rPr>
              <a:t>▼ Doubled from 2021</a:t>
            </a:r>
            <a:endParaRPr lang="en-US" sz="950" dirty="0"/>
          </a:p>
        </p:txBody>
      </p:sp>
      <p:sp>
        <p:nvSpPr>
          <p:cNvPr id="29" name="Shape 27"/>
          <p:cNvSpPr/>
          <p:nvPr/>
        </p:nvSpPr>
        <p:spPr>
          <a:xfrm>
            <a:off x="274320" y="3703320"/>
            <a:ext cx="8595360" cy="1188720"/>
          </a:xfrm>
          <a:prstGeom prst="rect">
            <a:avLst/>
          </a:prstGeom>
          <a:solidFill>
            <a:srgbClr val="161B22"/>
          </a:solidFill>
          <a:ln w="12700">
            <a:solidFill>
              <a:srgbClr val="21262D"/>
            </a:solidFill>
            <a:prstDash val="solid"/>
          </a:ln>
        </p:spPr>
      </p:sp>
      <p:sp>
        <p:nvSpPr>
          <p:cNvPr id="30" name="Text 28"/>
          <p:cNvSpPr/>
          <p:nvPr/>
        </p:nvSpPr>
        <p:spPr>
          <a:xfrm>
            <a:off x="457200" y="3767328"/>
            <a:ext cx="4572000" cy="256032"/>
          </a:xfrm>
          <a:prstGeom prst="rect">
            <a:avLst/>
          </a:prstGeom>
          <a:noFill/>
          <a:ln/>
        </p:spPr>
        <p:txBody>
          <a:bodyPr wrap="square" rtlCol="0" anchor="ctr"/>
          <a:lstStyle/>
          <a:p>
            <a:pPr indent="0" marL="0">
              <a:buNone/>
            </a:pPr>
            <a:r>
              <a:rPr lang="en-US" sz="900" b="1" spc="200" kern="0" dirty="0">
                <a:solidFill>
                  <a:srgbClr val="F85149"/>
                </a:solidFill>
              </a:rPr>
              <a:t>MARGIN DISTRIBUTION — 2021 VS 2026</a:t>
            </a:r>
            <a:endParaRPr lang="en-US" sz="900" dirty="0"/>
          </a:p>
        </p:txBody>
      </p:sp>
      <p:sp>
        <p:nvSpPr>
          <p:cNvPr id="31" name="Text 29"/>
          <p:cNvSpPr/>
          <p:nvPr/>
        </p:nvSpPr>
        <p:spPr>
          <a:xfrm>
            <a:off x="457200" y="4005072"/>
            <a:ext cx="5486400" cy="274320"/>
          </a:xfrm>
          <a:prstGeom prst="rect">
            <a:avLst/>
          </a:prstGeom>
          <a:noFill/>
          <a:ln/>
        </p:spPr>
        <p:txBody>
          <a:bodyPr wrap="square" rtlCol="0" anchor="ctr"/>
          <a:lstStyle/>
          <a:p>
            <a:pPr indent="0" marL="0">
              <a:buNone/>
            </a:pPr>
            <a:r>
              <a:rPr lang="en-US" sz="1300" b="1" dirty="0">
                <a:solidFill>
                  <a:srgbClr val="FFFFFF"/>
                </a:solidFill>
              </a:rPr>
              <a:t>Races shifted left: more close wins, fewer landslides</a:t>
            </a:r>
            <a:endParaRPr lang="en-US" sz="1300" dirty="0"/>
          </a:p>
        </p:txBody>
      </p:sp>
      <p:sp>
        <p:nvSpPr>
          <p:cNvPr id="32" name="Shape 30"/>
          <p:cNvSpPr/>
          <p:nvPr/>
        </p:nvSpPr>
        <p:spPr>
          <a:xfrm>
            <a:off x="1097280" y="4631914"/>
            <a:ext cx="320040" cy="141254"/>
          </a:xfrm>
          <a:prstGeom prst="rect">
            <a:avLst/>
          </a:prstGeom>
          <a:solidFill>
            <a:srgbClr val="4A4F5A"/>
          </a:solidFill>
          <a:ln w="12700">
            <a:solidFill>
              <a:srgbClr val="4A4F5A"/>
            </a:solidFill>
            <a:prstDash val="solid"/>
          </a:ln>
        </p:spPr>
      </p:sp>
      <p:sp>
        <p:nvSpPr>
          <p:cNvPr id="33" name="Shape 31"/>
          <p:cNvSpPr/>
          <p:nvPr/>
        </p:nvSpPr>
        <p:spPr>
          <a:xfrm>
            <a:off x="1481328" y="4398537"/>
            <a:ext cx="320040" cy="374631"/>
          </a:xfrm>
          <a:prstGeom prst="rect">
            <a:avLst/>
          </a:prstGeom>
          <a:solidFill>
            <a:srgbClr val="F85149"/>
          </a:solidFill>
          <a:ln w="12700">
            <a:solidFill>
              <a:srgbClr val="F85149"/>
            </a:solidFill>
            <a:prstDash val="solid"/>
          </a:ln>
        </p:spPr>
      </p:sp>
      <p:sp>
        <p:nvSpPr>
          <p:cNvPr id="34" name="Text 32"/>
          <p:cNvSpPr/>
          <p:nvPr/>
        </p:nvSpPr>
        <p:spPr>
          <a:xfrm>
            <a:off x="1005840" y="4791456"/>
            <a:ext cx="1097280" cy="182880"/>
          </a:xfrm>
          <a:prstGeom prst="rect">
            <a:avLst/>
          </a:prstGeom>
          <a:noFill/>
          <a:ln/>
        </p:spPr>
        <p:txBody>
          <a:bodyPr wrap="square" rtlCol="0" anchor="ctr"/>
          <a:lstStyle/>
          <a:p>
            <a:pPr algn="ctr" indent="0" marL="0">
              <a:buNone/>
            </a:pPr>
            <a:r>
              <a:rPr lang="en-US" sz="900" dirty="0">
                <a:solidFill>
                  <a:srgbClr val="8B949E"/>
                </a:solidFill>
              </a:rPr>
              <a:t>0-5k</a:t>
            </a:r>
            <a:endParaRPr lang="en-US" sz="900" dirty="0"/>
          </a:p>
        </p:txBody>
      </p:sp>
      <p:sp>
        <p:nvSpPr>
          <p:cNvPr id="35" name="Shape 33"/>
          <p:cNvSpPr/>
          <p:nvPr/>
        </p:nvSpPr>
        <p:spPr>
          <a:xfrm>
            <a:off x="2670048" y="4619631"/>
            <a:ext cx="320040" cy="153537"/>
          </a:xfrm>
          <a:prstGeom prst="rect">
            <a:avLst/>
          </a:prstGeom>
          <a:solidFill>
            <a:srgbClr val="4A4F5A"/>
          </a:solidFill>
          <a:ln w="12700">
            <a:solidFill>
              <a:srgbClr val="4A4F5A"/>
            </a:solidFill>
            <a:prstDash val="solid"/>
          </a:ln>
        </p:spPr>
      </p:sp>
      <p:sp>
        <p:nvSpPr>
          <p:cNvPr id="36" name="Shape 34"/>
          <p:cNvSpPr/>
          <p:nvPr/>
        </p:nvSpPr>
        <p:spPr>
          <a:xfrm>
            <a:off x="3054096" y="4515225"/>
            <a:ext cx="320040" cy="257943"/>
          </a:xfrm>
          <a:prstGeom prst="rect">
            <a:avLst/>
          </a:prstGeom>
          <a:solidFill>
            <a:srgbClr val="F85149"/>
          </a:solidFill>
          <a:ln w="12700">
            <a:solidFill>
              <a:srgbClr val="F85149"/>
            </a:solidFill>
            <a:prstDash val="solid"/>
          </a:ln>
        </p:spPr>
      </p:sp>
      <p:sp>
        <p:nvSpPr>
          <p:cNvPr id="37" name="Text 35"/>
          <p:cNvSpPr/>
          <p:nvPr/>
        </p:nvSpPr>
        <p:spPr>
          <a:xfrm>
            <a:off x="2578608" y="4791456"/>
            <a:ext cx="1097280" cy="182880"/>
          </a:xfrm>
          <a:prstGeom prst="rect">
            <a:avLst/>
          </a:prstGeom>
          <a:noFill/>
          <a:ln/>
        </p:spPr>
        <p:txBody>
          <a:bodyPr wrap="square" rtlCol="0" anchor="ctr"/>
          <a:lstStyle/>
          <a:p>
            <a:pPr algn="ctr" indent="0" marL="0">
              <a:buNone/>
            </a:pPr>
            <a:r>
              <a:rPr lang="en-US" sz="900" dirty="0">
                <a:solidFill>
                  <a:srgbClr val="8B949E"/>
                </a:solidFill>
              </a:rPr>
              <a:t>5-10k</a:t>
            </a:r>
            <a:endParaRPr lang="en-US" sz="900" dirty="0"/>
          </a:p>
        </p:txBody>
      </p:sp>
      <p:sp>
        <p:nvSpPr>
          <p:cNvPr id="38" name="Shape 36"/>
          <p:cNvSpPr/>
          <p:nvPr/>
        </p:nvSpPr>
        <p:spPr>
          <a:xfrm>
            <a:off x="4242816" y="4386254"/>
            <a:ext cx="320040" cy="386914"/>
          </a:xfrm>
          <a:prstGeom prst="rect">
            <a:avLst/>
          </a:prstGeom>
          <a:solidFill>
            <a:srgbClr val="4A4F5A"/>
          </a:solidFill>
          <a:ln w="12700">
            <a:solidFill>
              <a:srgbClr val="4A4F5A"/>
            </a:solidFill>
            <a:prstDash val="solid"/>
          </a:ln>
        </p:spPr>
      </p:sp>
      <p:sp>
        <p:nvSpPr>
          <p:cNvPr id="39" name="Shape 37"/>
          <p:cNvSpPr/>
          <p:nvPr/>
        </p:nvSpPr>
        <p:spPr>
          <a:xfrm>
            <a:off x="4626864" y="4367829"/>
            <a:ext cx="320040" cy="405339"/>
          </a:xfrm>
          <a:prstGeom prst="rect">
            <a:avLst/>
          </a:prstGeom>
          <a:solidFill>
            <a:srgbClr val="F85149"/>
          </a:solidFill>
          <a:ln w="12700">
            <a:solidFill>
              <a:srgbClr val="F85149"/>
            </a:solidFill>
            <a:prstDash val="solid"/>
          </a:ln>
        </p:spPr>
      </p:sp>
      <p:sp>
        <p:nvSpPr>
          <p:cNvPr id="40" name="Text 38"/>
          <p:cNvSpPr/>
          <p:nvPr/>
        </p:nvSpPr>
        <p:spPr>
          <a:xfrm>
            <a:off x="4151376" y="4791456"/>
            <a:ext cx="1097280" cy="182880"/>
          </a:xfrm>
          <a:prstGeom prst="rect">
            <a:avLst/>
          </a:prstGeom>
          <a:noFill/>
          <a:ln/>
        </p:spPr>
        <p:txBody>
          <a:bodyPr wrap="square" rtlCol="0" anchor="ctr"/>
          <a:lstStyle/>
          <a:p>
            <a:pPr algn="ctr" indent="0" marL="0">
              <a:buNone/>
            </a:pPr>
            <a:r>
              <a:rPr lang="en-US" sz="900" dirty="0">
                <a:solidFill>
                  <a:srgbClr val="8B949E"/>
                </a:solidFill>
              </a:rPr>
              <a:t>10-20k</a:t>
            </a:r>
            <a:endParaRPr lang="en-US" sz="900" dirty="0"/>
          </a:p>
        </p:txBody>
      </p:sp>
      <p:sp>
        <p:nvSpPr>
          <p:cNvPr id="41" name="Shape 39"/>
          <p:cNvSpPr/>
          <p:nvPr/>
        </p:nvSpPr>
        <p:spPr>
          <a:xfrm>
            <a:off x="5815584" y="4429244"/>
            <a:ext cx="320040" cy="343924"/>
          </a:xfrm>
          <a:prstGeom prst="rect">
            <a:avLst/>
          </a:prstGeom>
          <a:solidFill>
            <a:srgbClr val="4A4F5A"/>
          </a:solidFill>
          <a:ln w="12700">
            <a:solidFill>
              <a:srgbClr val="4A4F5A"/>
            </a:solidFill>
            <a:prstDash val="solid"/>
          </a:ln>
        </p:spPr>
      </p:sp>
      <p:sp>
        <p:nvSpPr>
          <p:cNvPr id="42" name="Shape 40"/>
          <p:cNvSpPr/>
          <p:nvPr/>
        </p:nvSpPr>
        <p:spPr>
          <a:xfrm>
            <a:off x="6199632" y="4613489"/>
            <a:ext cx="320040" cy="159679"/>
          </a:xfrm>
          <a:prstGeom prst="rect">
            <a:avLst/>
          </a:prstGeom>
          <a:solidFill>
            <a:srgbClr val="F85149"/>
          </a:solidFill>
          <a:ln w="12700">
            <a:solidFill>
              <a:srgbClr val="F85149"/>
            </a:solidFill>
            <a:prstDash val="solid"/>
          </a:ln>
        </p:spPr>
      </p:sp>
      <p:sp>
        <p:nvSpPr>
          <p:cNvPr id="43" name="Text 41"/>
          <p:cNvSpPr/>
          <p:nvPr/>
        </p:nvSpPr>
        <p:spPr>
          <a:xfrm>
            <a:off x="5724144" y="4791456"/>
            <a:ext cx="1097280" cy="182880"/>
          </a:xfrm>
          <a:prstGeom prst="rect">
            <a:avLst/>
          </a:prstGeom>
          <a:noFill/>
          <a:ln/>
        </p:spPr>
        <p:txBody>
          <a:bodyPr wrap="square" rtlCol="0" anchor="ctr"/>
          <a:lstStyle/>
          <a:p>
            <a:pPr algn="ctr" indent="0" marL="0">
              <a:buNone/>
            </a:pPr>
            <a:r>
              <a:rPr lang="en-US" sz="900" dirty="0">
                <a:solidFill>
                  <a:srgbClr val="8B949E"/>
                </a:solidFill>
              </a:rPr>
              <a:t>20-30k</a:t>
            </a:r>
            <a:endParaRPr lang="en-US" sz="900" dirty="0"/>
          </a:p>
        </p:txBody>
      </p:sp>
      <p:sp>
        <p:nvSpPr>
          <p:cNvPr id="44" name="Shape 42"/>
          <p:cNvSpPr/>
          <p:nvPr/>
        </p:nvSpPr>
        <p:spPr>
          <a:xfrm>
            <a:off x="7388352" y="4361688"/>
            <a:ext cx="320040" cy="411480"/>
          </a:xfrm>
          <a:prstGeom prst="rect">
            <a:avLst/>
          </a:prstGeom>
          <a:solidFill>
            <a:srgbClr val="4A4F5A"/>
          </a:solidFill>
          <a:ln w="12700">
            <a:solidFill>
              <a:srgbClr val="4A4F5A"/>
            </a:solidFill>
            <a:prstDash val="solid"/>
          </a:ln>
        </p:spPr>
      </p:sp>
      <p:sp>
        <p:nvSpPr>
          <p:cNvPr id="45" name="Shape 43"/>
          <p:cNvSpPr/>
          <p:nvPr/>
        </p:nvSpPr>
        <p:spPr>
          <a:xfrm>
            <a:off x="7772400" y="4533650"/>
            <a:ext cx="320040" cy="239518"/>
          </a:xfrm>
          <a:prstGeom prst="rect">
            <a:avLst/>
          </a:prstGeom>
          <a:solidFill>
            <a:srgbClr val="F85149"/>
          </a:solidFill>
          <a:ln w="12700">
            <a:solidFill>
              <a:srgbClr val="F85149"/>
            </a:solidFill>
            <a:prstDash val="solid"/>
          </a:ln>
        </p:spPr>
      </p:sp>
      <p:sp>
        <p:nvSpPr>
          <p:cNvPr id="46" name="Text 44"/>
          <p:cNvSpPr/>
          <p:nvPr/>
        </p:nvSpPr>
        <p:spPr>
          <a:xfrm>
            <a:off x="7296912" y="4791456"/>
            <a:ext cx="1097280" cy="182880"/>
          </a:xfrm>
          <a:prstGeom prst="rect">
            <a:avLst/>
          </a:prstGeom>
          <a:noFill/>
          <a:ln/>
        </p:spPr>
        <p:txBody>
          <a:bodyPr wrap="square" rtlCol="0" anchor="ctr"/>
          <a:lstStyle/>
          <a:p>
            <a:pPr algn="ctr" indent="0" marL="0">
              <a:buNone/>
            </a:pPr>
            <a:r>
              <a:rPr lang="en-US" sz="900" dirty="0">
                <a:solidFill>
                  <a:srgbClr val="8B949E"/>
                </a:solidFill>
              </a:rPr>
              <a:t>30k+</a:t>
            </a:r>
            <a:endParaRPr lang="en-US" sz="900" dirty="0"/>
          </a:p>
        </p:txBody>
      </p:sp>
      <p:sp>
        <p:nvSpPr>
          <p:cNvPr id="47" name="Text 45"/>
          <p:cNvSpPr/>
          <p:nvPr/>
        </p:nvSpPr>
        <p:spPr>
          <a:xfrm>
            <a:off x="6858000" y="4023360"/>
            <a:ext cx="1828800" cy="201168"/>
          </a:xfrm>
          <a:prstGeom prst="rect">
            <a:avLst/>
          </a:prstGeom>
          <a:noFill/>
          <a:ln/>
        </p:spPr>
        <p:txBody>
          <a:bodyPr wrap="square" rtlCol="0" anchor="ctr"/>
          <a:lstStyle/>
          <a:p>
            <a:pPr indent="0" marL="0">
              <a:buNone/>
            </a:pPr>
            <a:r>
              <a:rPr lang="en-US" sz="900" dirty="0">
                <a:solidFill>
                  <a:srgbClr val="8B949E"/>
                </a:solidFill>
              </a:rPr>
              <a:t>■ 2021  ■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365760" y="228600"/>
            <a:ext cx="5486400" cy="228600"/>
          </a:xfrm>
          <a:prstGeom prst="rect">
            <a:avLst/>
          </a:prstGeom>
          <a:noFill/>
          <a:ln/>
        </p:spPr>
        <p:txBody>
          <a:bodyPr wrap="square" rtlCol="0" anchor="ctr"/>
          <a:lstStyle/>
          <a:p>
            <a:pPr indent="0" marL="0">
              <a:buNone/>
            </a:pPr>
            <a:r>
              <a:rPr lang="en-US" sz="900" b="1" spc="300" kern="0" dirty="0">
                <a:solidFill>
                  <a:srgbClr val="F85149"/>
                </a:solidFill>
              </a:rPr>
              <a:t>STORY 3  ·  THE MARGIN</a:t>
            </a:r>
            <a:endParaRPr lang="en-US" sz="900" dirty="0"/>
          </a:p>
        </p:txBody>
      </p:sp>
      <p:sp>
        <p:nvSpPr>
          <p:cNvPr id="3" name="Text 1"/>
          <p:cNvSpPr/>
          <p:nvPr/>
        </p:nvSpPr>
        <p:spPr>
          <a:xfrm>
            <a:off x="365760" y="457200"/>
            <a:ext cx="8229600" cy="502920"/>
          </a:xfrm>
          <a:prstGeom prst="rect">
            <a:avLst/>
          </a:prstGeom>
          <a:noFill/>
          <a:ln/>
        </p:spPr>
        <p:txBody>
          <a:bodyPr wrap="square" rtlCol="0" anchor="ctr"/>
          <a:lstStyle/>
          <a:p>
            <a:pPr indent="0" marL="0">
              <a:buNone/>
            </a:pPr>
            <a:r>
              <a:rPr lang="en-US" sz="2600" b="1" dirty="0">
                <a:solidFill>
                  <a:srgbClr val="FFFFFF"/>
                </a:solidFill>
              </a:rPr>
              <a:t>5 Closest &amp; 5 Biggest Wins · 2026</a:t>
            </a:r>
            <a:endParaRPr lang="en-US" sz="2600" dirty="0"/>
          </a:p>
        </p:txBody>
      </p:sp>
      <p:sp>
        <p:nvSpPr>
          <p:cNvPr id="4" name="Text 2"/>
          <p:cNvSpPr/>
          <p:nvPr/>
        </p:nvSpPr>
        <p:spPr>
          <a:xfrm>
            <a:off x="365760" y="960120"/>
            <a:ext cx="8412480" cy="320040"/>
          </a:xfrm>
          <a:prstGeom prst="rect">
            <a:avLst/>
          </a:prstGeom>
          <a:noFill/>
          <a:ln/>
        </p:spPr>
        <p:txBody>
          <a:bodyPr wrap="square" rtlCol="0" anchor="ctr"/>
          <a:lstStyle/>
          <a:p>
            <a:pPr indent="0" marL="0">
              <a:buNone/>
            </a:pPr>
            <a:r>
              <a:rPr lang="en-US" sz="1200" dirty="0">
                <a:solidFill>
                  <a:srgbClr val="8B949E"/>
                </a:solidFill>
              </a:rPr>
              <a:t>The extremes tell the real story of how fragile — and how dominant — some victories were.</a:t>
            </a:r>
            <a:endParaRPr lang="en-US" sz="1200" dirty="0"/>
          </a:p>
        </p:txBody>
      </p:sp>
      <p:sp>
        <p:nvSpPr>
          <p:cNvPr id="5" name="Shape 3"/>
          <p:cNvSpPr/>
          <p:nvPr/>
        </p:nvSpPr>
        <p:spPr>
          <a:xfrm>
            <a:off x="274320" y="1417320"/>
            <a:ext cx="4114800" cy="347472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6" name="Text 4"/>
          <p:cNvSpPr/>
          <p:nvPr/>
        </p:nvSpPr>
        <p:spPr>
          <a:xfrm>
            <a:off x="457200" y="1508760"/>
            <a:ext cx="3657600" cy="256032"/>
          </a:xfrm>
          <a:prstGeom prst="rect">
            <a:avLst/>
          </a:prstGeom>
          <a:noFill/>
          <a:ln/>
        </p:spPr>
        <p:txBody>
          <a:bodyPr wrap="square" rtlCol="0" anchor="ctr"/>
          <a:lstStyle/>
          <a:p>
            <a:pPr indent="0" marL="0">
              <a:buNone/>
            </a:pPr>
            <a:r>
              <a:rPr lang="en-US" sz="900" b="1" spc="200" kern="0" dirty="0">
                <a:solidFill>
                  <a:srgbClr val="F85149"/>
                </a:solidFill>
              </a:rPr>
              <a:t>5 CLOSEST WINS · 2026</a:t>
            </a:r>
            <a:endParaRPr lang="en-US" sz="900" dirty="0"/>
          </a:p>
        </p:txBody>
      </p:sp>
      <p:sp>
        <p:nvSpPr>
          <p:cNvPr id="7" name="Text 5"/>
          <p:cNvSpPr/>
          <p:nvPr/>
        </p:nvSpPr>
        <p:spPr>
          <a:xfrm>
            <a:off x="457200" y="1755648"/>
            <a:ext cx="3657600" cy="274320"/>
          </a:xfrm>
          <a:prstGeom prst="rect">
            <a:avLst/>
          </a:prstGeom>
          <a:noFill/>
          <a:ln/>
        </p:spPr>
        <p:txBody>
          <a:bodyPr wrap="square" rtlCol="0" anchor="ctr"/>
          <a:lstStyle/>
          <a:p>
            <a:pPr indent="0" marL="0">
              <a:buNone/>
            </a:pPr>
            <a:r>
              <a:rPr lang="en-US" sz="1300" b="1" dirty="0">
                <a:solidFill>
                  <a:srgbClr val="FFFFFF"/>
                </a:solidFill>
              </a:rPr>
              <a:t>Won by fewer than 300 votes</a:t>
            </a:r>
            <a:endParaRPr lang="en-US" sz="1300" dirty="0"/>
          </a:p>
        </p:txBody>
      </p:sp>
      <p:sp>
        <p:nvSpPr>
          <p:cNvPr id="8" name="Text 6"/>
          <p:cNvSpPr/>
          <p:nvPr/>
        </p:nvSpPr>
        <p:spPr>
          <a:xfrm>
            <a:off x="457200" y="2121408"/>
            <a:ext cx="1828800" cy="219456"/>
          </a:xfrm>
          <a:prstGeom prst="rect">
            <a:avLst/>
          </a:prstGeom>
          <a:noFill/>
          <a:ln/>
        </p:spPr>
        <p:txBody>
          <a:bodyPr wrap="square" rtlCol="0" anchor="ctr"/>
          <a:lstStyle/>
          <a:p>
            <a:pPr indent="0" marL="0">
              <a:buNone/>
            </a:pPr>
            <a:r>
              <a:rPr lang="en-US" sz="850" b="1" spc="100" kern="0" dirty="0">
                <a:solidFill>
                  <a:srgbClr val="8B949E"/>
                </a:solidFill>
              </a:rPr>
              <a:t>CONSTITUENCY</a:t>
            </a:r>
            <a:endParaRPr lang="en-US" sz="850" dirty="0"/>
          </a:p>
        </p:txBody>
      </p:sp>
      <p:sp>
        <p:nvSpPr>
          <p:cNvPr id="9" name="Text 7"/>
          <p:cNvSpPr/>
          <p:nvPr/>
        </p:nvSpPr>
        <p:spPr>
          <a:xfrm>
            <a:off x="2377440" y="2121408"/>
            <a:ext cx="914400" cy="219456"/>
          </a:xfrm>
          <a:prstGeom prst="rect">
            <a:avLst/>
          </a:prstGeom>
          <a:noFill/>
          <a:ln/>
        </p:spPr>
        <p:txBody>
          <a:bodyPr wrap="square" rtlCol="0" anchor="ctr"/>
          <a:lstStyle/>
          <a:p>
            <a:pPr indent="0" marL="0">
              <a:buNone/>
            </a:pPr>
            <a:r>
              <a:rPr lang="en-US" sz="850" b="1" spc="100" kern="0" dirty="0">
                <a:solidFill>
                  <a:srgbClr val="8B949E"/>
                </a:solidFill>
              </a:rPr>
              <a:t>WINNER</a:t>
            </a:r>
            <a:endParaRPr lang="en-US" sz="850" dirty="0"/>
          </a:p>
        </p:txBody>
      </p:sp>
      <p:sp>
        <p:nvSpPr>
          <p:cNvPr id="10" name="Text 8"/>
          <p:cNvSpPr/>
          <p:nvPr/>
        </p:nvSpPr>
        <p:spPr>
          <a:xfrm>
            <a:off x="3383280" y="2121408"/>
            <a:ext cx="822960" cy="219456"/>
          </a:xfrm>
          <a:prstGeom prst="rect">
            <a:avLst/>
          </a:prstGeom>
          <a:noFill/>
          <a:ln/>
        </p:spPr>
        <p:txBody>
          <a:bodyPr wrap="square" rtlCol="0" anchor="ctr"/>
          <a:lstStyle/>
          <a:p>
            <a:pPr indent="0" marL="0">
              <a:buNone/>
            </a:pPr>
            <a:r>
              <a:rPr lang="en-US" sz="850" b="1" spc="100" kern="0" dirty="0">
                <a:solidFill>
                  <a:srgbClr val="8B949E"/>
                </a:solidFill>
              </a:rPr>
              <a:t>MARGIN</a:t>
            </a:r>
            <a:endParaRPr lang="en-US" sz="850" dirty="0"/>
          </a:p>
        </p:txBody>
      </p:sp>
      <p:sp>
        <p:nvSpPr>
          <p:cNvPr id="11" name="Shape 9"/>
          <p:cNvSpPr/>
          <p:nvPr/>
        </p:nvSpPr>
        <p:spPr>
          <a:xfrm>
            <a:off x="365760" y="2423160"/>
            <a:ext cx="3840480" cy="402336"/>
          </a:xfrm>
          <a:prstGeom prst="rect">
            <a:avLst/>
          </a:prstGeom>
          <a:solidFill>
            <a:srgbClr val="1A1F28"/>
          </a:solidFill>
          <a:ln w="6350">
            <a:solidFill>
              <a:srgbClr val="21262D"/>
            </a:solidFill>
            <a:prstDash val="solid"/>
          </a:ln>
        </p:spPr>
      </p:sp>
      <p:sp>
        <p:nvSpPr>
          <p:cNvPr id="12" name="Text 10"/>
          <p:cNvSpPr/>
          <p:nvPr/>
        </p:nvSpPr>
        <p:spPr>
          <a:xfrm>
            <a:off x="457200" y="2514600"/>
            <a:ext cx="1828800" cy="237744"/>
          </a:xfrm>
          <a:prstGeom prst="rect">
            <a:avLst/>
          </a:prstGeom>
          <a:noFill/>
          <a:ln/>
        </p:spPr>
        <p:txBody>
          <a:bodyPr wrap="square" rtlCol="0" anchor="ctr"/>
          <a:lstStyle/>
          <a:p>
            <a:pPr indent="0" marL="0">
              <a:buNone/>
            </a:pPr>
            <a:r>
              <a:rPr lang="en-US" sz="1100" dirty="0">
                <a:solidFill>
                  <a:srgbClr val="E6EDF3"/>
                </a:solidFill>
              </a:rPr>
              <a:t>Veppanahalli</a:t>
            </a:r>
            <a:endParaRPr lang="en-US" sz="1100" dirty="0"/>
          </a:p>
        </p:txBody>
      </p:sp>
      <p:sp>
        <p:nvSpPr>
          <p:cNvPr id="13" name="Shape 11"/>
          <p:cNvSpPr/>
          <p:nvPr/>
        </p:nvSpPr>
        <p:spPr>
          <a:xfrm>
            <a:off x="2331720" y="2505456"/>
            <a:ext cx="822960" cy="237744"/>
          </a:xfrm>
          <a:prstGeom prst="roundRect">
            <a:avLst>
              <a:gd name="adj" fmla="val 15385"/>
            </a:avLst>
          </a:prstGeom>
          <a:solidFill>
            <a:srgbClr val="F5A623"/>
          </a:solidFill>
          <a:ln w="12700">
            <a:solidFill>
              <a:srgbClr val="F5A623"/>
            </a:solidFill>
            <a:prstDash val="solid"/>
          </a:ln>
        </p:spPr>
      </p:sp>
      <p:sp>
        <p:nvSpPr>
          <p:cNvPr id="14" name="Text 12"/>
          <p:cNvSpPr/>
          <p:nvPr/>
        </p:nvSpPr>
        <p:spPr>
          <a:xfrm>
            <a:off x="2331720" y="2505456"/>
            <a:ext cx="822960" cy="237744"/>
          </a:xfrm>
          <a:prstGeom prst="rect">
            <a:avLst/>
          </a:prstGeom>
          <a:noFill/>
          <a:ln/>
        </p:spPr>
        <p:txBody>
          <a:bodyPr wrap="square" rtlCol="0" anchor="ctr"/>
          <a:lstStyle/>
          <a:p>
            <a:pPr algn="ctr" indent="0" marL="0">
              <a:buNone/>
            </a:pPr>
            <a:r>
              <a:rPr lang="en-US" sz="950" b="1" dirty="0">
                <a:solidFill>
                  <a:srgbClr val="FFFFFF"/>
                </a:solidFill>
              </a:rPr>
              <a:t>DMK</a:t>
            </a:r>
            <a:endParaRPr lang="en-US" sz="950" dirty="0"/>
          </a:p>
        </p:txBody>
      </p:sp>
      <p:sp>
        <p:nvSpPr>
          <p:cNvPr id="15" name="Text 13"/>
          <p:cNvSpPr/>
          <p:nvPr/>
        </p:nvSpPr>
        <p:spPr>
          <a:xfrm>
            <a:off x="3337560" y="2514600"/>
            <a:ext cx="822960" cy="237744"/>
          </a:xfrm>
          <a:prstGeom prst="rect">
            <a:avLst/>
          </a:prstGeom>
          <a:noFill/>
          <a:ln/>
        </p:spPr>
        <p:txBody>
          <a:bodyPr wrap="square" rtlCol="0" anchor="ctr"/>
          <a:lstStyle/>
          <a:p>
            <a:pPr indent="0" marL="0">
              <a:buNone/>
            </a:pPr>
            <a:r>
              <a:rPr lang="en-US" sz="1200" b="1" dirty="0">
                <a:solidFill>
                  <a:srgbClr val="F85149"/>
                </a:solidFill>
              </a:rPr>
              <a:t>138</a:t>
            </a:r>
            <a:endParaRPr lang="en-US" sz="1200" dirty="0"/>
          </a:p>
        </p:txBody>
      </p:sp>
      <p:sp>
        <p:nvSpPr>
          <p:cNvPr id="16" name="Shape 14"/>
          <p:cNvSpPr/>
          <p:nvPr/>
        </p:nvSpPr>
        <p:spPr>
          <a:xfrm>
            <a:off x="365760" y="2880360"/>
            <a:ext cx="3840480" cy="402336"/>
          </a:xfrm>
          <a:prstGeom prst="rect">
            <a:avLst/>
          </a:prstGeom>
          <a:solidFill>
            <a:srgbClr val="161B22"/>
          </a:solidFill>
          <a:ln w="6350">
            <a:solidFill>
              <a:srgbClr val="21262D"/>
            </a:solidFill>
            <a:prstDash val="solid"/>
          </a:ln>
        </p:spPr>
      </p:sp>
      <p:sp>
        <p:nvSpPr>
          <p:cNvPr id="17" name="Text 15"/>
          <p:cNvSpPr/>
          <p:nvPr/>
        </p:nvSpPr>
        <p:spPr>
          <a:xfrm>
            <a:off x="457200" y="2971800"/>
            <a:ext cx="1828800" cy="237744"/>
          </a:xfrm>
          <a:prstGeom prst="rect">
            <a:avLst/>
          </a:prstGeom>
          <a:noFill/>
          <a:ln/>
        </p:spPr>
        <p:txBody>
          <a:bodyPr wrap="square" rtlCol="0" anchor="ctr"/>
          <a:lstStyle/>
          <a:p>
            <a:pPr indent="0" marL="0">
              <a:buNone/>
            </a:pPr>
            <a:r>
              <a:rPr lang="en-US" sz="1100" dirty="0">
                <a:solidFill>
                  <a:srgbClr val="E6EDF3"/>
                </a:solidFill>
              </a:rPr>
              <a:t>Tiruppattur</a:t>
            </a:r>
            <a:endParaRPr lang="en-US" sz="1100" dirty="0"/>
          </a:p>
        </p:txBody>
      </p:sp>
      <p:sp>
        <p:nvSpPr>
          <p:cNvPr id="18" name="Shape 16"/>
          <p:cNvSpPr/>
          <p:nvPr/>
        </p:nvSpPr>
        <p:spPr>
          <a:xfrm>
            <a:off x="2331720" y="2962656"/>
            <a:ext cx="822960" cy="237744"/>
          </a:xfrm>
          <a:prstGeom prst="roundRect">
            <a:avLst>
              <a:gd name="adj" fmla="val 15385"/>
            </a:avLst>
          </a:prstGeom>
          <a:solidFill>
            <a:srgbClr val="3FB950"/>
          </a:solidFill>
          <a:ln w="12700">
            <a:solidFill>
              <a:srgbClr val="3FB950"/>
            </a:solidFill>
            <a:prstDash val="solid"/>
          </a:ln>
        </p:spPr>
      </p:sp>
      <p:sp>
        <p:nvSpPr>
          <p:cNvPr id="19" name="Text 17"/>
          <p:cNvSpPr/>
          <p:nvPr/>
        </p:nvSpPr>
        <p:spPr>
          <a:xfrm>
            <a:off x="2331720" y="2962656"/>
            <a:ext cx="822960" cy="237744"/>
          </a:xfrm>
          <a:prstGeom prst="rect">
            <a:avLst/>
          </a:prstGeom>
          <a:noFill/>
          <a:ln/>
        </p:spPr>
        <p:txBody>
          <a:bodyPr wrap="square" rtlCol="0" anchor="ctr"/>
          <a:lstStyle/>
          <a:p>
            <a:pPr algn="ctr" indent="0" marL="0">
              <a:buNone/>
            </a:pPr>
            <a:r>
              <a:rPr lang="en-US" sz="950" b="1" dirty="0">
                <a:solidFill>
                  <a:srgbClr val="FFFFFF"/>
                </a:solidFill>
              </a:rPr>
              <a:t>TVK</a:t>
            </a:r>
            <a:endParaRPr lang="en-US" sz="950" dirty="0"/>
          </a:p>
        </p:txBody>
      </p:sp>
      <p:sp>
        <p:nvSpPr>
          <p:cNvPr id="20" name="Text 18"/>
          <p:cNvSpPr/>
          <p:nvPr/>
        </p:nvSpPr>
        <p:spPr>
          <a:xfrm>
            <a:off x="3337560" y="2971800"/>
            <a:ext cx="822960" cy="237744"/>
          </a:xfrm>
          <a:prstGeom prst="rect">
            <a:avLst/>
          </a:prstGeom>
          <a:noFill/>
          <a:ln/>
        </p:spPr>
        <p:txBody>
          <a:bodyPr wrap="square" rtlCol="0" anchor="ctr"/>
          <a:lstStyle/>
          <a:p>
            <a:pPr indent="0" marL="0">
              <a:buNone/>
            </a:pPr>
            <a:r>
              <a:rPr lang="en-US" sz="1200" b="1" dirty="0">
                <a:solidFill>
                  <a:srgbClr val="F85149"/>
                </a:solidFill>
              </a:rPr>
              <a:t>1</a:t>
            </a:r>
            <a:endParaRPr lang="en-US" sz="1200" dirty="0"/>
          </a:p>
        </p:txBody>
      </p:sp>
      <p:sp>
        <p:nvSpPr>
          <p:cNvPr id="21" name="Shape 19"/>
          <p:cNvSpPr/>
          <p:nvPr/>
        </p:nvSpPr>
        <p:spPr>
          <a:xfrm>
            <a:off x="365760" y="3337560"/>
            <a:ext cx="3840480" cy="402336"/>
          </a:xfrm>
          <a:prstGeom prst="rect">
            <a:avLst/>
          </a:prstGeom>
          <a:solidFill>
            <a:srgbClr val="1A1F28"/>
          </a:solidFill>
          <a:ln w="6350">
            <a:solidFill>
              <a:srgbClr val="21262D"/>
            </a:solidFill>
            <a:prstDash val="solid"/>
          </a:ln>
        </p:spPr>
      </p:sp>
      <p:sp>
        <p:nvSpPr>
          <p:cNvPr id="22" name="Text 20"/>
          <p:cNvSpPr/>
          <p:nvPr/>
        </p:nvSpPr>
        <p:spPr>
          <a:xfrm>
            <a:off x="457200" y="3429000"/>
            <a:ext cx="1828800" cy="237744"/>
          </a:xfrm>
          <a:prstGeom prst="rect">
            <a:avLst/>
          </a:prstGeom>
          <a:noFill/>
          <a:ln/>
        </p:spPr>
        <p:txBody>
          <a:bodyPr wrap="square" rtlCol="0" anchor="ctr"/>
          <a:lstStyle/>
          <a:p>
            <a:pPr indent="0" marL="0">
              <a:buNone/>
            </a:pPr>
            <a:r>
              <a:rPr lang="en-US" sz="1100" dirty="0">
                <a:solidFill>
                  <a:srgbClr val="E6EDF3"/>
                </a:solidFill>
              </a:rPr>
              <a:t>Tirukkoyilur</a:t>
            </a:r>
            <a:endParaRPr lang="en-US" sz="1100" dirty="0"/>
          </a:p>
        </p:txBody>
      </p:sp>
      <p:sp>
        <p:nvSpPr>
          <p:cNvPr id="23" name="Shape 21"/>
          <p:cNvSpPr/>
          <p:nvPr/>
        </p:nvSpPr>
        <p:spPr>
          <a:xfrm>
            <a:off x="2331720" y="3419856"/>
            <a:ext cx="822960" cy="237744"/>
          </a:xfrm>
          <a:prstGeom prst="roundRect">
            <a:avLst>
              <a:gd name="adj" fmla="val 15385"/>
            </a:avLst>
          </a:prstGeom>
          <a:solidFill>
            <a:srgbClr val="4D9DE0"/>
          </a:solidFill>
          <a:ln w="12700">
            <a:solidFill>
              <a:srgbClr val="4D9DE0"/>
            </a:solidFill>
            <a:prstDash val="solid"/>
          </a:ln>
        </p:spPr>
      </p:sp>
      <p:sp>
        <p:nvSpPr>
          <p:cNvPr id="24" name="Text 22"/>
          <p:cNvSpPr/>
          <p:nvPr/>
        </p:nvSpPr>
        <p:spPr>
          <a:xfrm>
            <a:off x="2331720" y="3419856"/>
            <a:ext cx="822960" cy="237744"/>
          </a:xfrm>
          <a:prstGeom prst="rect">
            <a:avLst/>
          </a:prstGeom>
          <a:noFill/>
          <a:ln/>
        </p:spPr>
        <p:txBody>
          <a:bodyPr wrap="square" rtlCol="0" anchor="ctr"/>
          <a:lstStyle/>
          <a:p>
            <a:pPr algn="ctr" indent="0" marL="0">
              <a:buNone/>
            </a:pPr>
            <a:r>
              <a:rPr lang="en-US" sz="950" b="1" dirty="0">
                <a:solidFill>
                  <a:srgbClr val="FFFFFF"/>
                </a:solidFill>
              </a:rPr>
              <a:t>AIADMK</a:t>
            </a:r>
            <a:endParaRPr lang="en-US" sz="950" dirty="0"/>
          </a:p>
        </p:txBody>
      </p:sp>
      <p:sp>
        <p:nvSpPr>
          <p:cNvPr id="25" name="Text 23"/>
          <p:cNvSpPr/>
          <p:nvPr/>
        </p:nvSpPr>
        <p:spPr>
          <a:xfrm>
            <a:off x="3337560" y="3429000"/>
            <a:ext cx="822960" cy="237744"/>
          </a:xfrm>
          <a:prstGeom prst="rect">
            <a:avLst/>
          </a:prstGeom>
          <a:noFill/>
          <a:ln/>
        </p:spPr>
        <p:txBody>
          <a:bodyPr wrap="square" rtlCol="0" anchor="ctr"/>
          <a:lstStyle/>
          <a:p>
            <a:pPr indent="0" marL="0">
              <a:buNone/>
            </a:pPr>
            <a:r>
              <a:rPr lang="en-US" sz="1200" b="1" dirty="0">
                <a:solidFill>
                  <a:srgbClr val="F85149"/>
                </a:solidFill>
              </a:rPr>
              <a:t>285</a:t>
            </a:r>
            <a:endParaRPr lang="en-US" sz="1200" dirty="0"/>
          </a:p>
        </p:txBody>
      </p:sp>
      <p:sp>
        <p:nvSpPr>
          <p:cNvPr id="26" name="Shape 24"/>
          <p:cNvSpPr/>
          <p:nvPr/>
        </p:nvSpPr>
        <p:spPr>
          <a:xfrm>
            <a:off x="365760" y="3794760"/>
            <a:ext cx="3840480" cy="402336"/>
          </a:xfrm>
          <a:prstGeom prst="rect">
            <a:avLst/>
          </a:prstGeom>
          <a:solidFill>
            <a:srgbClr val="161B22"/>
          </a:solidFill>
          <a:ln w="6350">
            <a:solidFill>
              <a:srgbClr val="21262D"/>
            </a:solidFill>
            <a:prstDash val="solid"/>
          </a:ln>
        </p:spPr>
      </p:sp>
      <p:sp>
        <p:nvSpPr>
          <p:cNvPr id="27" name="Text 25"/>
          <p:cNvSpPr/>
          <p:nvPr/>
        </p:nvSpPr>
        <p:spPr>
          <a:xfrm>
            <a:off x="457200" y="3886200"/>
            <a:ext cx="1828800" cy="237744"/>
          </a:xfrm>
          <a:prstGeom prst="rect">
            <a:avLst/>
          </a:prstGeom>
          <a:noFill/>
          <a:ln/>
        </p:spPr>
        <p:txBody>
          <a:bodyPr wrap="square" rtlCol="0" anchor="ctr"/>
          <a:lstStyle/>
          <a:p>
            <a:pPr indent="0" marL="0">
              <a:buNone/>
            </a:pPr>
            <a:r>
              <a:rPr lang="en-US" sz="1100" dirty="0">
                <a:solidFill>
                  <a:srgbClr val="E6EDF3"/>
                </a:solidFill>
              </a:rPr>
              <a:t>Polur</a:t>
            </a:r>
            <a:endParaRPr lang="en-US" sz="1100" dirty="0"/>
          </a:p>
        </p:txBody>
      </p:sp>
      <p:sp>
        <p:nvSpPr>
          <p:cNvPr id="28" name="Shape 26"/>
          <p:cNvSpPr/>
          <p:nvPr/>
        </p:nvSpPr>
        <p:spPr>
          <a:xfrm>
            <a:off x="2331720" y="3877056"/>
            <a:ext cx="822960" cy="237744"/>
          </a:xfrm>
          <a:prstGeom prst="roundRect">
            <a:avLst>
              <a:gd name="adj" fmla="val 15385"/>
            </a:avLst>
          </a:prstGeom>
          <a:solidFill>
            <a:srgbClr val="3FB950"/>
          </a:solidFill>
          <a:ln w="12700">
            <a:solidFill>
              <a:srgbClr val="3FB950"/>
            </a:solidFill>
            <a:prstDash val="solid"/>
          </a:ln>
        </p:spPr>
      </p:sp>
      <p:sp>
        <p:nvSpPr>
          <p:cNvPr id="29" name="Text 27"/>
          <p:cNvSpPr/>
          <p:nvPr/>
        </p:nvSpPr>
        <p:spPr>
          <a:xfrm>
            <a:off x="2331720" y="3877056"/>
            <a:ext cx="822960" cy="237744"/>
          </a:xfrm>
          <a:prstGeom prst="rect">
            <a:avLst/>
          </a:prstGeom>
          <a:noFill/>
          <a:ln/>
        </p:spPr>
        <p:txBody>
          <a:bodyPr wrap="square" rtlCol="0" anchor="ctr"/>
          <a:lstStyle/>
          <a:p>
            <a:pPr algn="ctr" indent="0" marL="0">
              <a:buNone/>
            </a:pPr>
            <a:r>
              <a:rPr lang="en-US" sz="950" b="1" dirty="0">
                <a:solidFill>
                  <a:srgbClr val="FFFFFF"/>
                </a:solidFill>
              </a:rPr>
              <a:t>TVK</a:t>
            </a:r>
            <a:endParaRPr lang="en-US" sz="950" dirty="0"/>
          </a:p>
        </p:txBody>
      </p:sp>
      <p:sp>
        <p:nvSpPr>
          <p:cNvPr id="30" name="Text 28"/>
          <p:cNvSpPr/>
          <p:nvPr/>
        </p:nvSpPr>
        <p:spPr>
          <a:xfrm>
            <a:off x="3337560" y="3886200"/>
            <a:ext cx="822960" cy="237744"/>
          </a:xfrm>
          <a:prstGeom prst="rect">
            <a:avLst/>
          </a:prstGeom>
          <a:noFill/>
          <a:ln/>
        </p:spPr>
        <p:txBody>
          <a:bodyPr wrap="square" rtlCol="0" anchor="ctr"/>
          <a:lstStyle/>
          <a:p>
            <a:pPr indent="0" marL="0">
              <a:buNone/>
            </a:pPr>
            <a:r>
              <a:rPr lang="en-US" sz="1200" b="1" dirty="0">
                <a:solidFill>
                  <a:srgbClr val="F85149"/>
                </a:solidFill>
              </a:rPr>
              <a:t>227</a:t>
            </a:r>
            <a:endParaRPr lang="en-US" sz="1200" dirty="0"/>
          </a:p>
        </p:txBody>
      </p:sp>
      <p:sp>
        <p:nvSpPr>
          <p:cNvPr id="31" name="Shape 29"/>
          <p:cNvSpPr/>
          <p:nvPr/>
        </p:nvSpPr>
        <p:spPr>
          <a:xfrm>
            <a:off x="365760" y="4251960"/>
            <a:ext cx="3840480" cy="402336"/>
          </a:xfrm>
          <a:prstGeom prst="rect">
            <a:avLst/>
          </a:prstGeom>
          <a:solidFill>
            <a:srgbClr val="1A1F28"/>
          </a:solidFill>
          <a:ln w="6350">
            <a:solidFill>
              <a:srgbClr val="21262D"/>
            </a:solidFill>
            <a:prstDash val="solid"/>
          </a:ln>
        </p:spPr>
      </p:sp>
      <p:sp>
        <p:nvSpPr>
          <p:cNvPr id="32" name="Text 30"/>
          <p:cNvSpPr/>
          <p:nvPr/>
        </p:nvSpPr>
        <p:spPr>
          <a:xfrm>
            <a:off x="457200" y="4343400"/>
            <a:ext cx="1828800" cy="237744"/>
          </a:xfrm>
          <a:prstGeom prst="rect">
            <a:avLst/>
          </a:prstGeom>
          <a:noFill/>
          <a:ln/>
        </p:spPr>
        <p:txBody>
          <a:bodyPr wrap="square" rtlCol="0" anchor="ctr"/>
          <a:lstStyle/>
          <a:p>
            <a:pPr indent="0" marL="0">
              <a:buNone/>
            </a:pPr>
            <a:r>
              <a:rPr lang="en-US" sz="1100" dirty="0">
                <a:solidFill>
                  <a:srgbClr val="E6EDF3"/>
                </a:solidFill>
              </a:rPr>
              <a:t>Kanniyakumari</a:t>
            </a:r>
            <a:endParaRPr lang="en-US" sz="1100" dirty="0"/>
          </a:p>
        </p:txBody>
      </p:sp>
      <p:sp>
        <p:nvSpPr>
          <p:cNvPr id="33" name="Shape 31"/>
          <p:cNvSpPr/>
          <p:nvPr/>
        </p:nvSpPr>
        <p:spPr>
          <a:xfrm>
            <a:off x="2331720" y="4334256"/>
            <a:ext cx="822960" cy="237744"/>
          </a:xfrm>
          <a:prstGeom prst="roundRect">
            <a:avLst>
              <a:gd name="adj" fmla="val 15385"/>
            </a:avLst>
          </a:prstGeom>
          <a:solidFill>
            <a:srgbClr val="4D9DE0"/>
          </a:solidFill>
          <a:ln w="12700">
            <a:solidFill>
              <a:srgbClr val="4D9DE0"/>
            </a:solidFill>
            <a:prstDash val="solid"/>
          </a:ln>
        </p:spPr>
      </p:sp>
      <p:sp>
        <p:nvSpPr>
          <p:cNvPr id="34" name="Text 32"/>
          <p:cNvSpPr/>
          <p:nvPr/>
        </p:nvSpPr>
        <p:spPr>
          <a:xfrm>
            <a:off x="2331720" y="4334256"/>
            <a:ext cx="822960" cy="237744"/>
          </a:xfrm>
          <a:prstGeom prst="rect">
            <a:avLst/>
          </a:prstGeom>
          <a:noFill/>
          <a:ln/>
        </p:spPr>
        <p:txBody>
          <a:bodyPr wrap="square" rtlCol="0" anchor="ctr"/>
          <a:lstStyle/>
          <a:p>
            <a:pPr algn="ctr" indent="0" marL="0">
              <a:buNone/>
            </a:pPr>
            <a:r>
              <a:rPr lang="en-US" sz="950" b="1" dirty="0">
                <a:solidFill>
                  <a:srgbClr val="FFFFFF"/>
                </a:solidFill>
              </a:rPr>
              <a:t>AIADMK</a:t>
            </a:r>
            <a:endParaRPr lang="en-US" sz="950" dirty="0"/>
          </a:p>
        </p:txBody>
      </p:sp>
      <p:sp>
        <p:nvSpPr>
          <p:cNvPr id="35" name="Text 33"/>
          <p:cNvSpPr/>
          <p:nvPr/>
        </p:nvSpPr>
        <p:spPr>
          <a:xfrm>
            <a:off x="3337560" y="4343400"/>
            <a:ext cx="822960" cy="237744"/>
          </a:xfrm>
          <a:prstGeom prst="rect">
            <a:avLst/>
          </a:prstGeom>
          <a:noFill/>
          <a:ln/>
        </p:spPr>
        <p:txBody>
          <a:bodyPr wrap="square" rtlCol="0" anchor="ctr"/>
          <a:lstStyle/>
          <a:p>
            <a:pPr indent="0" marL="0">
              <a:buNone/>
            </a:pPr>
            <a:r>
              <a:rPr lang="en-US" sz="1200" b="1" dirty="0">
                <a:solidFill>
                  <a:srgbClr val="F85149"/>
                </a:solidFill>
              </a:rPr>
              <a:t>214</a:t>
            </a:r>
            <a:endParaRPr lang="en-US" sz="1200" dirty="0"/>
          </a:p>
        </p:txBody>
      </p:sp>
      <p:sp>
        <p:nvSpPr>
          <p:cNvPr id="36" name="Shape 34"/>
          <p:cNvSpPr/>
          <p:nvPr/>
        </p:nvSpPr>
        <p:spPr>
          <a:xfrm>
            <a:off x="4663440" y="1417320"/>
            <a:ext cx="4206240" cy="347472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37" name="Text 35"/>
          <p:cNvSpPr/>
          <p:nvPr/>
        </p:nvSpPr>
        <p:spPr>
          <a:xfrm>
            <a:off x="4846320" y="1508760"/>
            <a:ext cx="3657600" cy="256032"/>
          </a:xfrm>
          <a:prstGeom prst="rect">
            <a:avLst/>
          </a:prstGeom>
          <a:noFill/>
          <a:ln/>
        </p:spPr>
        <p:txBody>
          <a:bodyPr wrap="square" rtlCol="0" anchor="ctr"/>
          <a:lstStyle/>
          <a:p>
            <a:pPr indent="0" marL="0">
              <a:buNone/>
            </a:pPr>
            <a:r>
              <a:rPr lang="en-US" sz="900" b="1" spc="200" kern="0" dirty="0">
                <a:solidFill>
                  <a:srgbClr val="3FB950"/>
                </a:solidFill>
              </a:rPr>
              <a:t>5 BIGGEST WINS · 2026</a:t>
            </a:r>
            <a:endParaRPr lang="en-US" sz="900" dirty="0"/>
          </a:p>
        </p:txBody>
      </p:sp>
      <p:sp>
        <p:nvSpPr>
          <p:cNvPr id="38" name="Text 36"/>
          <p:cNvSpPr/>
          <p:nvPr/>
        </p:nvSpPr>
        <p:spPr>
          <a:xfrm>
            <a:off x="4846320" y="1755648"/>
            <a:ext cx="3657600" cy="274320"/>
          </a:xfrm>
          <a:prstGeom prst="rect">
            <a:avLst/>
          </a:prstGeom>
          <a:noFill/>
          <a:ln/>
        </p:spPr>
        <p:txBody>
          <a:bodyPr wrap="square" rtlCol="0" anchor="ctr"/>
          <a:lstStyle/>
          <a:p>
            <a:pPr indent="0" marL="0">
              <a:buNone/>
            </a:pPr>
            <a:r>
              <a:rPr lang="en-US" sz="1300" b="1" dirty="0">
                <a:solidFill>
                  <a:srgbClr val="FFFFFF"/>
                </a:solidFill>
              </a:rPr>
              <a:t>Won by more than 74,000 votes</a:t>
            </a:r>
            <a:endParaRPr lang="en-US" sz="1300" dirty="0"/>
          </a:p>
        </p:txBody>
      </p:sp>
      <p:sp>
        <p:nvSpPr>
          <p:cNvPr id="39" name="Text 37"/>
          <p:cNvSpPr/>
          <p:nvPr/>
        </p:nvSpPr>
        <p:spPr>
          <a:xfrm>
            <a:off x="4846320" y="2121408"/>
            <a:ext cx="1828800" cy="219456"/>
          </a:xfrm>
          <a:prstGeom prst="rect">
            <a:avLst/>
          </a:prstGeom>
          <a:noFill/>
          <a:ln/>
        </p:spPr>
        <p:txBody>
          <a:bodyPr wrap="square" rtlCol="0" anchor="ctr"/>
          <a:lstStyle/>
          <a:p>
            <a:pPr indent="0" marL="0">
              <a:buNone/>
            </a:pPr>
            <a:r>
              <a:rPr lang="en-US" sz="850" b="1" spc="100" kern="0" dirty="0">
                <a:solidFill>
                  <a:srgbClr val="8B949E"/>
                </a:solidFill>
              </a:rPr>
              <a:t>CONSTITUENCY</a:t>
            </a:r>
            <a:endParaRPr lang="en-US" sz="850" dirty="0"/>
          </a:p>
        </p:txBody>
      </p:sp>
      <p:sp>
        <p:nvSpPr>
          <p:cNvPr id="40" name="Text 38"/>
          <p:cNvSpPr/>
          <p:nvPr/>
        </p:nvSpPr>
        <p:spPr>
          <a:xfrm>
            <a:off x="6766560" y="2121408"/>
            <a:ext cx="914400" cy="219456"/>
          </a:xfrm>
          <a:prstGeom prst="rect">
            <a:avLst/>
          </a:prstGeom>
          <a:noFill/>
          <a:ln/>
        </p:spPr>
        <p:txBody>
          <a:bodyPr wrap="square" rtlCol="0" anchor="ctr"/>
          <a:lstStyle/>
          <a:p>
            <a:pPr indent="0" marL="0">
              <a:buNone/>
            </a:pPr>
            <a:r>
              <a:rPr lang="en-US" sz="850" b="1" spc="100" kern="0" dirty="0">
                <a:solidFill>
                  <a:srgbClr val="8B949E"/>
                </a:solidFill>
              </a:rPr>
              <a:t>WINNER</a:t>
            </a:r>
            <a:endParaRPr lang="en-US" sz="850" dirty="0"/>
          </a:p>
        </p:txBody>
      </p:sp>
      <p:sp>
        <p:nvSpPr>
          <p:cNvPr id="41" name="Text 39"/>
          <p:cNvSpPr/>
          <p:nvPr/>
        </p:nvSpPr>
        <p:spPr>
          <a:xfrm>
            <a:off x="7680960" y="2121408"/>
            <a:ext cx="914400" cy="219456"/>
          </a:xfrm>
          <a:prstGeom prst="rect">
            <a:avLst/>
          </a:prstGeom>
          <a:noFill/>
          <a:ln/>
        </p:spPr>
        <p:txBody>
          <a:bodyPr wrap="square" rtlCol="0" anchor="ctr"/>
          <a:lstStyle/>
          <a:p>
            <a:pPr indent="0" marL="0">
              <a:buNone/>
            </a:pPr>
            <a:r>
              <a:rPr lang="en-US" sz="850" b="1" spc="100" kern="0" dirty="0">
                <a:solidFill>
                  <a:srgbClr val="8B949E"/>
                </a:solidFill>
              </a:rPr>
              <a:t>MARGIN</a:t>
            </a:r>
            <a:endParaRPr lang="en-US" sz="850" dirty="0"/>
          </a:p>
        </p:txBody>
      </p:sp>
      <p:sp>
        <p:nvSpPr>
          <p:cNvPr id="42" name="Shape 40"/>
          <p:cNvSpPr/>
          <p:nvPr/>
        </p:nvSpPr>
        <p:spPr>
          <a:xfrm>
            <a:off x="4754880" y="2423160"/>
            <a:ext cx="3840480" cy="402336"/>
          </a:xfrm>
          <a:prstGeom prst="rect">
            <a:avLst/>
          </a:prstGeom>
          <a:solidFill>
            <a:srgbClr val="1A1F28"/>
          </a:solidFill>
          <a:ln w="6350">
            <a:solidFill>
              <a:srgbClr val="21262D"/>
            </a:solidFill>
            <a:prstDash val="solid"/>
          </a:ln>
        </p:spPr>
      </p:sp>
      <p:sp>
        <p:nvSpPr>
          <p:cNvPr id="43" name="Text 41"/>
          <p:cNvSpPr/>
          <p:nvPr/>
        </p:nvSpPr>
        <p:spPr>
          <a:xfrm>
            <a:off x="4846320" y="2514600"/>
            <a:ext cx="1783080" cy="237744"/>
          </a:xfrm>
          <a:prstGeom prst="rect">
            <a:avLst/>
          </a:prstGeom>
          <a:noFill/>
          <a:ln/>
        </p:spPr>
        <p:txBody>
          <a:bodyPr wrap="square" rtlCol="0" anchor="ctr"/>
          <a:lstStyle/>
          <a:p>
            <a:pPr indent="0" marL="0">
              <a:buNone/>
            </a:pPr>
            <a:r>
              <a:rPr lang="en-US" sz="1050" dirty="0">
                <a:solidFill>
                  <a:srgbClr val="E6EDF3"/>
                </a:solidFill>
              </a:rPr>
              <a:t>Avadi</a:t>
            </a:r>
            <a:endParaRPr lang="en-US" sz="1050" dirty="0"/>
          </a:p>
        </p:txBody>
      </p:sp>
      <p:sp>
        <p:nvSpPr>
          <p:cNvPr id="44" name="Shape 42"/>
          <p:cNvSpPr/>
          <p:nvPr/>
        </p:nvSpPr>
        <p:spPr>
          <a:xfrm>
            <a:off x="6720840" y="2505456"/>
            <a:ext cx="822960" cy="237744"/>
          </a:xfrm>
          <a:prstGeom prst="roundRect">
            <a:avLst>
              <a:gd name="adj" fmla="val 15385"/>
            </a:avLst>
          </a:prstGeom>
          <a:solidFill>
            <a:srgbClr val="3FB950"/>
          </a:solidFill>
          <a:ln w="12700">
            <a:solidFill>
              <a:srgbClr val="3FB950"/>
            </a:solidFill>
            <a:prstDash val="solid"/>
          </a:ln>
        </p:spPr>
      </p:sp>
      <p:sp>
        <p:nvSpPr>
          <p:cNvPr id="45" name="Text 43"/>
          <p:cNvSpPr/>
          <p:nvPr/>
        </p:nvSpPr>
        <p:spPr>
          <a:xfrm>
            <a:off x="6720840" y="2505456"/>
            <a:ext cx="822960" cy="237744"/>
          </a:xfrm>
          <a:prstGeom prst="rect">
            <a:avLst/>
          </a:prstGeom>
          <a:noFill/>
          <a:ln/>
        </p:spPr>
        <p:txBody>
          <a:bodyPr wrap="square" rtlCol="0" anchor="ctr"/>
          <a:lstStyle/>
          <a:p>
            <a:pPr algn="ctr" indent="0" marL="0">
              <a:buNone/>
            </a:pPr>
            <a:r>
              <a:rPr lang="en-US" sz="950" b="1" dirty="0">
                <a:solidFill>
                  <a:srgbClr val="FFFFFF"/>
                </a:solidFill>
              </a:rPr>
              <a:t>TVK</a:t>
            </a:r>
            <a:endParaRPr lang="en-US" sz="950" dirty="0"/>
          </a:p>
        </p:txBody>
      </p:sp>
      <p:sp>
        <p:nvSpPr>
          <p:cNvPr id="46" name="Text 44"/>
          <p:cNvSpPr/>
          <p:nvPr/>
        </p:nvSpPr>
        <p:spPr>
          <a:xfrm>
            <a:off x="7635240" y="2514600"/>
            <a:ext cx="1005840" cy="237744"/>
          </a:xfrm>
          <a:prstGeom prst="rect">
            <a:avLst/>
          </a:prstGeom>
          <a:noFill/>
          <a:ln/>
        </p:spPr>
        <p:txBody>
          <a:bodyPr wrap="square" rtlCol="0" anchor="ctr"/>
          <a:lstStyle/>
          <a:p>
            <a:pPr indent="0" marL="0">
              <a:buNone/>
            </a:pPr>
            <a:r>
              <a:rPr lang="en-US" sz="1150" b="1" dirty="0">
                <a:solidFill>
                  <a:srgbClr val="3FB950"/>
                </a:solidFill>
              </a:rPr>
              <a:t>76,311</a:t>
            </a:r>
            <a:endParaRPr lang="en-US" sz="1150" dirty="0"/>
          </a:p>
        </p:txBody>
      </p:sp>
      <p:sp>
        <p:nvSpPr>
          <p:cNvPr id="47" name="Shape 45"/>
          <p:cNvSpPr/>
          <p:nvPr/>
        </p:nvSpPr>
        <p:spPr>
          <a:xfrm>
            <a:off x="4754880" y="2880360"/>
            <a:ext cx="3840480" cy="402336"/>
          </a:xfrm>
          <a:prstGeom prst="rect">
            <a:avLst/>
          </a:prstGeom>
          <a:solidFill>
            <a:srgbClr val="161B22"/>
          </a:solidFill>
          <a:ln w="6350">
            <a:solidFill>
              <a:srgbClr val="21262D"/>
            </a:solidFill>
            <a:prstDash val="solid"/>
          </a:ln>
        </p:spPr>
      </p:sp>
      <p:sp>
        <p:nvSpPr>
          <p:cNvPr id="48" name="Text 46"/>
          <p:cNvSpPr/>
          <p:nvPr/>
        </p:nvSpPr>
        <p:spPr>
          <a:xfrm>
            <a:off x="4846320" y="2971800"/>
            <a:ext cx="1783080" cy="237744"/>
          </a:xfrm>
          <a:prstGeom prst="rect">
            <a:avLst/>
          </a:prstGeom>
          <a:noFill/>
          <a:ln/>
        </p:spPr>
        <p:txBody>
          <a:bodyPr wrap="square" rtlCol="0" anchor="ctr"/>
          <a:lstStyle/>
          <a:p>
            <a:pPr indent="0" marL="0">
              <a:buNone/>
            </a:pPr>
            <a:r>
              <a:rPr lang="en-US" sz="1050" dirty="0">
                <a:solidFill>
                  <a:srgbClr val="E6EDF3"/>
                </a:solidFill>
              </a:rPr>
              <a:t>Edappadi</a:t>
            </a:r>
            <a:endParaRPr lang="en-US" sz="1050" dirty="0"/>
          </a:p>
        </p:txBody>
      </p:sp>
      <p:sp>
        <p:nvSpPr>
          <p:cNvPr id="49" name="Shape 47"/>
          <p:cNvSpPr/>
          <p:nvPr/>
        </p:nvSpPr>
        <p:spPr>
          <a:xfrm>
            <a:off x="6720840" y="2962656"/>
            <a:ext cx="822960" cy="237744"/>
          </a:xfrm>
          <a:prstGeom prst="roundRect">
            <a:avLst>
              <a:gd name="adj" fmla="val 15385"/>
            </a:avLst>
          </a:prstGeom>
          <a:solidFill>
            <a:srgbClr val="4D9DE0"/>
          </a:solidFill>
          <a:ln w="12700">
            <a:solidFill>
              <a:srgbClr val="4D9DE0"/>
            </a:solidFill>
            <a:prstDash val="solid"/>
          </a:ln>
        </p:spPr>
      </p:sp>
      <p:sp>
        <p:nvSpPr>
          <p:cNvPr id="50" name="Text 48"/>
          <p:cNvSpPr/>
          <p:nvPr/>
        </p:nvSpPr>
        <p:spPr>
          <a:xfrm>
            <a:off x="6720840" y="2962656"/>
            <a:ext cx="822960" cy="237744"/>
          </a:xfrm>
          <a:prstGeom prst="rect">
            <a:avLst/>
          </a:prstGeom>
          <a:noFill/>
          <a:ln/>
        </p:spPr>
        <p:txBody>
          <a:bodyPr wrap="square" rtlCol="0" anchor="ctr"/>
          <a:lstStyle/>
          <a:p>
            <a:pPr algn="ctr" indent="0" marL="0">
              <a:buNone/>
            </a:pPr>
            <a:r>
              <a:rPr lang="en-US" sz="950" b="1" dirty="0">
                <a:solidFill>
                  <a:srgbClr val="FFFFFF"/>
                </a:solidFill>
              </a:rPr>
              <a:t>AIADMK</a:t>
            </a:r>
            <a:endParaRPr lang="en-US" sz="950" dirty="0"/>
          </a:p>
        </p:txBody>
      </p:sp>
      <p:sp>
        <p:nvSpPr>
          <p:cNvPr id="51" name="Text 49"/>
          <p:cNvSpPr/>
          <p:nvPr/>
        </p:nvSpPr>
        <p:spPr>
          <a:xfrm>
            <a:off x="7635240" y="2971800"/>
            <a:ext cx="1005840" cy="237744"/>
          </a:xfrm>
          <a:prstGeom prst="rect">
            <a:avLst/>
          </a:prstGeom>
          <a:noFill/>
          <a:ln/>
        </p:spPr>
        <p:txBody>
          <a:bodyPr wrap="square" rtlCol="0" anchor="ctr"/>
          <a:lstStyle/>
          <a:p>
            <a:pPr indent="0" marL="0">
              <a:buNone/>
            </a:pPr>
            <a:r>
              <a:rPr lang="en-US" sz="1150" b="1" dirty="0">
                <a:solidFill>
                  <a:srgbClr val="3FB950"/>
                </a:solidFill>
              </a:rPr>
              <a:t>98,110</a:t>
            </a:r>
            <a:endParaRPr lang="en-US" sz="1150" dirty="0"/>
          </a:p>
        </p:txBody>
      </p:sp>
      <p:sp>
        <p:nvSpPr>
          <p:cNvPr id="52" name="Shape 50"/>
          <p:cNvSpPr/>
          <p:nvPr/>
        </p:nvSpPr>
        <p:spPr>
          <a:xfrm>
            <a:off x="4754880" y="3337560"/>
            <a:ext cx="3840480" cy="402336"/>
          </a:xfrm>
          <a:prstGeom prst="rect">
            <a:avLst/>
          </a:prstGeom>
          <a:solidFill>
            <a:srgbClr val="1A1F28"/>
          </a:solidFill>
          <a:ln w="6350">
            <a:solidFill>
              <a:srgbClr val="21262D"/>
            </a:solidFill>
            <a:prstDash val="solid"/>
          </a:ln>
        </p:spPr>
      </p:sp>
      <p:sp>
        <p:nvSpPr>
          <p:cNvPr id="53" name="Text 51"/>
          <p:cNvSpPr/>
          <p:nvPr/>
        </p:nvSpPr>
        <p:spPr>
          <a:xfrm>
            <a:off x="4846320" y="3429000"/>
            <a:ext cx="1783080" cy="237744"/>
          </a:xfrm>
          <a:prstGeom prst="rect">
            <a:avLst/>
          </a:prstGeom>
          <a:noFill/>
          <a:ln/>
        </p:spPr>
        <p:txBody>
          <a:bodyPr wrap="square" rtlCol="0" anchor="ctr"/>
          <a:lstStyle/>
          <a:p>
            <a:pPr indent="0" marL="0">
              <a:buNone/>
            </a:pPr>
            <a:r>
              <a:rPr lang="en-US" sz="1050" dirty="0">
                <a:solidFill>
                  <a:srgbClr val="E6EDF3"/>
                </a:solidFill>
              </a:rPr>
              <a:t>Madavaram</a:t>
            </a:r>
            <a:endParaRPr lang="en-US" sz="1050" dirty="0"/>
          </a:p>
        </p:txBody>
      </p:sp>
      <p:sp>
        <p:nvSpPr>
          <p:cNvPr id="54" name="Shape 52"/>
          <p:cNvSpPr/>
          <p:nvPr/>
        </p:nvSpPr>
        <p:spPr>
          <a:xfrm>
            <a:off x="6720840" y="3419856"/>
            <a:ext cx="822960" cy="237744"/>
          </a:xfrm>
          <a:prstGeom prst="roundRect">
            <a:avLst>
              <a:gd name="adj" fmla="val 15385"/>
            </a:avLst>
          </a:prstGeom>
          <a:solidFill>
            <a:srgbClr val="3FB950"/>
          </a:solidFill>
          <a:ln w="12700">
            <a:solidFill>
              <a:srgbClr val="3FB950"/>
            </a:solidFill>
            <a:prstDash val="solid"/>
          </a:ln>
        </p:spPr>
      </p:sp>
      <p:sp>
        <p:nvSpPr>
          <p:cNvPr id="55" name="Text 53"/>
          <p:cNvSpPr/>
          <p:nvPr/>
        </p:nvSpPr>
        <p:spPr>
          <a:xfrm>
            <a:off x="6720840" y="3419856"/>
            <a:ext cx="822960" cy="237744"/>
          </a:xfrm>
          <a:prstGeom prst="rect">
            <a:avLst/>
          </a:prstGeom>
          <a:noFill/>
          <a:ln/>
        </p:spPr>
        <p:txBody>
          <a:bodyPr wrap="square" rtlCol="0" anchor="ctr"/>
          <a:lstStyle/>
          <a:p>
            <a:pPr algn="ctr" indent="0" marL="0">
              <a:buNone/>
            </a:pPr>
            <a:r>
              <a:rPr lang="en-US" sz="950" b="1" dirty="0">
                <a:solidFill>
                  <a:srgbClr val="FFFFFF"/>
                </a:solidFill>
              </a:rPr>
              <a:t>TVK</a:t>
            </a:r>
            <a:endParaRPr lang="en-US" sz="950" dirty="0"/>
          </a:p>
        </p:txBody>
      </p:sp>
      <p:sp>
        <p:nvSpPr>
          <p:cNvPr id="56" name="Text 54"/>
          <p:cNvSpPr/>
          <p:nvPr/>
        </p:nvSpPr>
        <p:spPr>
          <a:xfrm>
            <a:off x="7635240" y="3429000"/>
            <a:ext cx="1005840" cy="237744"/>
          </a:xfrm>
          <a:prstGeom prst="rect">
            <a:avLst/>
          </a:prstGeom>
          <a:noFill/>
          <a:ln/>
        </p:spPr>
        <p:txBody>
          <a:bodyPr wrap="square" rtlCol="0" anchor="ctr"/>
          <a:lstStyle/>
          <a:p>
            <a:pPr indent="0" marL="0">
              <a:buNone/>
            </a:pPr>
            <a:r>
              <a:rPr lang="en-US" sz="1150" b="1" dirty="0">
                <a:solidFill>
                  <a:srgbClr val="3FB950"/>
                </a:solidFill>
              </a:rPr>
              <a:t>94,985</a:t>
            </a:r>
            <a:endParaRPr lang="en-US" sz="1150" dirty="0"/>
          </a:p>
        </p:txBody>
      </p:sp>
      <p:sp>
        <p:nvSpPr>
          <p:cNvPr id="57" name="Shape 55"/>
          <p:cNvSpPr/>
          <p:nvPr/>
        </p:nvSpPr>
        <p:spPr>
          <a:xfrm>
            <a:off x="4754880" y="3794760"/>
            <a:ext cx="3840480" cy="402336"/>
          </a:xfrm>
          <a:prstGeom prst="rect">
            <a:avLst/>
          </a:prstGeom>
          <a:solidFill>
            <a:srgbClr val="161B22"/>
          </a:solidFill>
          <a:ln w="6350">
            <a:solidFill>
              <a:srgbClr val="21262D"/>
            </a:solidFill>
            <a:prstDash val="solid"/>
          </a:ln>
        </p:spPr>
      </p:sp>
      <p:sp>
        <p:nvSpPr>
          <p:cNvPr id="58" name="Text 56"/>
          <p:cNvSpPr/>
          <p:nvPr/>
        </p:nvSpPr>
        <p:spPr>
          <a:xfrm>
            <a:off x="4846320" y="3886200"/>
            <a:ext cx="1783080" cy="237744"/>
          </a:xfrm>
          <a:prstGeom prst="rect">
            <a:avLst/>
          </a:prstGeom>
          <a:noFill/>
          <a:ln/>
        </p:spPr>
        <p:txBody>
          <a:bodyPr wrap="square" rtlCol="0" anchor="ctr"/>
          <a:lstStyle/>
          <a:p>
            <a:pPr indent="0" marL="0">
              <a:buNone/>
            </a:pPr>
            <a:r>
              <a:rPr lang="en-US" sz="1050" dirty="0">
                <a:solidFill>
                  <a:srgbClr val="E6EDF3"/>
                </a:solidFill>
              </a:rPr>
              <a:t>Salem (West)</a:t>
            </a:r>
            <a:endParaRPr lang="en-US" sz="1050" dirty="0"/>
          </a:p>
        </p:txBody>
      </p:sp>
      <p:sp>
        <p:nvSpPr>
          <p:cNvPr id="59" name="Shape 57"/>
          <p:cNvSpPr/>
          <p:nvPr/>
        </p:nvSpPr>
        <p:spPr>
          <a:xfrm>
            <a:off x="6720840" y="3877056"/>
            <a:ext cx="822960" cy="237744"/>
          </a:xfrm>
          <a:prstGeom prst="roundRect">
            <a:avLst>
              <a:gd name="adj" fmla="val 15385"/>
            </a:avLst>
          </a:prstGeom>
          <a:solidFill>
            <a:srgbClr val="3FB950"/>
          </a:solidFill>
          <a:ln w="12700">
            <a:solidFill>
              <a:srgbClr val="3FB950"/>
            </a:solidFill>
            <a:prstDash val="solid"/>
          </a:ln>
        </p:spPr>
      </p:sp>
      <p:sp>
        <p:nvSpPr>
          <p:cNvPr id="60" name="Text 58"/>
          <p:cNvSpPr/>
          <p:nvPr/>
        </p:nvSpPr>
        <p:spPr>
          <a:xfrm>
            <a:off x="6720840" y="3877056"/>
            <a:ext cx="822960" cy="237744"/>
          </a:xfrm>
          <a:prstGeom prst="rect">
            <a:avLst/>
          </a:prstGeom>
          <a:noFill/>
          <a:ln/>
        </p:spPr>
        <p:txBody>
          <a:bodyPr wrap="square" rtlCol="0" anchor="ctr"/>
          <a:lstStyle/>
          <a:p>
            <a:pPr algn="ctr" indent="0" marL="0">
              <a:buNone/>
            </a:pPr>
            <a:r>
              <a:rPr lang="en-US" sz="950" b="1" dirty="0">
                <a:solidFill>
                  <a:srgbClr val="FFFFFF"/>
                </a:solidFill>
              </a:rPr>
              <a:t>TVK</a:t>
            </a:r>
            <a:endParaRPr lang="en-US" sz="950" dirty="0"/>
          </a:p>
        </p:txBody>
      </p:sp>
      <p:sp>
        <p:nvSpPr>
          <p:cNvPr id="61" name="Text 59"/>
          <p:cNvSpPr/>
          <p:nvPr/>
        </p:nvSpPr>
        <p:spPr>
          <a:xfrm>
            <a:off x="7635240" y="3886200"/>
            <a:ext cx="1005840" cy="237744"/>
          </a:xfrm>
          <a:prstGeom prst="rect">
            <a:avLst/>
          </a:prstGeom>
          <a:noFill/>
          <a:ln/>
        </p:spPr>
        <p:txBody>
          <a:bodyPr wrap="square" rtlCol="0" anchor="ctr"/>
          <a:lstStyle/>
          <a:p>
            <a:pPr indent="0" marL="0">
              <a:buNone/>
            </a:pPr>
            <a:r>
              <a:rPr lang="en-US" sz="1150" b="1" dirty="0">
                <a:solidFill>
                  <a:srgbClr val="3FB950"/>
                </a:solidFill>
              </a:rPr>
              <a:t>74,867</a:t>
            </a:r>
            <a:endParaRPr lang="en-US" sz="1150" dirty="0"/>
          </a:p>
        </p:txBody>
      </p:sp>
      <p:sp>
        <p:nvSpPr>
          <p:cNvPr id="62" name="Shape 60"/>
          <p:cNvSpPr/>
          <p:nvPr/>
        </p:nvSpPr>
        <p:spPr>
          <a:xfrm>
            <a:off x="4754880" y="4251960"/>
            <a:ext cx="3840480" cy="402336"/>
          </a:xfrm>
          <a:prstGeom prst="rect">
            <a:avLst/>
          </a:prstGeom>
          <a:solidFill>
            <a:srgbClr val="1A1F28"/>
          </a:solidFill>
          <a:ln w="6350">
            <a:solidFill>
              <a:srgbClr val="21262D"/>
            </a:solidFill>
            <a:prstDash val="solid"/>
          </a:ln>
        </p:spPr>
      </p:sp>
      <p:sp>
        <p:nvSpPr>
          <p:cNvPr id="63" name="Text 61"/>
          <p:cNvSpPr/>
          <p:nvPr/>
        </p:nvSpPr>
        <p:spPr>
          <a:xfrm>
            <a:off x="4846320" y="4343400"/>
            <a:ext cx="1783080" cy="237744"/>
          </a:xfrm>
          <a:prstGeom prst="rect">
            <a:avLst/>
          </a:prstGeom>
          <a:noFill/>
          <a:ln/>
        </p:spPr>
        <p:txBody>
          <a:bodyPr wrap="square" rtlCol="0" anchor="ctr"/>
          <a:lstStyle/>
          <a:p>
            <a:pPr indent="0" marL="0">
              <a:buNone/>
            </a:pPr>
            <a:r>
              <a:rPr lang="en-US" sz="1050" dirty="0">
                <a:solidFill>
                  <a:srgbClr val="E6EDF3"/>
                </a:solidFill>
              </a:rPr>
              <a:t>Shozhinganallur</a:t>
            </a:r>
            <a:endParaRPr lang="en-US" sz="1050" dirty="0"/>
          </a:p>
        </p:txBody>
      </p:sp>
      <p:sp>
        <p:nvSpPr>
          <p:cNvPr id="64" name="Shape 62"/>
          <p:cNvSpPr/>
          <p:nvPr/>
        </p:nvSpPr>
        <p:spPr>
          <a:xfrm>
            <a:off x="6720840" y="4334256"/>
            <a:ext cx="822960" cy="237744"/>
          </a:xfrm>
          <a:prstGeom prst="roundRect">
            <a:avLst>
              <a:gd name="adj" fmla="val 15385"/>
            </a:avLst>
          </a:prstGeom>
          <a:solidFill>
            <a:srgbClr val="3FB950"/>
          </a:solidFill>
          <a:ln w="12700">
            <a:solidFill>
              <a:srgbClr val="3FB950"/>
            </a:solidFill>
            <a:prstDash val="solid"/>
          </a:ln>
        </p:spPr>
      </p:sp>
      <p:sp>
        <p:nvSpPr>
          <p:cNvPr id="65" name="Text 63"/>
          <p:cNvSpPr/>
          <p:nvPr/>
        </p:nvSpPr>
        <p:spPr>
          <a:xfrm>
            <a:off x="6720840" y="4334256"/>
            <a:ext cx="822960" cy="237744"/>
          </a:xfrm>
          <a:prstGeom prst="rect">
            <a:avLst/>
          </a:prstGeom>
          <a:noFill/>
          <a:ln/>
        </p:spPr>
        <p:txBody>
          <a:bodyPr wrap="square" rtlCol="0" anchor="ctr"/>
          <a:lstStyle/>
          <a:p>
            <a:pPr algn="ctr" indent="0" marL="0">
              <a:buNone/>
            </a:pPr>
            <a:r>
              <a:rPr lang="en-US" sz="950" b="1" dirty="0">
                <a:solidFill>
                  <a:srgbClr val="FFFFFF"/>
                </a:solidFill>
              </a:rPr>
              <a:t>TVK</a:t>
            </a:r>
            <a:endParaRPr lang="en-US" sz="950" dirty="0"/>
          </a:p>
        </p:txBody>
      </p:sp>
      <p:sp>
        <p:nvSpPr>
          <p:cNvPr id="66" name="Text 64"/>
          <p:cNvSpPr/>
          <p:nvPr/>
        </p:nvSpPr>
        <p:spPr>
          <a:xfrm>
            <a:off x="7635240" y="4343400"/>
            <a:ext cx="1005840" cy="237744"/>
          </a:xfrm>
          <a:prstGeom prst="rect">
            <a:avLst/>
          </a:prstGeom>
          <a:noFill/>
          <a:ln/>
        </p:spPr>
        <p:txBody>
          <a:bodyPr wrap="square" rtlCol="0" anchor="ctr"/>
          <a:lstStyle/>
          <a:p>
            <a:pPr indent="0" marL="0">
              <a:buNone/>
            </a:pPr>
            <a:r>
              <a:rPr lang="en-US" sz="1150" b="1" dirty="0">
                <a:solidFill>
                  <a:srgbClr val="3FB950"/>
                </a:solidFill>
              </a:rPr>
              <a:t>96,780</a:t>
            </a:r>
            <a:endParaRPr lang="en-US" sz="1150" dirty="0"/>
          </a:p>
        </p:txBody>
      </p:sp>
      <p:sp>
        <p:nvSpPr>
          <p:cNvPr id="67" name="Shape 65"/>
          <p:cNvSpPr/>
          <p:nvPr/>
        </p:nvSpPr>
        <p:spPr>
          <a:xfrm>
            <a:off x="274320" y="4645152"/>
            <a:ext cx="8595360" cy="320040"/>
          </a:xfrm>
          <a:prstGeom prst="rect">
            <a:avLst/>
          </a:prstGeom>
          <a:solidFill>
            <a:srgbClr val="1E1A1A"/>
          </a:solidFill>
          <a:ln w="12700">
            <a:solidFill>
              <a:srgbClr val="F85149"/>
            </a:solidFill>
            <a:prstDash val="solid"/>
          </a:ln>
        </p:spPr>
      </p:sp>
      <p:sp>
        <p:nvSpPr>
          <p:cNvPr id="68" name="Text 66"/>
          <p:cNvSpPr/>
          <p:nvPr/>
        </p:nvSpPr>
        <p:spPr>
          <a:xfrm>
            <a:off x="457200" y="4690872"/>
            <a:ext cx="8229600" cy="237744"/>
          </a:xfrm>
          <a:prstGeom prst="rect">
            <a:avLst/>
          </a:prstGeom>
          <a:noFill/>
          <a:ln/>
        </p:spPr>
        <p:txBody>
          <a:bodyPr wrap="square" rtlCol="0" anchor="ctr"/>
          <a:lstStyle/>
          <a:p>
            <a:pPr indent="0" marL="0">
              <a:buNone/>
            </a:pPr>
            <a:r>
              <a:rPr lang="en-US" sz="1050" dirty="0">
                <a:solidFill>
                  <a:srgbClr val="F85149"/>
                </a:solidFill>
              </a:rPr>
              <a:t>KEY INSIGHT:  Tiruppattur was decided by just 1 vote. Edappadi by 98,110. The same election produced both — a sign of deep fragmentation.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w="12700">
            <a:solidFill>
              <a:srgbClr val="F5A623"/>
            </a:solidFill>
            <a:prstDash val="solid"/>
          </a:ln>
        </p:spPr>
      </p:sp>
      <p:sp>
        <p:nvSpPr>
          <p:cNvPr id="3" name="Text 1"/>
          <p:cNvSpPr/>
          <p:nvPr/>
        </p:nvSpPr>
        <p:spPr>
          <a:xfrm>
            <a:off x="365760" y="228600"/>
            <a:ext cx="5486400" cy="228600"/>
          </a:xfrm>
          <a:prstGeom prst="rect">
            <a:avLst/>
          </a:prstGeom>
          <a:noFill/>
          <a:ln/>
        </p:spPr>
        <p:txBody>
          <a:bodyPr wrap="square" rtlCol="0" anchor="ctr"/>
          <a:lstStyle/>
          <a:p>
            <a:pPr indent="0" marL="0">
              <a:buNone/>
            </a:pPr>
            <a:r>
              <a:rPr lang="en-US" sz="900" b="1" spc="300" kern="0" dirty="0">
                <a:solidFill>
                  <a:srgbClr val="F5A623"/>
                </a:solidFill>
              </a:rPr>
              <a:t>CONCLUSION</a:t>
            </a:r>
            <a:endParaRPr lang="en-US" sz="900" dirty="0"/>
          </a:p>
        </p:txBody>
      </p:sp>
      <p:sp>
        <p:nvSpPr>
          <p:cNvPr id="4" name="Text 2"/>
          <p:cNvSpPr/>
          <p:nvPr/>
        </p:nvSpPr>
        <p:spPr>
          <a:xfrm>
            <a:off x="365760" y="475488"/>
            <a:ext cx="8229600" cy="594360"/>
          </a:xfrm>
          <a:prstGeom prst="rect">
            <a:avLst/>
          </a:prstGeom>
          <a:noFill/>
          <a:ln/>
        </p:spPr>
        <p:txBody>
          <a:bodyPr wrap="square" rtlCol="0" anchor="ctr"/>
          <a:lstStyle/>
          <a:p>
            <a:pPr indent="0" marL="0">
              <a:buNone/>
            </a:pPr>
            <a:r>
              <a:rPr lang="en-US" sz="3000" b="1" dirty="0">
                <a:solidFill>
                  <a:srgbClr val="FFFFFF"/>
                </a:solidFill>
              </a:rPr>
              <a:t>The Three-Story Thread</a:t>
            </a:r>
            <a:endParaRPr lang="en-US" sz="3000" dirty="0"/>
          </a:p>
        </p:txBody>
      </p:sp>
      <p:sp>
        <p:nvSpPr>
          <p:cNvPr id="5" name="Text 3"/>
          <p:cNvSpPr/>
          <p:nvPr/>
        </p:nvSpPr>
        <p:spPr>
          <a:xfrm>
            <a:off x="365760" y="1078992"/>
            <a:ext cx="8229600" cy="320040"/>
          </a:xfrm>
          <a:prstGeom prst="rect">
            <a:avLst/>
          </a:prstGeom>
          <a:noFill/>
          <a:ln/>
        </p:spPr>
        <p:txBody>
          <a:bodyPr wrap="square" rtlCol="0" anchor="ctr"/>
          <a:lstStyle/>
          <a:p>
            <a:pPr indent="0" marL="0">
              <a:buNone/>
            </a:pPr>
            <a:r>
              <a:rPr lang="en-US" sz="1300" dirty="0">
                <a:solidFill>
                  <a:srgbClr val="8B949E"/>
                </a:solidFill>
              </a:rPr>
              <a:t>All three stories point to the same structural shift in Tamil Nadu politics.</a:t>
            </a:r>
            <a:endParaRPr lang="en-US" sz="1300" dirty="0"/>
          </a:p>
        </p:txBody>
      </p:sp>
      <p:sp>
        <p:nvSpPr>
          <p:cNvPr id="6" name="Shape 4"/>
          <p:cNvSpPr/>
          <p:nvPr/>
        </p:nvSpPr>
        <p:spPr>
          <a:xfrm>
            <a:off x="365760" y="1508760"/>
            <a:ext cx="8412480" cy="100584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7" name="Shape 5"/>
          <p:cNvSpPr/>
          <p:nvPr/>
        </p:nvSpPr>
        <p:spPr>
          <a:xfrm>
            <a:off x="365760" y="1508760"/>
            <a:ext cx="73152" cy="1005840"/>
          </a:xfrm>
          <a:prstGeom prst="rect">
            <a:avLst/>
          </a:prstGeom>
          <a:solidFill>
            <a:srgbClr val="3FB950"/>
          </a:solidFill>
          <a:ln w="12700">
            <a:solidFill>
              <a:srgbClr val="3FB950"/>
            </a:solidFill>
            <a:prstDash val="solid"/>
          </a:ln>
        </p:spPr>
      </p:sp>
      <p:sp>
        <p:nvSpPr>
          <p:cNvPr id="8" name="Text 6"/>
          <p:cNvSpPr/>
          <p:nvPr/>
        </p:nvSpPr>
        <p:spPr>
          <a:xfrm>
            <a:off x="548640" y="1581912"/>
            <a:ext cx="502920" cy="411480"/>
          </a:xfrm>
          <a:prstGeom prst="rect">
            <a:avLst/>
          </a:prstGeom>
          <a:noFill/>
          <a:ln/>
        </p:spPr>
        <p:txBody>
          <a:bodyPr wrap="square" rtlCol="0" anchor="ctr"/>
          <a:lstStyle/>
          <a:p>
            <a:pPr algn="ctr" indent="0" marL="0">
              <a:buNone/>
            </a:pPr>
            <a:r>
              <a:rPr lang="en-US" sz="2400" b="1" dirty="0">
                <a:solidFill>
                  <a:srgbClr val="3FB950"/>
                </a:solidFill>
              </a:rPr>
              <a:t>01</a:t>
            </a:r>
            <a:endParaRPr lang="en-US" sz="2400" dirty="0"/>
          </a:p>
        </p:txBody>
      </p:sp>
      <p:sp>
        <p:nvSpPr>
          <p:cNvPr id="9" name="Text 7"/>
          <p:cNvSpPr/>
          <p:nvPr/>
        </p:nvSpPr>
        <p:spPr>
          <a:xfrm>
            <a:off x="1097280" y="1581912"/>
            <a:ext cx="1828800" cy="256032"/>
          </a:xfrm>
          <a:prstGeom prst="rect">
            <a:avLst/>
          </a:prstGeom>
          <a:noFill/>
          <a:ln/>
        </p:spPr>
        <p:txBody>
          <a:bodyPr wrap="square" rtlCol="0" anchor="ctr"/>
          <a:lstStyle/>
          <a:p>
            <a:pPr indent="0" marL="0">
              <a:buNone/>
            </a:pPr>
            <a:r>
              <a:rPr lang="en-US" sz="950" b="1" spc="100" kern="0" dirty="0">
                <a:solidFill>
                  <a:srgbClr val="3FB950"/>
                </a:solidFill>
              </a:rPr>
              <a:t>The Flip Story</a:t>
            </a:r>
            <a:endParaRPr lang="en-US" sz="950" dirty="0"/>
          </a:p>
        </p:txBody>
      </p:sp>
      <p:sp>
        <p:nvSpPr>
          <p:cNvPr id="10" name="Text 8"/>
          <p:cNvSpPr/>
          <p:nvPr/>
        </p:nvSpPr>
        <p:spPr>
          <a:xfrm>
            <a:off x="1097280" y="1819656"/>
            <a:ext cx="7132320" cy="256032"/>
          </a:xfrm>
          <a:prstGeom prst="rect">
            <a:avLst/>
          </a:prstGeom>
          <a:noFill/>
          <a:ln/>
        </p:spPr>
        <p:txBody>
          <a:bodyPr wrap="square" rtlCol="0" anchor="ctr"/>
          <a:lstStyle/>
          <a:p>
            <a:pPr indent="0" marL="0">
              <a:buNone/>
            </a:pPr>
            <a:r>
              <a:rPr lang="en-US" sz="1250" b="1" dirty="0">
                <a:solidFill>
                  <a:srgbClr val="FFFFFF"/>
                </a:solidFill>
              </a:rPr>
              <a:t>A 2-party system became a 3-way battle overnight</a:t>
            </a:r>
            <a:endParaRPr lang="en-US" sz="1250" dirty="0"/>
          </a:p>
        </p:txBody>
      </p:sp>
      <p:sp>
        <p:nvSpPr>
          <p:cNvPr id="11" name="Text 9"/>
          <p:cNvSpPr/>
          <p:nvPr/>
        </p:nvSpPr>
        <p:spPr>
          <a:xfrm>
            <a:off x="1097280" y="2075688"/>
            <a:ext cx="7132320" cy="347472"/>
          </a:xfrm>
          <a:prstGeom prst="rect">
            <a:avLst/>
          </a:prstGeom>
          <a:noFill/>
          <a:ln/>
        </p:spPr>
        <p:txBody>
          <a:bodyPr wrap="square" rtlCol="0" anchor="ctr"/>
          <a:lstStyle/>
          <a:p>
            <a:pPr indent="0" marL="0">
              <a:buNone/>
            </a:pPr>
            <a:r>
              <a:rPr lang="en-US" sz="1050" dirty="0">
                <a:solidFill>
                  <a:srgbClr val="8B949E"/>
                </a:solidFill>
              </a:rPr>
              <a:t>163 of 234 seats changed hands. TVK absorbed 65 DMK seats and 26 AIADMK seats in a single election — the most dramatic realignment in Tamil Nadu's modern history.</a:t>
            </a:r>
            <a:endParaRPr lang="en-US" sz="1050" dirty="0"/>
          </a:p>
        </p:txBody>
      </p:sp>
      <p:sp>
        <p:nvSpPr>
          <p:cNvPr id="12" name="Shape 10"/>
          <p:cNvSpPr/>
          <p:nvPr/>
        </p:nvSpPr>
        <p:spPr>
          <a:xfrm>
            <a:off x="365760" y="2624328"/>
            <a:ext cx="8412480" cy="100584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3" name="Shape 11"/>
          <p:cNvSpPr/>
          <p:nvPr/>
        </p:nvSpPr>
        <p:spPr>
          <a:xfrm>
            <a:off x="365760" y="2624328"/>
            <a:ext cx="73152" cy="1005840"/>
          </a:xfrm>
          <a:prstGeom prst="rect">
            <a:avLst/>
          </a:prstGeom>
          <a:solidFill>
            <a:srgbClr val="F5A623"/>
          </a:solidFill>
          <a:ln w="12700">
            <a:solidFill>
              <a:srgbClr val="F5A623"/>
            </a:solidFill>
            <a:prstDash val="solid"/>
          </a:ln>
        </p:spPr>
      </p:sp>
      <p:sp>
        <p:nvSpPr>
          <p:cNvPr id="14" name="Text 12"/>
          <p:cNvSpPr/>
          <p:nvPr/>
        </p:nvSpPr>
        <p:spPr>
          <a:xfrm>
            <a:off x="548640" y="2697480"/>
            <a:ext cx="502920" cy="411480"/>
          </a:xfrm>
          <a:prstGeom prst="rect">
            <a:avLst/>
          </a:prstGeom>
          <a:noFill/>
          <a:ln/>
        </p:spPr>
        <p:txBody>
          <a:bodyPr wrap="square" rtlCol="0" anchor="ctr"/>
          <a:lstStyle/>
          <a:p>
            <a:pPr algn="ctr" indent="0" marL="0">
              <a:buNone/>
            </a:pPr>
            <a:r>
              <a:rPr lang="en-US" sz="2400" b="1" dirty="0">
                <a:solidFill>
                  <a:srgbClr val="F5A623"/>
                </a:solidFill>
              </a:rPr>
              <a:t>02</a:t>
            </a:r>
            <a:endParaRPr lang="en-US" sz="2400" dirty="0"/>
          </a:p>
        </p:txBody>
      </p:sp>
      <p:sp>
        <p:nvSpPr>
          <p:cNvPr id="15" name="Text 13"/>
          <p:cNvSpPr/>
          <p:nvPr/>
        </p:nvSpPr>
        <p:spPr>
          <a:xfrm>
            <a:off x="1097280" y="2697480"/>
            <a:ext cx="1828800" cy="256032"/>
          </a:xfrm>
          <a:prstGeom prst="rect">
            <a:avLst/>
          </a:prstGeom>
          <a:noFill/>
          <a:ln/>
        </p:spPr>
        <p:txBody>
          <a:bodyPr wrap="square" rtlCol="0" anchor="ctr"/>
          <a:lstStyle/>
          <a:p>
            <a:pPr indent="0" marL="0">
              <a:buNone/>
            </a:pPr>
            <a:r>
              <a:rPr lang="en-US" sz="950" b="1" spc="100" kern="0" dirty="0">
                <a:solidFill>
                  <a:srgbClr val="F5A623"/>
                </a:solidFill>
              </a:rPr>
              <a:t>The Vote Share Story</a:t>
            </a:r>
            <a:endParaRPr lang="en-US" sz="950" dirty="0"/>
          </a:p>
        </p:txBody>
      </p:sp>
      <p:sp>
        <p:nvSpPr>
          <p:cNvPr id="16" name="Text 14"/>
          <p:cNvSpPr/>
          <p:nvPr/>
        </p:nvSpPr>
        <p:spPr>
          <a:xfrm>
            <a:off x="1097280" y="2935224"/>
            <a:ext cx="7132320" cy="256032"/>
          </a:xfrm>
          <a:prstGeom prst="rect">
            <a:avLst/>
          </a:prstGeom>
          <a:noFill/>
          <a:ln/>
        </p:spPr>
        <p:txBody>
          <a:bodyPr wrap="square" rtlCol="0" anchor="ctr"/>
          <a:lstStyle/>
          <a:p>
            <a:pPr indent="0" marL="0">
              <a:buNone/>
            </a:pPr>
            <a:r>
              <a:rPr lang="en-US" sz="1250" b="1" dirty="0">
                <a:solidFill>
                  <a:srgbClr val="FFFFFF"/>
                </a:solidFill>
              </a:rPr>
              <a:t>TVK pulled ~14 percentage points from both rivals</a:t>
            </a:r>
            <a:endParaRPr lang="en-US" sz="1250" dirty="0"/>
          </a:p>
        </p:txBody>
      </p:sp>
      <p:sp>
        <p:nvSpPr>
          <p:cNvPr id="17" name="Text 15"/>
          <p:cNvSpPr/>
          <p:nvPr/>
        </p:nvSpPr>
        <p:spPr>
          <a:xfrm>
            <a:off x="1097280" y="3191256"/>
            <a:ext cx="7132320" cy="347472"/>
          </a:xfrm>
          <a:prstGeom prst="rect">
            <a:avLst/>
          </a:prstGeom>
          <a:noFill/>
          <a:ln/>
        </p:spPr>
        <p:txBody>
          <a:bodyPr wrap="square" rtlCol="0" anchor="ctr"/>
          <a:lstStyle/>
          <a:p>
            <a:pPr indent="0" marL="0">
              <a:buNone/>
            </a:pPr>
            <a:r>
              <a:rPr lang="en-US" sz="1050" dirty="0">
                <a:solidFill>
                  <a:srgbClr val="8B949E"/>
                </a:solidFill>
              </a:rPr>
              <a:t>DMK fell from 57.8% to 24%, AIADMK from 28.8% to 21.21%. TVK's 35.08% debut share was sourced equally from both — confirming a broad-based, not narrow, appeal.</a:t>
            </a:r>
            <a:endParaRPr lang="en-US" sz="1050" dirty="0"/>
          </a:p>
        </p:txBody>
      </p:sp>
      <p:sp>
        <p:nvSpPr>
          <p:cNvPr id="18" name="Shape 16"/>
          <p:cNvSpPr/>
          <p:nvPr/>
        </p:nvSpPr>
        <p:spPr>
          <a:xfrm>
            <a:off x="365760" y="3739896"/>
            <a:ext cx="8412480" cy="1005840"/>
          </a:xfrm>
          <a:prstGeom prst="rect">
            <a:avLst/>
          </a:prstGeom>
          <a:solidFill>
            <a:srgbClr val="161B22"/>
          </a:solidFill>
          <a:ln w="12700">
            <a:solidFill>
              <a:srgbClr val="21262D"/>
            </a:solidFill>
            <a:prstDash val="solid"/>
          </a:ln>
          <a:effectLst>
            <a:outerShdw sx="100000" sy="100000" kx="0" ky="0" algn="bl" rotWithShape="0" blurRad="127000" dist="38100" dir="8100000">
              <a:srgbClr val="000000">
                <a:alpha val="30000"/>
              </a:srgbClr>
            </a:outerShdw>
          </a:effectLst>
        </p:spPr>
      </p:sp>
      <p:sp>
        <p:nvSpPr>
          <p:cNvPr id="19" name="Shape 17"/>
          <p:cNvSpPr/>
          <p:nvPr/>
        </p:nvSpPr>
        <p:spPr>
          <a:xfrm>
            <a:off x="365760" y="3739896"/>
            <a:ext cx="73152" cy="1005840"/>
          </a:xfrm>
          <a:prstGeom prst="rect">
            <a:avLst/>
          </a:prstGeom>
          <a:solidFill>
            <a:srgbClr val="F85149"/>
          </a:solidFill>
          <a:ln w="12700">
            <a:solidFill>
              <a:srgbClr val="F85149"/>
            </a:solidFill>
            <a:prstDash val="solid"/>
          </a:ln>
        </p:spPr>
      </p:sp>
      <p:sp>
        <p:nvSpPr>
          <p:cNvPr id="20" name="Text 18"/>
          <p:cNvSpPr/>
          <p:nvPr/>
        </p:nvSpPr>
        <p:spPr>
          <a:xfrm>
            <a:off x="548640" y="3813048"/>
            <a:ext cx="502920" cy="411480"/>
          </a:xfrm>
          <a:prstGeom prst="rect">
            <a:avLst/>
          </a:prstGeom>
          <a:noFill/>
          <a:ln/>
        </p:spPr>
        <p:txBody>
          <a:bodyPr wrap="square" rtlCol="0" anchor="ctr"/>
          <a:lstStyle/>
          <a:p>
            <a:pPr algn="ctr" indent="0" marL="0">
              <a:buNone/>
            </a:pPr>
            <a:r>
              <a:rPr lang="en-US" sz="2400" b="1" dirty="0">
                <a:solidFill>
                  <a:srgbClr val="F85149"/>
                </a:solidFill>
              </a:rPr>
              <a:t>03</a:t>
            </a:r>
            <a:endParaRPr lang="en-US" sz="2400" dirty="0"/>
          </a:p>
        </p:txBody>
      </p:sp>
      <p:sp>
        <p:nvSpPr>
          <p:cNvPr id="21" name="Text 19"/>
          <p:cNvSpPr/>
          <p:nvPr/>
        </p:nvSpPr>
        <p:spPr>
          <a:xfrm>
            <a:off x="1097280" y="3813048"/>
            <a:ext cx="1828800" cy="256032"/>
          </a:xfrm>
          <a:prstGeom prst="rect">
            <a:avLst/>
          </a:prstGeom>
          <a:noFill/>
          <a:ln/>
        </p:spPr>
        <p:txBody>
          <a:bodyPr wrap="square" rtlCol="0" anchor="ctr"/>
          <a:lstStyle/>
          <a:p>
            <a:pPr indent="0" marL="0">
              <a:buNone/>
            </a:pPr>
            <a:r>
              <a:rPr lang="en-US" sz="950" b="1" spc="100" kern="0" dirty="0">
                <a:solidFill>
                  <a:srgbClr val="F85149"/>
                </a:solidFill>
              </a:rPr>
              <a:t>The Margin Story</a:t>
            </a:r>
            <a:endParaRPr lang="en-US" sz="950" dirty="0"/>
          </a:p>
        </p:txBody>
      </p:sp>
      <p:sp>
        <p:nvSpPr>
          <p:cNvPr id="22" name="Text 20"/>
          <p:cNvSpPr/>
          <p:nvPr/>
        </p:nvSpPr>
        <p:spPr>
          <a:xfrm>
            <a:off x="1097280" y="4050792"/>
            <a:ext cx="7132320" cy="256032"/>
          </a:xfrm>
          <a:prstGeom prst="rect">
            <a:avLst/>
          </a:prstGeom>
          <a:noFill/>
          <a:ln/>
        </p:spPr>
        <p:txBody>
          <a:bodyPr wrap="square" rtlCol="0" anchor="ctr"/>
          <a:lstStyle/>
          <a:p>
            <a:pPr indent="0" marL="0">
              <a:buNone/>
            </a:pPr>
            <a:r>
              <a:rPr lang="en-US" sz="1250" b="1" dirty="0">
                <a:solidFill>
                  <a:srgbClr val="FFFFFF"/>
                </a:solidFill>
              </a:rPr>
              <a:t>Closer races mean TVK's mandate is fragile</a:t>
            </a:r>
            <a:endParaRPr lang="en-US" sz="1250" dirty="0"/>
          </a:p>
        </p:txBody>
      </p:sp>
      <p:sp>
        <p:nvSpPr>
          <p:cNvPr id="23" name="Text 21"/>
          <p:cNvSpPr/>
          <p:nvPr/>
        </p:nvSpPr>
        <p:spPr>
          <a:xfrm>
            <a:off x="1097280" y="4306824"/>
            <a:ext cx="7132320" cy="347472"/>
          </a:xfrm>
          <a:prstGeom prst="rect">
            <a:avLst/>
          </a:prstGeom>
          <a:noFill/>
          <a:ln/>
        </p:spPr>
        <p:txBody>
          <a:bodyPr wrap="square" rtlCol="0" anchor="ctr"/>
          <a:lstStyle/>
          <a:p>
            <a:pPr indent="0" marL="0">
              <a:buNone/>
            </a:pPr>
            <a:r>
              <a:rPr lang="en-US" sz="1050" dirty="0">
                <a:solidFill>
                  <a:srgbClr val="8B949E"/>
                </a:solidFill>
              </a:rPr>
              <a:t>Avg margin fell 25,365 → 16,780. Photo-finish seats doubled. TVK won big but sits on a thin majority — 2031 begins now.</a:t>
            </a:r>
            <a:endParaRPr lang="en-US" sz="1050" dirty="0"/>
          </a:p>
        </p:txBody>
      </p:sp>
      <p:sp>
        <p:nvSpPr>
          <p:cNvPr id="24" name="Shape 22"/>
          <p:cNvSpPr/>
          <p:nvPr/>
        </p:nvSpPr>
        <p:spPr>
          <a:xfrm>
            <a:off x="365760" y="4572000"/>
            <a:ext cx="8412480" cy="384048"/>
          </a:xfrm>
          <a:prstGeom prst="rect">
            <a:avLst/>
          </a:prstGeom>
          <a:solidFill>
            <a:srgbClr val="1A1510"/>
          </a:solidFill>
          <a:ln w="12700">
            <a:solidFill>
              <a:srgbClr val="F5A623"/>
            </a:solidFill>
            <a:prstDash val="solid"/>
          </a:ln>
        </p:spPr>
      </p:sp>
      <p:sp>
        <p:nvSpPr>
          <p:cNvPr id="25" name="Text 23"/>
          <p:cNvSpPr/>
          <p:nvPr/>
        </p:nvSpPr>
        <p:spPr>
          <a:xfrm>
            <a:off x="548640" y="4617720"/>
            <a:ext cx="8046720" cy="292608"/>
          </a:xfrm>
          <a:prstGeom prst="rect">
            <a:avLst/>
          </a:prstGeom>
          <a:noFill/>
          <a:ln/>
        </p:spPr>
        <p:txBody>
          <a:bodyPr wrap="square" rtlCol="0" anchor="ctr"/>
          <a:lstStyle/>
          <a:p>
            <a:pPr indent="0" marL="0">
              <a:buNone/>
            </a:pPr>
            <a:r>
              <a:rPr lang="en-US" sz="1000" i="1" dirty="0">
                <a:solidFill>
                  <a:srgbClr val="F5A623"/>
                </a:solidFill>
              </a:rPr>
              <a:t>"The seats that flipped mostly changed because TVK pulled vote share from both rivals. The close margins in those seats tell us exactly how fragile the new order is."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FB950"/>
          </a:solidFill>
          <a:ln w="12700">
            <a:solidFill>
              <a:srgbClr val="3FB950"/>
            </a:solidFill>
            <a:prstDash val="solid"/>
          </a:ln>
        </p:spPr>
      </p:sp>
      <p:sp>
        <p:nvSpPr>
          <p:cNvPr id="3" name="Text 1"/>
          <p:cNvSpPr/>
          <p:nvPr/>
        </p:nvSpPr>
        <p:spPr>
          <a:xfrm>
            <a:off x="365760" y="457200"/>
            <a:ext cx="8229600" cy="256032"/>
          </a:xfrm>
          <a:prstGeom prst="rect">
            <a:avLst/>
          </a:prstGeom>
          <a:noFill/>
          <a:ln/>
        </p:spPr>
        <p:txBody>
          <a:bodyPr wrap="square" rtlCol="0" anchor="ctr"/>
          <a:lstStyle/>
          <a:p>
            <a:pPr indent="0" marL="0">
              <a:buNone/>
            </a:pPr>
            <a:r>
              <a:rPr lang="en-US" sz="900" spc="200" kern="0" dirty="0">
                <a:solidFill>
                  <a:srgbClr val="8B949E"/>
                </a:solidFill>
              </a:rPr>
              <a:t>TAMIL NAIDU 2026  ·  ELECTION RESULT ANALYSIS</a:t>
            </a:r>
            <a:endParaRPr lang="en-US" sz="900" dirty="0"/>
          </a:p>
        </p:txBody>
      </p:sp>
      <p:sp>
        <p:nvSpPr>
          <p:cNvPr id="4" name="Text 2"/>
          <p:cNvSpPr/>
          <p:nvPr/>
        </p:nvSpPr>
        <p:spPr>
          <a:xfrm>
            <a:off x="365760" y="1005840"/>
            <a:ext cx="8229600" cy="1097280"/>
          </a:xfrm>
          <a:prstGeom prst="rect">
            <a:avLst/>
          </a:prstGeom>
          <a:noFill/>
          <a:ln/>
        </p:spPr>
        <p:txBody>
          <a:bodyPr wrap="square"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5" name="Text 3"/>
          <p:cNvSpPr/>
          <p:nvPr/>
        </p:nvSpPr>
        <p:spPr>
          <a:xfrm>
            <a:off x="365760" y="2011680"/>
            <a:ext cx="5486400" cy="457200"/>
          </a:xfrm>
          <a:prstGeom prst="rect">
            <a:avLst/>
          </a:prstGeom>
          <a:noFill/>
          <a:ln/>
        </p:spPr>
        <p:txBody>
          <a:bodyPr wrap="square" rtlCol="0" anchor="ctr"/>
          <a:lstStyle/>
          <a:p>
            <a:pPr indent="0" marL="0">
              <a:buNone/>
            </a:pPr>
            <a:r>
              <a:rPr lang="en-US" sz="2200" i="1" dirty="0">
                <a:solidFill>
                  <a:srgbClr val="F5A623"/>
                </a:solidFill>
              </a:rPr>
              <a:t>Questions &amp; Discussion</a:t>
            </a:r>
            <a:endParaRPr lang="en-US" sz="2200" dirty="0"/>
          </a:p>
        </p:txBody>
      </p:sp>
      <p:sp>
        <p:nvSpPr>
          <p:cNvPr id="6" name="Shape 4"/>
          <p:cNvSpPr/>
          <p:nvPr/>
        </p:nvSpPr>
        <p:spPr>
          <a:xfrm>
            <a:off x="365760" y="2743200"/>
            <a:ext cx="1920240" cy="0"/>
          </a:xfrm>
          <a:prstGeom prst="line">
            <a:avLst/>
          </a:prstGeom>
          <a:noFill/>
          <a:ln w="12700">
            <a:solidFill>
              <a:srgbClr val="21262D"/>
            </a:solidFill>
            <a:prstDash val="solid"/>
          </a:ln>
        </p:spPr>
      </p:sp>
      <p:sp>
        <p:nvSpPr>
          <p:cNvPr id="7" name="Text 5"/>
          <p:cNvSpPr/>
          <p:nvPr/>
        </p:nvSpPr>
        <p:spPr>
          <a:xfrm>
            <a:off x="365760" y="2834640"/>
            <a:ext cx="1920240" cy="594360"/>
          </a:xfrm>
          <a:prstGeom prst="rect">
            <a:avLst/>
          </a:prstGeom>
          <a:noFill/>
          <a:ln/>
        </p:spPr>
        <p:txBody>
          <a:bodyPr wrap="square" rtlCol="0" anchor="ctr"/>
          <a:lstStyle/>
          <a:p>
            <a:pPr algn="ctr" indent="0" marL="0">
              <a:buNone/>
            </a:pPr>
            <a:r>
              <a:rPr lang="en-US" sz="3200" b="1" dirty="0">
                <a:solidFill>
                  <a:srgbClr val="3FB950"/>
                </a:solidFill>
              </a:rPr>
              <a:t>234</a:t>
            </a:r>
            <a:endParaRPr lang="en-US" sz="3200" dirty="0"/>
          </a:p>
        </p:txBody>
      </p:sp>
      <p:sp>
        <p:nvSpPr>
          <p:cNvPr id="8" name="Text 6"/>
          <p:cNvSpPr/>
          <p:nvPr/>
        </p:nvSpPr>
        <p:spPr>
          <a:xfrm>
            <a:off x="365760" y="3401568"/>
            <a:ext cx="1920240" cy="256032"/>
          </a:xfrm>
          <a:prstGeom prst="rect">
            <a:avLst/>
          </a:prstGeom>
          <a:noFill/>
          <a:ln/>
        </p:spPr>
        <p:txBody>
          <a:bodyPr wrap="square" rtlCol="0" anchor="ctr"/>
          <a:lstStyle/>
          <a:p>
            <a:pPr algn="ctr" indent="0" marL="0">
              <a:buNone/>
            </a:pPr>
            <a:r>
              <a:rPr lang="en-US" sz="1100" dirty="0">
                <a:solidFill>
                  <a:srgbClr val="8B949E"/>
                </a:solidFill>
              </a:rPr>
              <a:t>Constituencies</a:t>
            </a:r>
            <a:endParaRPr lang="en-US" sz="1100" dirty="0"/>
          </a:p>
        </p:txBody>
      </p:sp>
      <p:sp>
        <p:nvSpPr>
          <p:cNvPr id="9" name="Shape 7"/>
          <p:cNvSpPr/>
          <p:nvPr/>
        </p:nvSpPr>
        <p:spPr>
          <a:xfrm>
            <a:off x="2542032" y="2743200"/>
            <a:ext cx="1920240" cy="0"/>
          </a:xfrm>
          <a:prstGeom prst="line">
            <a:avLst/>
          </a:prstGeom>
          <a:noFill/>
          <a:ln w="12700">
            <a:solidFill>
              <a:srgbClr val="21262D"/>
            </a:solidFill>
            <a:prstDash val="solid"/>
          </a:ln>
        </p:spPr>
      </p:sp>
      <p:sp>
        <p:nvSpPr>
          <p:cNvPr id="10" name="Text 8"/>
          <p:cNvSpPr/>
          <p:nvPr/>
        </p:nvSpPr>
        <p:spPr>
          <a:xfrm>
            <a:off x="2542032" y="2834640"/>
            <a:ext cx="1920240" cy="594360"/>
          </a:xfrm>
          <a:prstGeom prst="rect">
            <a:avLst/>
          </a:prstGeom>
          <a:noFill/>
          <a:ln/>
        </p:spPr>
        <p:txBody>
          <a:bodyPr wrap="square" rtlCol="0" anchor="ctr"/>
          <a:lstStyle/>
          <a:p>
            <a:pPr algn="ctr" indent="0" marL="0">
              <a:buNone/>
            </a:pPr>
            <a:r>
              <a:rPr lang="en-US" sz="3200" b="1" dirty="0">
                <a:solidFill>
                  <a:srgbClr val="3FB950"/>
                </a:solidFill>
              </a:rPr>
              <a:t>163</a:t>
            </a:r>
            <a:endParaRPr lang="en-US" sz="3200" dirty="0"/>
          </a:p>
        </p:txBody>
      </p:sp>
      <p:sp>
        <p:nvSpPr>
          <p:cNvPr id="11" name="Text 9"/>
          <p:cNvSpPr/>
          <p:nvPr/>
        </p:nvSpPr>
        <p:spPr>
          <a:xfrm>
            <a:off x="2542032" y="3401568"/>
            <a:ext cx="1920240" cy="256032"/>
          </a:xfrm>
          <a:prstGeom prst="rect">
            <a:avLst/>
          </a:prstGeom>
          <a:noFill/>
          <a:ln/>
        </p:spPr>
        <p:txBody>
          <a:bodyPr wrap="square" rtlCol="0" anchor="ctr"/>
          <a:lstStyle/>
          <a:p>
            <a:pPr algn="ctr" indent="0" marL="0">
              <a:buNone/>
            </a:pPr>
            <a:r>
              <a:rPr lang="en-US" sz="1100" dirty="0">
                <a:solidFill>
                  <a:srgbClr val="8B949E"/>
                </a:solidFill>
              </a:rPr>
              <a:t>Seats Flipped</a:t>
            </a:r>
            <a:endParaRPr lang="en-US" sz="1100" dirty="0"/>
          </a:p>
        </p:txBody>
      </p:sp>
      <p:sp>
        <p:nvSpPr>
          <p:cNvPr id="12" name="Shape 10"/>
          <p:cNvSpPr/>
          <p:nvPr/>
        </p:nvSpPr>
        <p:spPr>
          <a:xfrm>
            <a:off x="4718304" y="2743200"/>
            <a:ext cx="1920240" cy="0"/>
          </a:xfrm>
          <a:prstGeom prst="line">
            <a:avLst/>
          </a:prstGeom>
          <a:noFill/>
          <a:ln w="12700">
            <a:solidFill>
              <a:srgbClr val="21262D"/>
            </a:solidFill>
            <a:prstDash val="solid"/>
          </a:ln>
        </p:spPr>
      </p:sp>
      <p:sp>
        <p:nvSpPr>
          <p:cNvPr id="13" name="Text 11"/>
          <p:cNvSpPr/>
          <p:nvPr/>
        </p:nvSpPr>
        <p:spPr>
          <a:xfrm>
            <a:off x="4718304" y="2834640"/>
            <a:ext cx="1920240" cy="594360"/>
          </a:xfrm>
          <a:prstGeom prst="rect">
            <a:avLst/>
          </a:prstGeom>
          <a:noFill/>
          <a:ln/>
        </p:spPr>
        <p:txBody>
          <a:bodyPr wrap="square" rtlCol="0" anchor="ctr"/>
          <a:lstStyle/>
          <a:p>
            <a:pPr algn="ctr" indent="0" marL="0">
              <a:buNone/>
            </a:pPr>
            <a:r>
              <a:rPr lang="en-US" sz="3200" b="1" dirty="0">
                <a:solidFill>
                  <a:srgbClr val="3FB950"/>
                </a:solidFill>
              </a:rPr>
              <a:t>35%</a:t>
            </a:r>
            <a:endParaRPr lang="en-US" sz="3200" dirty="0"/>
          </a:p>
        </p:txBody>
      </p:sp>
      <p:sp>
        <p:nvSpPr>
          <p:cNvPr id="14" name="Text 12"/>
          <p:cNvSpPr/>
          <p:nvPr/>
        </p:nvSpPr>
        <p:spPr>
          <a:xfrm>
            <a:off x="4718304" y="3401568"/>
            <a:ext cx="1920240" cy="256032"/>
          </a:xfrm>
          <a:prstGeom prst="rect">
            <a:avLst/>
          </a:prstGeom>
          <a:noFill/>
          <a:ln/>
        </p:spPr>
        <p:txBody>
          <a:bodyPr wrap="square" rtlCol="0" anchor="ctr"/>
          <a:lstStyle/>
          <a:p>
            <a:pPr algn="ctr" indent="0" marL="0">
              <a:buNone/>
            </a:pPr>
            <a:r>
              <a:rPr lang="en-US" sz="1100" dirty="0">
                <a:solidFill>
                  <a:srgbClr val="8B949E"/>
                </a:solidFill>
              </a:rPr>
              <a:t>TVK Debut Share</a:t>
            </a:r>
            <a:endParaRPr lang="en-US" sz="1100" dirty="0"/>
          </a:p>
        </p:txBody>
      </p:sp>
      <p:sp>
        <p:nvSpPr>
          <p:cNvPr id="15" name="Shape 13"/>
          <p:cNvSpPr/>
          <p:nvPr/>
        </p:nvSpPr>
        <p:spPr>
          <a:xfrm>
            <a:off x="6894576" y="2743200"/>
            <a:ext cx="1920240" cy="0"/>
          </a:xfrm>
          <a:prstGeom prst="line">
            <a:avLst/>
          </a:prstGeom>
          <a:noFill/>
          <a:ln w="12700">
            <a:solidFill>
              <a:srgbClr val="21262D"/>
            </a:solidFill>
            <a:prstDash val="solid"/>
          </a:ln>
        </p:spPr>
      </p:sp>
      <p:sp>
        <p:nvSpPr>
          <p:cNvPr id="16" name="Text 14"/>
          <p:cNvSpPr/>
          <p:nvPr/>
        </p:nvSpPr>
        <p:spPr>
          <a:xfrm>
            <a:off x="6894576" y="2834640"/>
            <a:ext cx="1920240" cy="594360"/>
          </a:xfrm>
          <a:prstGeom prst="rect">
            <a:avLst/>
          </a:prstGeom>
          <a:noFill/>
          <a:ln/>
        </p:spPr>
        <p:txBody>
          <a:bodyPr wrap="square" rtlCol="0" anchor="ctr"/>
          <a:lstStyle/>
          <a:p>
            <a:pPr algn="ctr" indent="0" marL="0">
              <a:buNone/>
            </a:pPr>
            <a:r>
              <a:rPr lang="en-US" sz="3200" b="1" dirty="0">
                <a:solidFill>
                  <a:srgbClr val="3FB950"/>
                </a:solidFill>
              </a:rPr>
              <a:t>−23%</a:t>
            </a:r>
            <a:endParaRPr lang="en-US" sz="3200" dirty="0"/>
          </a:p>
        </p:txBody>
      </p:sp>
      <p:sp>
        <p:nvSpPr>
          <p:cNvPr id="17" name="Text 15"/>
          <p:cNvSpPr/>
          <p:nvPr/>
        </p:nvSpPr>
        <p:spPr>
          <a:xfrm>
            <a:off x="6894576" y="3401568"/>
            <a:ext cx="1920240" cy="256032"/>
          </a:xfrm>
          <a:prstGeom prst="rect">
            <a:avLst/>
          </a:prstGeom>
          <a:noFill/>
          <a:ln/>
        </p:spPr>
        <p:txBody>
          <a:bodyPr wrap="square" rtlCol="0" anchor="ctr"/>
          <a:lstStyle/>
          <a:p>
            <a:pPr algn="ctr" indent="0" marL="0">
              <a:buNone/>
            </a:pPr>
            <a:r>
              <a:rPr lang="en-US" sz="1100" dirty="0">
                <a:solidFill>
                  <a:srgbClr val="8B949E"/>
                </a:solidFill>
              </a:rPr>
              <a:t>Margin Decline</a:t>
            </a:r>
            <a:endParaRPr lang="en-US" sz="1100" dirty="0"/>
          </a:p>
        </p:txBody>
      </p:sp>
      <p:sp>
        <p:nvSpPr>
          <p:cNvPr id="18" name="Shape 16"/>
          <p:cNvSpPr/>
          <p:nvPr/>
        </p:nvSpPr>
        <p:spPr>
          <a:xfrm>
            <a:off x="365760" y="4206240"/>
            <a:ext cx="8412480" cy="0"/>
          </a:xfrm>
          <a:prstGeom prst="line">
            <a:avLst/>
          </a:prstGeom>
          <a:noFill/>
          <a:ln w="12700">
            <a:solidFill>
              <a:srgbClr val="21262D"/>
            </a:solidFill>
            <a:prstDash val="solid"/>
          </a:ln>
        </p:spPr>
      </p:sp>
      <p:sp>
        <p:nvSpPr>
          <p:cNvPr id="19" name="Text 17"/>
          <p:cNvSpPr/>
          <p:nvPr/>
        </p:nvSpPr>
        <p:spPr>
          <a:xfrm>
            <a:off x="365760" y="4343400"/>
            <a:ext cx="8229600" cy="256032"/>
          </a:xfrm>
          <a:prstGeom prst="rect">
            <a:avLst/>
          </a:prstGeom>
          <a:noFill/>
          <a:ln/>
        </p:spPr>
        <p:txBody>
          <a:bodyPr wrap="square" rtlCol="0" anchor="ctr"/>
          <a:lstStyle/>
          <a:p>
            <a:pPr algn="ctr" indent="0" marL="0">
              <a:buNone/>
            </a:pPr>
            <a:r>
              <a:rPr lang="en-US" sz="950" dirty="0">
                <a:solidFill>
                  <a:srgbClr val="8B949E"/>
                </a:solidFill>
              </a:rPr>
              <a:t>Data Source: Election Commission of India (ECI)  ·  All 234 Tamil Nadu Constituencies  ·  AtliQ Media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Tamil Nadu 2026 Election Analysis</dc:title>
  <dc:subject>PptxGenJS Presentation</dc:subject>
  <dc:creator>PptxGenJS</dc:creator>
  <cp:lastModifiedBy>PptxGenJS</cp:lastModifiedBy>
  <cp:revision>1</cp:revision>
  <dcterms:created xsi:type="dcterms:W3CDTF">2026-05-23T10:18:52Z</dcterms:created>
  <dcterms:modified xsi:type="dcterms:W3CDTF">2026-05-23T10:18:52Z</dcterms:modified>
</cp:coreProperties>
</file>